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表紙の写真は貴社の写真に差し替えてください（背景の画像を右クリック→「背景の書式設定」→画像を選択）。文字やロゴが焼き込まれた画像は使わないでください。右上の点線枠に貴社ロゴを原色のまま置い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実績ページのテンプレートです。3枚の画像を貴社の実績に差し替え（画像を右クリック→「図の変更」）、札・見出し・説明文を書き換えてください。写真は原色のままで構いません。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点線枠に貴社ロゴを原色のまま置き、点線の枠は削除してください。COMPANY欄は貴社名に書き換えて構いません。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jpg"/><Relationship Id="rId3" Type="http://schemas.openxmlformats.org/officeDocument/2006/relationships/image" Target="../media/image-15-3.jp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00000">
              <a:alpha val="55000"/>
            </a:srgbClr>
          </a:solidFill>
          <a:ln w="12700">
            <a:solidFill>
              <a:srgbClr val="000000"/>
            </a:solidFill>
            <a:prstDash val="solid"/>
          </a:ln>
        </p:spPr>
      </p:sp>
      <p:sp>
        <p:nvSpPr>
          <p:cNvPr id="3" name="Shape 1"/>
          <p:cNvSpPr/>
          <p:nvPr/>
        </p:nvSpPr>
        <p:spPr>
          <a:xfrm>
            <a:off x="0" y="3086100"/>
            <a:ext cx="12191695" cy="3771900"/>
          </a:xfrm>
          <a:prstGeom prst="rect">
            <a:avLst/>
          </a:prstGeom>
          <a:solidFill>
            <a:srgbClr val="000000">
              <a:alpha val="70000"/>
            </a:srgbClr>
          </a:solidFill>
          <a:ln w="12700">
            <a:solidFill>
              <a:srgbClr val="000000"/>
            </a:solidFill>
            <a:prstDash val="solid"/>
          </a:ln>
        </p:spPr>
      </p:sp>
      <p:sp>
        <p:nvSpPr>
          <p:cNvPr id="4" name="Text 2"/>
          <p:cNvSpPr/>
          <p:nvPr/>
        </p:nvSpPr>
        <p:spPr>
          <a:xfrm>
            <a:off x="685800" y="548640"/>
            <a:ext cx="7315200" cy="228600"/>
          </a:xfrm>
          <a:prstGeom prst="rect">
            <a:avLst/>
          </a:prstGeom>
          <a:noFill/>
          <a:ln/>
        </p:spPr>
        <p:txBody>
          <a:bodyPr wrap="square" lIns="0" tIns="0" rIns="0" bIns="0" rtlCol="0" anchor="t"/>
          <a:lstStyle/>
          <a:p>
            <a:pPr indent="0" marL="0">
              <a:buNone/>
            </a:pPr>
            <a:r>
              <a:rPr lang="en-US" sz="1000" spc="300" kern="0" dirty="0">
                <a:solidFill>
                  <a:srgbClr val="DDDDDD"/>
                </a:solidFill>
                <a:latin typeface="IBM Plex Sans JP" pitchFamily="34" charset="0"/>
                <a:ea typeface="IBM Plex Sans JP" pitchFamily="34" charset="-122"/>
                <a:cs typeface="IBM Plex Sans JP" pitchFamily="34" charset="-120"/>
              </a:rPr>
              <a:t>TVER ADVERTISING  ／  地域別 網羅プラン</a:t>
            </a:r>
            <a:endParaRPr lang="en-US" sz="1000" dirty="0"/>
          </a:p>
        </p:txBody>
      </p:sp>
      <p:sp>
        <p:nvSpPr>
          <p:cNvPr id="5" name="Shape 3"/>
          <p:cNvSpPr/>
          <p:nvPr/>
        </p:nvSpPr>
        <p:spPr>
          <a:xfrm>
            <a:off x="9311335" y="457200"/>
            <a:ext cx="2194560" cy="548640"/>
          </a:xfrm>
          <a:prstGeom prst="rect">
            <a:avLst/>
          </a:prstGeom>
          <a:solidFill>
            <a:srgbClr val="FFFFFF">
              <a:alpha val="15000"/>
            </a:srgbClr>
          </a:solidFill>
          <a:ln w="9525">
            <a:solidFill>
              <a:srgbClr val="FFFFFF"/>
            </a:solidFill>
            <a:prstDash val="dash"/>
          </a:ln>
        </p:spPr>
      </p:sp>
      <p:sp>
        <p:nvSpPr>
          <p:cNvPr id="6" name="Text 4"/>
          <p:cNvSpPr/>
          <p:nvPr/>
        </p:nvSpPr>
        <p:spPr>
          <a:xfrm>
            <a:off x="9311335" y="457200"/>
            <a:ext cx="2194560" cy="548640"/>
          </a:xfrm>
          <a:prstGeom prst="rect">
            <a:avLst/>
          </a:prstGeom>
          <a:noFill/>
          <a:ln/>
        </p:spPr>
        <p:txBody>
          <a:bodyPr wrap="square" lIns="0" tIns="0" rIns="0" bIns="0" rtlCol="0" anchor="ctr"/>
          <a:lstStyle/>
          <a:p>
            <a:pPr algn="ctr" indent="0" marL="0">
              <a:buNone/>
            </a:pPr>
            <a:r>
              <a:rPr lang="en-US" sz="900" spc="200" kern="0" dirty="0">
                <a:solidFill>
                  <a:srgbClr val="FFFFFF"/>
                </a:solidFill>
                <a:latin typeface="IBM Plex Sans JP" pitchFamily="34" charset="0"/>
                <a:ea typeface="IBM Plex Sans JP" pitchFamily="34" charset="-122"/>
                <a:cs typeface="IBM Plex Sans JP" pitchFamily="34" charset="-120"/>
              </a:rPr>
              <a:t>貴社ロゴ</a:t>
            </a:r>
            <a:endParaRPr lang="en-US" sz="900" dirty="0"/>
          </a:p>
        </p:txBody>
      </p:sp>
      <p:sp>
        <p:nvSpPr>
          <p:cNvPr id="7" name="Shape 5"/>
          <p:cNvSpPr/>
          <p:nvPr/>
        </p:nvSpPr>
        <p:spPr>
          <a:xfrm>
            <a:off x="685800" y="3246120"/>
            <a:ext cx="548640" cy="45720"/>
          </a:xfrm>
          <a:prstGeom prst="rect">
            <a:avLst/>
          </a:prstGeom>
          <a:solidFill>
            <a:srgbClr val="F19834"/>
          </a:solidFill>
          <a:ln w="12700">
            <a:solidFill>
              <a:srgbClr val="F19834"/>
            </a:solidFill>
            <a:prstDash val="solid"/>
          </a:ln>
        </p:spPr>
      </p:sp>
      <p:sp>
        <p:nvSpPr>
          <p:cNvPr id="8" name="Text 6"/>
          <p:cNvSpPr/>
          <p:nvPr/>
        </p:nvSpPr>
        <p:spPr>
          <a:xfrm>
            <a:off x="685800" y="3474720"/>
            <a:ext cx="10058400" cy="1828800"/>
          </a:xfrm>
          <a:prstGeom prst="rect">
            <a:avLst/>
          </a:prstGeom>
          <a:noFill/>
          <a:ln/>
        </p:spPr>
        <p:txBody>
          <a:bodyPr wrap="square" lIns="0" tIns="0" rIns="0" bIns="0" rtlCol="0" anchor="t"/>
          <a:lstStyle/>
          <a:p>
            <a:pPr indent="0" marL="0">
              <a:lnSpc>
                <a:spcPct val="115000"/>
              </a:lnSpc>
              <a:buNone/>
            </a:pPr>
            <a:r>
              <a:rPr lang="en-US" sz="4400" b="1" dirty="0">
                <a:solidFill>
                  <a:srgbClr val="FFFFFF"/>
                </a:solidFill>
                <a:latin typeface="IBM Plex Sans JP" pitchFamily="34" charset="0"/>
                <a:ea typeface="IBM Plex Sans JP" pitchFamily="34" charset="-122"/>
                <a:cs typeface="IBM Plex Sans JP" pitchFamily="34" charset="-120"/>
              </a:rPr>
              <a:t>その商圏を、</a:t>
            </a:r>
            <a:endParaRPr lang="en-US" sz="4400" dirty="0"/>
          </a:p>
          <a:p>
            <a:pPr indent="0" marL="0">
              <a:lnSpc>
                <a:spcPct val="115000"/>
              </a:lnSpc>
              <a:buNone/>
            </a:pPr>
            <a:r>
              <a:rPr lang="en-US" sz="4400" b="1" dirty="0">
                <a:solidFill>
                  <a:srgbClr val="FFFFFF"/>
                </a:solidFill>
                <a:latin typeface="IBM Plex Sans JP" pitchFamily="34" charset="0"/>
                <a:ea typeface="IBM Plex Sans JP" pitchFamily="34" charset="-122"/>
                <a:cs typeface="IBM Plex Sans JP" pitchFamily="34" charset="-120"/>
              </a:rPr>
              <a:t>いくらで押さえられるか。</a:t>
            </a:r>
            <a:endParaRPr lang="en-US" sz="4400" dirty="0"/>
          </a:p>
        </p:txBody>
      </p:sp>
      <p:sp>
        <p:nvSpPr>
          <p:cNvPr id="9" name="Text 7"/>
          <p:cNvSpPr/>
          <p:nvPr/>
        </p:nvSpPr>
        <p:spPr>
          <a:xfrm>
            <a:off x="685800" y="5349240"/>
            <a:ext cx="10058400" cy="365760"/>
          </a:xfrm>
          <a:prstGeom prst="rect">
            <a:avLst/>
          </a:prstGeom>
          <a:noFill/>
          <a:ln/>
        </p:spPr>
        <p:txBody>
          <a:bodyPr wrap="square" lIns="0" tIns="0" rIns="0" bIns="0" rtlCol="0" anchor="t"/>
          <a:lstStyle/>
          <a:p>
            <a:pPr indent="0" marL="0">
              <a:buNone/>
            </a:pPr>
            <a:r>
              <a:rPr lang="en-US" sz="1400" dirty="0">
                <a:solidFill>
                  <a:srgbClr val="E6E6E6"/>
                </a:solidFill>
                <a:latin typeface="IBM Plex Sans JP" pitchFamily="34" charset="0"/>
                <a:ea typeface="IBM Plex Sans JP" pitchFamily="34" charset="-122"/>
                <a:cs typeface="IBM Plex Sans JP" pitchFamily="34" charset="-120"/>
              </a:rPr>
              <a:t>テレビCMの届く力を、地域の予算で。TVer広告 県別・市別 網羅プランのご案内</a:t>
            </a:r>
            <a:endParaRPr lang="en-US" sz="1400" dirty="0"/>
          </a:p>
        </p:txBody>
      </p:sp>
      <p:pic>
        <p:nvPicPr>
          <p:cNvPr id="10" name="Image 0" descr="/private/tmp/claude-501/-Users-hirokishirakawa/61df7724-8533-4661-9a58-fa513da8dcb2/scratchpad/deck/assets/logo-white.png">    </p:cNvPr>
          <p:cNvPicPr>
            <a:picLocks noChangeAspect="1"/>
          </p:cNvPicPr>
          <p:nvPr/>
        </p:nvPicPr>
        <p:blipFill>
          <a:blip r:embed="rId2"/>
          <a:stretch>
            <a:fillRect/>
          </a:stretch>
        </p:blipFill>
        <p:spPr>
          <a:xfrm>
            <a:off x="685800" y="6291072"/>
            <a:ext cx="1005840" cy="148771"/>
          </a:xfrm>
          <a:prstGeom prst="rect">
            <a:avLst/>
          </a:prstGeom>
        </p:spPr>
      </p:pic>
      <p:sp>
        <p:nvSpPr>
          <p:cNvPr id="11" name="Text 8"/>
          <p:cNvSpPr/>
          <p:nvPr/>
        </p:nvSpPr>
        <p:spPr>
          <a:xfrm>
            <a:off x="5105095" y="6291072"/>
            <a:ext cx="6400800" cy="182880"/>
          </a:xfrm>
          <a:prstGeom prst="rect">
            <a:avLst/>
          </a:prstGeom>
          <a:noFill/>
          <a:ln/>
        </p:spPr>
        <p:txBody>
          <a:bodyPr wrap="square" lIns="0" tIns="0" rIns="0" bIns="0" rtlCol="0" anchor="t"/>
          <a:lstStyle/>
          <a:p>
            <a:pPr algn="r" indent="0" marL="0">
              <a:buNone/>
            </a:pPr>
            <a:r>
              <a:rPr lang="en-US" sz="800" spc="100" kern="0" dirty="0">
                <a:solidFill>
                  <a:srgbClr val="BBBBBB"/>
                </a:solidFill>
                <a:latin typeface="IBM Plex Sans JP" pitchFamily="34" charset="0"/>
                <a:ea typeface="IBM Plex Sans JP" pitchFamily="34" charset="-122"/>
                <a:cs typeface="IBM Plex Sans JP" pitchFamily="34" charset="-120"/>
              </a:rPr>
              <a:t>PREPARED BY  Ad Arch Group　　ISSUED  2026年9月　　CONFIDENTIAL</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5508"/>
            <a:ext cx="384048" cy="27432"/>
          </a:xfrm>
          <a:prstGeom prst="rect">
            <a:avLst/>
          </a:prstGeom>
          <a:solidFill>
            <a:srgbClr val="F19834"/>
          </a:solidFill>
          <a:ln w="12700">
            <a:solidFill>
              <a:srgbClr val="F19834"/>
            </a:solidFill>
            <a:prstDash val="solid"/>
          </a:ln>
        </p:spPr>
      </p:sp>
      <p:sp>
        <p:nvSpPr>
          <p:cNvPr id="3" name="Text 1"/>
          <p:cNvSpPr/>
          <p:nvPr/>
        </p:nvSpPr>
        <p:spPr>
          <a:xfrm>
            <a:off x="1188720" y="566928"/>
            <a:ext cx="6400800" cy="201168"/>
          </a:xfrm>
          <a:prstGeom prst="rect">
            <a:avLst/>
          </a:prstGeom>
          <a:noFill/>
          <a:ln/>
        </p:spPr>
        <p:txBody>
          <a:bodyPr wrap="square" lIns="0" tIns="0" rIns="0" bIns="0" rtlCol="0" anchor="t"/>
          <a:lstStyle/>
          <a:p>
            <a:pPr indent="0" marL="0">
              <a:buNone/>
            </a:pPr>
            <a:r>
              <a:rPr lang="en-US" sz="900" spc="300" kern="0" dirty="0">
                <a:solidFill>
                  <a:srgbClr val="6A6A6A"/>
                </a:solidFill>
                <a:latin typeface="IBM Plex Sans JP" pitchFamily="34" charset="0"/>
                <a:ea typeface="IBM Plex Sans JP" pitchFamily="34" charset="-122"/>
                <a:cs typeface="IBM Plex Sans JP" pitchFamily="34" charset="-120"/>
              </a:rPr>
              <a:t>AGENDA</a:t>
            </a:r>
            <a:endParaRPr lang="en-US" sz="900" dirty="0"/>
          </a:p>
        </p:txBody>
      </p:sp>
      <p:sp>
        <p:nvSpPr>
          <p:cNvPr id="4" name="Text 2"/>
          <p:cNvSpPr/>
          <p:nvPr/>
        </p:nvSpPr>
        <p:spPr>
          <a:xfrm>
            <a:off x="685800" y="896112"/>
            <a:ext cx="10820095" cy="822960"/>
          </a:xfrm>
          <a:prstGeom prst="rect">
            <a:avLst/>
          </a:prstGeom>
          <a:noFill/>
          <a:ln/>
        </p:spPr>
        <p:txBody>
          <a:bodyPr wrap="square" lIns="0" tIns="0" rIns="0" bIns="0" rtlCol="0" anchor="t"/>
          <a:lstStyle/>
          <a:p>
            <a:pPr indent="0" marL="0">
              <a:lnSpc>
                <a:spcPct val="125000"/>
              </a:lnSpc>
              <a:buNone/>
            </a:pPr>
            <a:r>
              <a:rPr lang="en-US" sz="2600" b="1" dirty="0">
                <a:solidFill>
                  <a:srgbClr val="111111"/>
                </a:solidFill>
                <a:latin typeface="IBM Plex Sans JP" pitchFamily="34" charset="0"/>
                <a:ea typeface="IBM Plex Sans JP" pitchFamily="34" charset="-122"/>
                <a:cs typeface="IBM Plex Sans JP" pitchFamily="34" charset="-120"/>
              </a:rPr>
              <a:t>目次</a:t>
            </a:r>
            <a:endParaRPr lang="en-US" sz="2600" dirty="0"/>
          </a:p>
        </p:txBody>
      </p:sp>
      <p:sp>
        <p:nvSpPr>
          <p:cNvPr id="5" name="Text 3"/>
          <p:cNvSpPr/>
          <p:nvPr/>
        </p:nvSpPr>
        <p:spPr>
          <a:xfrm>
            <a:off x="685800" y="2029968"/>
            <a:ext cx="548640" cy="320040"/>
          </a:xfrm>
          <a:prstGeom prst="rect">
            <a:avLst/>
          </a:prstGeom>
          <a:noFill/>
          <a:ln/>
        </p:spPr>
        <p:txBody>
          <a:bodyPr wrap="square" lIns="0" tIns="0" rIns="0" bIns="0" rtlCol="0" anchor="t"/>
          <a:lstStyle/>
          <a:p>
            <a:pPr indent="0" marL="0">
              <a:buNone/>
            </a:pPr>
            <a:r>
              <a:rPr lang="en-US" sz="1600" dirty="0">
                <a:solidFill>
                  <a:srgbClr val="6A6A6A"/>
                </a:solidFill>
                <a:latin typeface="IBM Plex Sans JP" pitchFamily="34" charset="0"/>
                <a:ea typeface="IBM Plex Sans JP" pitchFamily="34" charset="-122"/>
                <a:cs typeface="IBM Plex Sans JP" pitchFamily="34" charset="-120"/>
              </a:rPr>
              <a:t>01</a:t>
            </a:r>
            <a:endParaRPr lang="en-US" sz="1600" dirty="0"/>
          </a:p>
        </p:txBody>
      </p:sp>
      <p:sp>
        <p:nvSpPr>
          <p:cNvPr id="6" name="Text 4"/>
          <p:cNvSpPr/>
          <p:nvPr/>
        </p:nvSpPr>
        <p:spPr>
          <a:xfrm>
            <a:off x="1325880" y="2011680"/>
            <a:ext cx="4389120" cy="320040"/>
          </a:xfrm>
          <a:prstGeom prst="rect">
            <a:avLst/>
          </a:prstGeom>
          <a:noFill/>
          <a:ln/>
        </p:spPr>
        <p:txBody>
          <a:bodyPr wrap="square" lIns="0" tIns="0" rIns="0" bIns="0" rtlCol="0" anchor="t"/>
          <a:lstStyle/>
          <a:p>
            <a:pPr indent="0" marL="0">
              <a:buNone/>
            </a:pPr>
            <a:r>
              <a:rPr lang="en-US" sz="1400" b="1" dirty="0">
                <a:solidFill>
                  <a:srgbClr val="111111"/>
                </a:solidFill>
                <a:latin typeface="IBM Plex Sans JP" pitchFamily="34" charset="0"/>
                <a:ea typeface="IBM Plex Sans JP" pitchFamily="34" charset="-122"/>
                <a:cs typeface="IBM Plex Sans JP" pitchFamily="34" charset="-120"/>
              </a:rPr>
              <a:t>TVerという媒体</a:t>
            </a:r>
            <a:endParaRPr lang="en-US" sz="1400" dirty="0"/>
          </a:p>
        </p:txBody>
      </p:sp>
      <p:sp>
        <p:nvSpPr>
          <p:cNvPr id="7" name="Text 5"/>
          <p:cNvSpPr/>
          <p:nvPr/>
        </p:nvSpPr>
        <p:spPr>
          <a:xfrm>
            <a:off x="1325880" y="2322576"/>
            <a:ext cx="4389120" cy="201168"/>
          </a:xfrm>
          <a:prstGeom prst="rect">
            <a:avLst/>
          </a:prstGeom>
          <a:noFill/>
          <a:ln/>
        </p:spPr>
        <p:txBody>
          <a:bodyPr wrap="square" lIns="0" tIns="0" rIns="0" bIns="0" rtlCol="0" anchor="t"/>
          <a:lstStyle/>
          <a:p>
            <a:pPr indent="0" marL="0">
              <a:buNone/>
            </a:pPr>
            <a:r>
              <a:rPr lang="en-US" sz="850" spc="150" kern="0" dirty="0">
                <a:solidFill>
                  <a:srgbClr val="6A6A6A"/>
                </a:solidFill>
                <a:latin typeface="IBM Plex Sans JP" pitchFamily="34" charset="0"/>
                <a:ea typeface="IBM Plex Sans JP" pitchFamily="34" charset="-122"/>
                <a:cs typeface="IBM Plex Sans JP" pitchFamily="34" charset="-120"/>
              </a:rPr>
              <a:t>Why TVer</a:t>
            </a:r>
            <a:endParaRPr lang="en-US" sz="850" dirty="0"/>
          </a:p>
        </p:txBody>
      </p:sp>
      <p:sp>
        <p:nvSpPr>
          <p:cNvPr id="8" name="Shape 6"/>
          <p:cNvSpPr/>
          <p:nvPr/>
        </p:nvSpPr>
        <p:spPr>
          <a:xfrm>
            <a:off x="685800" y="2615184"/>
            <a:ext cx="5029200" cy="0"/>
          </a:xfrm>
          <a:prstGeom prst="line">
            <a:avLst/>
          </a:prstGeom>
          <a:noFill/>
          <a:ln w="9525">
            <a:solidFill>
              <a:srgbClr val="E6E4E0"/>
            </a:solidFill>
            <a:prstDash val="solid"/>
          </a:ln>
        </p:spPr>
      </p:sp>
      <p:sp>
        <p:nvSpPr>
          <p:cNvPr id="9" name="Text 7"/>
          <p:cNvSpPr/>
          <p:nvPr/>
        </p:nvSpPr>
        <p:spPr>
          <a:xfrm>
            <a:off x="6476695" y="2029968"/>
            <a:ext cx="548640" cy="320040"/>
          </a:xfrm>
          <a:prstGeom prst="rect">
            <a:avLst/>
          </a:prstGeom>
          <a:noFill/>
          <a:ln/>
        </p:spPr>
        <p:txBody>
          <a:bodyPr wrap="square" lIns="0" tIns="0" rIns="0" bIns="0" rtlCol="0" anchor="t"/>
          <a:lstStyle/>
          <a:p>
            <a:pPr indent="0" marL="0">
              <a:buNone/>
            </a:pPr>
            <a:r>
              <a:rPr lang="en-US" sz="1600" dirty="0">
                <a:solidFill>
                  <a:srgbClr val="6A6A6A"/>
                </a:solidFill>
                <a:latin typeface="IBM Plex Sans JP" pitchFamily="34" charset="0"/>
                <a:ea typeface="IBM Plex Sans JP" pitchFamily="34" charset="-122"/>
                <a:cs typeface="IBM Plex Sans JP" pitchFamily="34" charset="-120"/>
              </a:rPr>
              <a:t>02</a:t>
            </a:r>
            <a:endParaRPr lang="en-US" sz="1600" dirty="0"/>
          </a:p>
        </p:txBody>
      </p:sp>
      <p:sp>
        <p:nvSpPr>
          <p:cNvPr id="10" name="Text 8"/>
          <p:cNvSpPr/>
          <p:nvPr/>
        </p:nvSpPr>
        <p:spPr>
          <a:xfrm>
            <a:off x="7116775" y="2011680"/>
            <a:ext cx="4389120" cy="320040"/>
          </a:xfrm>
          <a:prstGeom prst="rect">
            <a:avLst/>
          </a:prstGeom>
          <a:noFill/>
          <a:ln/>
        </p:spPr>
        <p:txBody>
          <a:bodyPr wrap="square" lIns="0" tIns="0" rIns="0" bIns="0" rtlCol="0" anchor="t"/>
          <a:lstStyle/>
          <a:p>
            <a:pPr indent="0" marL="0">
              <a:buNone/>
            </a:pPr>
            <a:r>
              <a:rPr lang="en-US" sz="1400" b="1" dirty="0">
                <a:solidFill>
                  <a:srgbClr val="111111"/>
                </a:solidFill>
                <a:latin typeface="IBM Plex Sans JP" pitchFamily="34" charset="0"/>
                <a:ea typeface="IBM Plex Sans JP" pitchFamily="34" charset="-122"/>
                <a:cs typeface="IBM Plex Sans JP" pitchFamily="34" charset="-120"/>
              </a:rPr>
              <a:t>なぜ地域の企業に向くのか</a:t>
            </a:r>
            <a:endParaRPr lang="en-US" sz="1400" dirty="0"/>
          </a:p>
        </p:txBody>
      </p:sp>
      <p:sp>
        <p:nvSpPr>
          <p:cNvPr id="11" name="Text 9"/>
          <p:cNvSpPr/>
          <p:nvPr/>
        </p:nvSpPr>
        <p:spPr>
          <a:xfrm>
            <a:off x="7116775" y="2322576"/>
            <a:ext cx="4389120" cy="201168"/>
          </a:xfrm>
          <a:prstGeom prst="rect">
            <a:avLst/>
          </a:prstGeom>
          <a:noFill/>
          <a:ln/>
        </p:spPr>
        <p:txBody>
          <a:bodyPr wrap="square" lIns="0" tIns="0" rIns="0" bIns="0" rtlCol="0" anchor="t"/>
          <a:lstStyle/>
          <a:p>
            <a:pPr indent="0" marL="0">
              <a:buNone/>
            </a:pPr>
            <a:r>
              <a:rPr lang="en-US" sz="850" spc="150" kern="0" dirty="0">
                <a:solidFill>
                  <a:srgbClr val="6A6A6A"/>
                </a:solidFill>
                <a:latin typeface="IBM Plex Sans JP" pitchFamily="34" charset="0"/>
                <a:ea typeface="IBM Plex Sans JP" pitchFamily="34" charset="-122"/>
                <a:cs typeface="IBM Plex Sans JP" pitchFamily="34" charset="-120"/>
              </a:rPr>
              <a:t>Structural Fit</a:t>
            </a:r>
            <a:endParaRPr lang="en-US" sz="850" dirty="0"/>
          </a:p>
        </p:txBody>
      </p:sp>
      <p:sp>
        <p:nvSpPr>
          <p:cNvPr id="12" name="Shape 10"/>
          <p:cNvSpPr/>
          <p:nvPr/>
        </p:nvSpPr>
        <p:spPr>
          <a:xfrm>
            <a:off x="6476695" y="2615184"/>
            <a:ext cx="5029200" cy="0"/>
          </a:xfrm>
          <a:prstGeom prst="line">
            <a:avLst/>
          </a:prstGeom>
          <a:noFill/>
          <a:ln w="9525">
            <a:solidFill>
              <a:srgbClr val="E6E4E0"/>
            </a:solidFill>
            <a:prstDash val="solid"/>
          </a:ln>
        </p:spPr>
      </p:sp>
      <p:sp>
        <p:nvSpPr>
          <p:cNvPr id="13" name="Text 11"/>
          <p:cNvSpPr/>
          <p:nvPr/>
        </p:nvSpPr>
        <p:spPr>
          <a:xfrm>
            <a:off x="685800" y="2779776"/>
            <a:ext cx="548640" cy="320040"/>
          </a:xfrm>
          <a:prstGeom prst="rect">
            <a:avLst/>
          </a:prstGeom>
          <a:noFill/>
          <a:ln/>
        </p:spPr>
        <p:txBody>
          <a:bodyPr wrap="square" lIns="0" tIns="0" rIns="0" bIns="0" rtlCol="0" anchor="t"/>
          <a:lstStyle/>
          <a:p>
            <a:pPr indent="0" marL="0">
              <a:buNone/>
            </a:pPr>
            <a:r>
              <a:rPr lang="en-US" sz="1600" dirty="0">
                <a:solidFill>
                  <a:srgbClr val="6A6A6A"/>
                </a:solidFill>
                <a:latin typeface="IBM Plex Sans JP" pitchFamily="34" charset="0"/>
                <a:ea typeface="IBM Plex Sans JP" pitchFamily="34" charset="-122"/>
                <a:cs typeface="IBM Plex Sans JP" pitchFamily="34" charset="-120"/>
              </a:rPr>
              <a:t>03</a:t>
            </a:r>
            <a:endParaRPr lang="en-US" sz="1600" dirty="0"/>
          </a:p>
        </p:txBody>
      </p:sp>
      <p:sp>
        <p:nvSpPr>
          <p:cNvPr id="14" name="Text 12"/>
          <p:cNvSpPr/>
          <p:nvPr/>
        </p:nvSpPr>
        <p:spPr>
          <a:xfrm>
            <a:off x="1325880" y="2761488"/>
            <a:ext cx="4389120" cy="320040"/>
          </a:xfrm>
          <a:prstGeom prst="rect">
            <a:avLst/>
          </a:prstGeom>
          <a:noFill/>
          <a:ln/>
        </p:spPr>
        <p:txBody>
          <a:bodyPr wrap="square" lIns="0" tIns="0" rIns="0" bIns="0" rtlCol="0" anchor="t"/>
          <a:lstStyle/>
          <a:p>
            <a:pPr indent="0" marL="0">
              <a:buNone/>
            </a:pPr>
            <a:r>
              <a:rPr lang="en-US" sz="1400" b="1" dirty="0">
                <a:solidFill>
                  <a:srgbClr val="111111"/>
                </a:solidFill>
                <a:latin typeface="IBM Plex Sans JP" pitchFamily="34" charset="0"/>
                <a:ea typeface="IBM Plex Sans JP" pitchFamily="34" charset="-122"/>
                <a:cs typeface="IBM Plex Sans JP" pitchFamily="34" charset="-120"/>
              </a:rPr>
              <a:t>発想の転換 ─ 商圏を単位で買う</a:t>
            </a:r>
            <a:endParaRPr lang="en-US" sz="1400" dirty="0"/>
          </a:p>
        </p:txBody>
      </p:sp>
      <p:sp>
        <p:nvSpPr>
          <p:cNvPr id="15" name="Text 13"/>
          <p:cNvSpPr/>
          <p:nvPr/>
        </p:nvSpPr>
        <p:spPr>
          <a:xfrm>
            <a:off x="1325880" y="3072384"/>
            <a:ext cx="4389120" cy="201168"/>
          </a:xfrm>
          <a:prstGeom prst="rect">
            <a:avLst/>
          </a:prstGeom>
          <a:noFill/>
          <a:ln/>
        </p:spPr>
        <p:txBody>
          <a:bodyPr wrap="square" lIns="0" tIns="0" rIns="0" bIns="0" rtlCol="0" anchor="t"/>
          <a:lstStyle/>
          <a:p>
            <a:pPr indent="0" marL="0">
              <a:buNone/>
            </a:pPr>
            <a:r>
              <a:rPr lang="en-US" sz="850" spc="150" kern="0" dirty="0">
                <a:solidFill>
                  <a:srgbClr val="6A6A6A"/>
                </a:solidFill>
                <a:latin typeface="IBM Plex Sans JP" pitchFamily="34" charset="0"/>
                <a:ea typeface="IBM Plex Sans JP" pitchFamily="34" charset="-122"/>
                <a:cs typeface="IBM Plex Sans JP" pitchFamily="34" charset="-120"/>
              </a:rPr>
              <a:t>The Core Idea</a:t>
            </a:r>
            <a:endParaRPr lang="en-US" sz="850" dirty="0"/>
          </a:p>
        </p:txBody>
      </p:sp>
      <p:sp>
        <p:nvSpPr>
          <p:cNvPr id="16" name="Shape 14"/>
          <p:cNvSpPr/>
          <p:nvPr/>
        </p:nvSpPr>
        <p:spPr>
          <a:xfrm>
            <a:off x="685800" y="3364992"/>
            <a:ext cx="5029200" cy="0"/>
          </a:xfrm>
          <a:prstGeom prst="line">
            <a:avLst/>
          </a:prstGeom>
          <a:noFill/>
          <a:ln w="9525">
            <a:solidFill>
              <a:srgbClr val="E6E4E0"/>
            </a:solidFill>
            <a:prstDash val="solid"/>
          </a:ln>
        </p:spPr>
      </p:sp>
      <p:sp>
        <p:nvSpPr>
          <p:cNvPr id="17" name="Text 15"/>
          <p:cNvSpPr/>
          <p:nvPr/>
        </p:nvSpPr>
        <p:spPr>
          <a:xfrm>
            <a:off x="6476695" y="2779776"/>
            <a:ext cx="548640" cy="320040"/>
          </a:xfrm>
          <a:prstGeom prst="rect">
            <a:avLst/>
          </a:prstGeom>
          <a:noFill/>
          <a:ln/>
        </p:spPr>
        <p:txBody>
          <a:bodyPr wrap="square" lIns="0" tIns="0" rIns="0" bIns="0" rtlCol="0" anchor="t"/>
          <a:lstStyle/>
          <a:p>
            <a:pPr indent="0" marL="0">
              <a:buNone/>
            </a:pPr>
            <a:r>
              <a:rPr lang="en-US" sz="1600" dirty="0">
                <a:solidFill>
                  <a:srgbClr val="6A6A6A"/>
                </a:solidFill>
                <a:latin typeface="IBM Plex Sans JP" pitchFamily="34" charset="0"/>
                <a:ea typeface="IBM Plex Sans JP" pitchFamily="34" charset="-122"/>
                <a:cs typeface="IBM Plex Sans JP" pitchFamily="34" charset="-120"/>
              </a:rPr>
              <a:t>04</a:t>
            </a:r>
            <a:endParaRPr lang="en-US" sz="1600" dirty="0"/>
          </a:p>
        </p:txBody>
      </p:sp>
      <p:sp>
        <p:nvSpPr>
          <p:cNvPr id="18" name="Text 16"/>
          <p:cNvSpPr/>
          <p:nvPr/>
        </p:nvSpPr>
        <p:spPr>
          <a:xfrm>
            <a:off x="7116775" y="2761488"/>
            <a:ext cx="4389120" cy="320040"/>
          </a:xfrm>
          <a:prstGeom prst="rect">
            <a:avLst/>
          </a:prstGeom>
          <a:noFill/>
          <a:ln/>
        </p:spPr>
        <p:txBody>
          <a:bodyPr wrap="square" lIns="0" tIns="0" rIns="0" bIns="0" rtlCol="0" anchor="t"/>
          <a:lstStyle/>
          <a:p>
            <a:pPr indent="0" marL="0">
              <a:buNone/>
            </a:pPr>
            <a:r>
              <a:rPr lang="en-US" sz="1400" b="1" dirty="0">
                <a:solidFill>
                  <a:srgbClr val="111111"/>
                </a:solidFill>
                <a:latin typeface="IBM Plex Sans JP" pitchFamily="34" charset="0"/>
                <a:ea typeface="IBM Plex Sans JP" pitchFamily="34" charset="-122"/>
                <a:cs typeface="IBM Plex Sans JP" pitchFamily="34" charset="-120"/>
              </a:rPr>
              <a:t>同じ100万円で、届く率が違う</a:t>
            </a:r>
            <a:endParaRPr lang="en-US" sz="1400" dirty="0"/>
          </a:p>
        </p:txBody>
      </p:sp>
      <p:sp>
        <p:nvSpPr>
          <p:cNvPr id="19" name="Text 17"/>
          <p:cNvSpPr/>
          <p:nvPr/>
        </p:nvSpPr>
        <p:spPr>
          <a:xfrm>
            <a:off x="7116775" y="3072384"/>
            <a:ext cx="4389120" cy="201168"/>
          </a:xfrm>
          <a:prstGeom prst="rect">
            <a:avLst/>
          </a:prstGeom>
          <a:noFill/>
          <a:ln/>
        </p:spPr>
        <p:txBody>
          <a:bodyPr wrap="square" lIns="0" tIns="0" rIns="0" bIns="0" rtlCol="0" anchor="t"/>
          <a:lstStyle/>
          <a:p>
            <a:pPr indent="0" marL="0">
              <a:buNone/>
            </a:pPr>
            <a:r>
              <a:rPr lang="en-US" sz="850" spc="150" kern="0" dirty="0">
                <a:solidFill>
                  <a:srgbClr val="6A6A6A"/>
                </a:solidFill>
                <a:latin typeface="IBM Plex Sans JP" pitchFamily="34" charset="0"/>
                <a:ea typeface="IBM Plex Sans JP" pitchFamily="34" charset="-122"/>
                <a:cs typeface="IBM Plex Sans JP" pitchFamily="34" charset="-120"/>
              </a:rPr>
              <a:t>Coverage Gap</a:t>
            </a:r>
            <a:endParaRPr lang="en-US" sz="850" dirty="0"/>
          </a:p>
        </p:txBody>
      </p:sp>
      <p:sp>
        <p:nvSpPr>
          <p:cNvPr id="20" name="Shape 18"/>
          <p:cNvSpPr/>
          <p:nvPr/>
        </p:nvSpPr>
        <p:spPr>
          <a:xfrm>
            <a:off x="6476695" y="3364992"/>
            <a:ext cx="5029200" cy="0"/>
          </a:xfrm>
          <a:prstGeom prst="line">
            <a:avLst/>
          </a:prstGeom>
          <a:noFill/>
          <a:ln w="9525">
            <a:solidFill>
              <a:srgbClr val="E6E4E0"/>
            </a:solidFill>
            <a:prstDash val="solid"/>
          </a:ln>
        </p:spPr>
      </p:sp>
      <p:sp>
        <p:nvSpPr>
          <p:cNvPr id="21" name="Text 19"/>
          <p:cNvSpPr/>
          <p:nvPr/>
        </p:nvSpPr>
        <p:spPr>
          <a:xfrm>
            <a:off x="685800" y="3529584"/>
            <a:ext cx="548640" cy="320040"/>
          </a:xfrm>
          <a:prstGeom prst="rect">
            <a:avLst/>
          </a:prstGeom>
          <a:noFill/>
          <a:ln/>
        </p:spPr>
        <p:txBody>
          <a:bodyPr wrap="square" lIns="0" tIns="0" rIns="0" bIns="0" rtlCol="0" anchor="t"/>
          <a:lstStyle/>
          <a:p>
            <a:pPr indent="0" marL="0">
              <a:buNone/>
            </a:pPr>
            <a:r>
              <a:rPr lang="en-US" sz="1600" dirty="0">
                <a:solidFill>
                  <a:srgbClr val="6A6A6A"/>
                </a:solidFill>
                <a:latin typeface="IBM Plex Sans JP" pitchFamily="34" charset="0"/>
                <a:ea typeface="IBM Plex Sans JP" pitchFamily="34" charset="-122"/>
                <a:cs typeface="IBM Plex Sans JP" pitchFamily="34" charset="-120"/>
              </a:rPr>
              <a:t>05</a:t>
            </a:r>
            <a:endParaRPr lang="en-US" sz="1600" dirty="0"/>
          </a:p>
        </p:txBody>
      </p:sp>
      <p:sp>
        <p:nvSpPr>
          <p:cNvPr id="22" name="Text 20"/>
          <p:cNvSpPr/>
          <p:nvPr/>
        </p:nvSpPr>
        <p:spPr>
          <a:xfrm>
            <a:off x="1325880" y="3511296"/>
            <a:ext cx="4389120" cy="320040"/>
          </a:xfrm>
          <a:prstGeom prst="rect">
            <a:avLst/>
          </a:prstGeom>
          <a:noFill/>
          <a:ln/>
        </p:spPr>
        <p:txBody>
          <a:bodyPr wrap="square" lIns="0" tIns="0" rIns="0" bIns="0" rtlCol="0" anchor="t"/>
          <a:lstStyle/>
          <a:p>
            <a:pPr indent="0" marL="0">
              <a:buNone/>
            </a:pPr>
            <a:r>
              <a:rPr lang="en-US" sz="1400" b="1" dirty="0">
                <a:solidFill>
                  <a:srgbClr val="111111"/>
                </a:solidFill>
                <a:latin typeface="IBM Plex Sans JP" pitchFamily="34" charset="0"/>
                <a:ea typeface="IBM Plex Sans JP" pitchFamily="34" charset="-122"/>
                <a:cs typeface="IBM Plex Sans JP" pitchFamily="34" charset="-120"/>
              </a:rPr>
              <a:t>県別 網羅プラン 定価表</a:t>
            </a:r>
            <a:endParaRPr lang="en-US" sz="1400" dirty="0"/>
          </a:p>
        </p:txBody>
      </p:sp>
      <p:sp>
        <p:nvSpPr>
          <p:cNvPr id="23" name="Text 21"/>
          <p:cNvSpPr/>
          <p:nvPr/>
        </p:nvSpPr>
        <p:spPr>
          <a:xfrm>
            <a:off x="1325880" y="3822192"/>
            <a:ext cx="4389120" cy="201168"/>
          </a:xfrm>
          <a:prstGeom prst="rect">
            <a:avLst/>
          </a:prstGeom>
          <a:noFill/>
          <a:ln/>
        </p:spPr>
        <p:txBody>
          <a:bodyPr wrap="square" lIns="0" tIns="0" rIns="0" bIns="0" rtlCol="0" anchor="t"/>
          <a:lstStyle/>
          <a:p>
            <a:pPr indent="0" marL="0">
              <a:buNone/>
            </a:pPr>
            <a:r>
              <a:rPr lang="en-US" sz="850" spc="150" kern="0" dirty="0">
                <a:solidFill>
                  <a:srgbClr val="6A6A6A"/>
                </a:solidFill>
                <a:latin typeface="IBM Plex Sans JP" pitchFamily="34" charset="0"/>
                <a:ea typeface="IBM Plex Sans JP" pitchFamily="34" charset="-122"/>
                <a:cs typeface="IBM Plex Sans JP" pitchFamily="34" charset="-120"/>
              </a:rPr>
              <a:t>Prefecture Plans</a:t>
            </a:r>
            <a:endParaRPr lang="en-US" sz="850" dirty="0"/>
          </a:p>
        </p:txBody>
      </p:sp>
      <p:sp>
        <p:nvSpPr>
          <p:cNvPr id="24" name="Shape 22"/>
          <p:cNvSpPr/>
          <p:nvPr/>
        </p:nvSpPr>
        <p:spPr>
          <a:xfrm>
            <a:off x="685800" y="4114800"/>
            <a:ext cx="5029200" cy="0"/>
          </a:xfrm>
          <a:prstGeom prst="line">
            <a:avLst/>
          </a:prstGeom>
          <a:noFill/>
          <a:ln w="9525">
            <a:solidFill>
              <a:srgbClr val="E6E4E0"/>
            </a:solidFill>
            <a:prstDash val="solid"/>
          </a:ln>
        </p:spPr>
      </p:sp>
      <p:sp>
        <p:nvSpPr>
          <p:cNvPr id="25" name="Text 23"/>
          <p:cNvSpPr/>
          <p:nvPr/>
        </p:nvSpPr>
        <p:spPr>
          <a:xfrm>
            <a:off x="6476695" y="3529584"/>
            <a:ext cx="548640" cy="320040"/>
          </a:xfrm>
          <a:prstGeom prst="rect">
            <a:avLst/>
          </a:prstGeom>
          <a:noFill/>
          <a:ln/>
        </p:spPr>
        <p:txBody>
          <a:bodyPr wrap="square" lIns="0" tIns="0" rIns="0" bIns="0" rtlCol="0" anchor="t"/>
          <a:lstStyle/>
          <a:p>
            <a:pPr indent="0" marL="0">
              <a:buNone/>
            </a:pPr>
            <a:r>
              <a:rPr lang="en-US" sz="1600" dirty="0">
                <a:solidFill>
                  <a:srgbClr val="6A6A6A"/>
                </a:solidFill>
                <a:latin typeface="IBM Plex Sans JP" pitchFamily="34" charset="0"/>
                <a:ea typeface="IBM Plex Sans JP" pitchFamily="34" charset="-122"/>
                <a:cs typeface="IBM Plex Sans JP" pitchFamily="34" charset="-120"/>
              </a:rPr>
              <a:t>06</a:t>
            </a:r>
            <a:endParaRPr lang="en-US" sz="1600" dirty="0"/>
          </a:p>
        </p:txBody>
      </p:sp>
      <p:sp>
        <p:nvSpPr>
          <p:cNvPr id="26" name="Text 24"/>
          <p:cNvSpPr/>
          <p:nvPr/>
        </p:nvSpPr>
        <p:spPr>
          <a:xfrm>
            <a:off x="7116775" y="3511296"/>
            <a:ext cx="4389120" cy="320040"/>
          </a:xfrm>
          <a:prstGeom prst="rect">
            <a:avLst/>
          </a:prstGeom>
          <a:noFill/>
          <a:ln/>
        </p:spPr>
        <p:txBody>
          <a:bodyPr wrap="square" lIns="0" tIns="0" rIns="0" bIns="0" rtlCol="0" anchor="t"/>
          <a:lstStyle/>
          <a:p>
            <a:pPr indent="0" marL="0">
              <a:buNone/>
            </a:pPr>
            <a:r>
              <a:rPr lang="en-US" sz="1400" b="1" dirty="0">
                <a:solidFill>
                  <a:srgbClr val="111111"/>
                </a:solidFill>
                <a:latin typeface="IBM Plex Sans JP" pitchFamily="34" charset="0"/>
                <a:ea typeface="IBM Plex Sans JP" pitchFamily="34" charset="-122"/>
                <a:cs typeface="IBM Plex Sans JP" pitchFamily="34" charset="-120"/>
              </a:rPr>
              <a:t>市別 商圏網羅プラン 定価表</a:t>
            </a:r>
            <a:endParaRPr lang="en-US" sz="1400" dirty="0"/>
          </a:p>
        </p:txBody>
      </p:sp>
      <p:sp>
        <p:nvSpPr>
          <p:cNvPr id="27" name="Text 25"/>
          <p:cNvSpPr/>
          <p:nvPr/>
        </p:nvSpPr>
        <p:spPr>
          <a:xfrm>
            <a:off x="7116775" y="3822192"/>
            <a:ext cx="4389120" cy="201168"/>
          </a:xfrm>
          <a:prstGeom prst="rect">
            <a:avLst/>
          </a:prstGeom>
          <a:noFill/>
          <a:ln/>
        </p:spPr>
        <p:txBody>
          <a:bodyPr wrap="square" lIns="0" tIns="0" rIns="0" bIns="0" rtlCol="0" anchor="t"/>
          <a:lstStyle/>
          <a:p>
            <a:pPr indent="0" marL="0">
              <a:buNone/>
            </a:pPr>
            <a:r>
              <a:rPr lang="en-US" sz="850" spc="150" kern="0" dirty="0">
                <a:solidFill>
                  <a:srgbClr val="6A6A6A"/>
                </a:solidFill>
                <a:latin typeface="IBM Plex Sans JP" pitchFamily="34" charset="0"/>
                <a:ea typeface="IBM Plex Sans JP" pitchFamily="34" charset="-122"/>
                <a:cs typeface="IBM Plex Sans JP" pitchFamily="34" charset="-120"/>
              </a:rPr>
              <a:t>City Plans</a:t>
            </a:r>
            <a:endParaRPr lang="en-US" sz="850" dirty="0"/>
          </a:p>
        </p:txBody>
      </p:sp>
      <p:sp>
        <p:nvSpPr>
          <p:cNvPr id="28" name="Shape 26"/>
          <p:cNvSpPr/>
          <p:nvPr/>
        </p:nvSpPr>
        <p:spPr>
          <a:xfrm>
            <a:off x="6476695" y="4114800"/>
            <a:ext cx="5029200" cy="0"/>
          </a:xfrm>
          <a:prstGeom prst="line">
            <a:avLst/>
          </a:prstGeom>
          <a:noFill/>
          <a:ln w="9525">
            <a:solidFill>
              <a:srgbClr val="E6E4E0"/>
            </a:solidFill>
            <a:prstDash val="solid"/>
          </a:ln>
        </p:spPr>
      </p:sp>
      <p:sp>
        <p:nvSpPr>
          <p:cNvPr id="29" name="Text 27"/>
          <p:cNvSpPr/>
          <p:nvPr/>
        </p:nvSpPr>
        <p:spPr>
          <a:xfrm>
            <a:off x="685800" y="4279392"/>
            <a:ext cx="548640" cy="320040"/>
          </a:xfrm>
          <a:prstGeom prst="rect">
            <a:avLst/>
          </a:prstGeom>
          <a:noFill/>
          <a:ln/>
        </p:spPr>
        <p:txBody>
          <a:bodyPr wrap="square" lIns="0" tIns="0" rIns="0" bIns="0" rtlCol="0" anchor="t"/>
          <a:lstStyle/>
          <a:p>
            <a:pPr indent="0" marL="0">
              <a:buNone/>
            </a:pPr>
            <a:r>
              <a:rPr lang="en-US" sz="1600" dirty="0">
                <a:solidFill>
                  <a:srgbClr val="6A6A6A"/>
                </a:solidFill>
                <a:latin typeface="IBM Plex Sans JP" pitchFamily="34" charset="0"/>
                <a:ea typeface="IBM Plex Sans JP" pitchFamily="34" charset="-122"/>
                <a:cs typeface="IBM Plex Sans JP" pitchFamily="34" charset="-120"/>
              </a:rPr>
              <a:t>07</a:t>
            </a:r>
            <a:endParaRPr lang="en-US" sz="1600" dirty="0"/>
          </a:p>
        </p:txBody>
      </p:sp>
      <p:sp>
        <p:nvSpPr>
          <p:cNvPr id="30" name="Text 28"/>
          <p:cNvSpPr/>
          <p:nvPr/>
        </p:nvSpPr>
        <p:spPr>
          <a:xfrm>
            <a:off x="1325880" y="4261104"/>
            <a:ext cx="4389120" cy="320040"/>
          </a:xfrm>
          <a:prstGeom prst="rect">
            <a:avLst/>
          </a:prstGeom>
          <a:noFill/>
          <a:ln/>
        </p:spPr>
        <p:txBody>
          <a:bodyPr wrap="square" lIns="0" tIns="0" rIns="0" bIns="0" rtlCol="0" anchor="t"/>
          <a:lstStyle/>
          <a:p>
            <a:pPr indent="0" marL="0">
              <a:buNone/>
            </a:pPr>
            <a:r>
              <a:rPr lang="en-US" sz="1400" b="1" dirty="0">
                <a:solidFill>
                  <a:srgbClr val="111111"/>
                </a:solidFill>
                <a:latin typeface="IBM Plex Sans JP" pitchFamily="34" charset="0"/>
                <a:ea typeface="IBM Plex Sans JP" pitchFamily="34" charset="-122"/>
                <a:cs typeface="IBM Plex Sans JP" pitchFamily="34" charset="-120"/>
              </a:rPr>
              <a:t>3つの標準プラン ／ 圏域プラン</a:t>
            </a:r>
            <a:endParaRPr lang="en-US" sz="1400" dirty="0"/>
          </a:p>
        </p:txBody>
      </p:sp>
      <p:sp>
        <p:nvSpPr>
          <p:cNvPr id="31" name="Text 29"/>
          <p:cNvSpPr/>
          <p:nvPr/>
        </p:nvSpPr>
        <p:spPr>
          <a:xfrm>
            <a:off x="1325880" y="4572000"/>
            <a:ext cx="4389120" cy="201168"/>
          </a:xfrm>
          <a:prstGeom prst="rect">
            <a:avLst/>
          </a:prstGeom>
          <a:noFill/>
          <a:ln/>
        </p:spPr>
        <p:txBody>
          <a:bodyPr wrap="square" lIns="0" tIns="0" rIns="0" bIns="0" rtlCol="0" anchor="t"/>
          <a:lstStyle/>
          <a:p>
            <a:pPr indent="0" marL="0">
              <a:buNone/>
            </a:pPr>
            <a:r>
              <a:rPr lang="en-US" sz="850" spc="150" kern="0" dirty="0">
                <a:solidFill>
                  <a:srgbClr val="6A6A6A"/>
                </a:solidFill>
                <a:latin typeface="IBM Plex Sans JP" pitchFamily="34" charset="0"/>
                <a:ea typeface="IBM Plex Sans JP" pitchFamily="34" charset="-122"/>
                <a:cs typeface="IBM Plex Sans JP" pitchFamily="34" charset="-120"/>
              </a:rPr>
              <a:t>Other Plans</a:t>
            </a:r>
            <a:endParaRPr lang="en-US" sz="850" dirty="0"/>
          </a:p>
        </p:txBody>
      </p:sp>
      <p:sp>
        <p:nvSpPr>
          <p:cNvPr id="32" name="Shape 30"/>
          <p:cNvSpPr/>
          <p:nvPr/>
        </p:nvSpPr>
        <p:spPr>
          <a:xfrm>
            <a:off x="685800" y="4864608"/>
            <a:ext cx="5029200" cy="0"/>
          </a:xfrm>
          <a:prstGeom prst="line">
            <a:avLst/>
          </a:prstGeom>
          <a:noFill/>
          <a:ln w="9525">
            <a:solidFill>
              <a:srgbClr val="E6E4E0"/>
            </a:solidFill>
            <a:prstDash val="solid"/>
          </a:ln>
        </p:spPr>
      </p:sp>
      <p:sp>
        <p:nvSpPr>
          <p:cNvPr id="33" name="Text 31"/>
          <p:cNvSpPr/>
          <p:nvPr/>
        </p:nvSpPr>
        <p:spPr>
          <a:xfrm>
            <a:off x="6476695" y="4279392"/>
            <a:ext cx="548640" cy="320040"/>
          </a:xfrm>
          <a:prstGeom prst="rect">
            <a:avLst/>
          </a:prstGeom>
          <a:noFill/>
          <a:ln/>
        </p:spPr>
        <p:txBody>
          <a:bodyPr wrap="square" lIns="0" tIns="0" rIns="0" bIns="0" rtlCol="0" anchor="t"/>
          <a:lstStyle/>
          <a:p>
            <a:pPr indent="0" marL="0">
              <a:buNone/>
            </a:pPr>
            <a:r>
              <a:rPr lang="en-US" sz="1600" dirty="0">
                <a:solidFill>
                  <a:srgbClr val="6A6A6A"/>
                </a:solidFill>
                <a:latin typeface="IBM Plex Sans JP" pitchFamily="34" charset="0"/>
                <a:ea typeface="IBM Plex Sans JP" pitchFamily="34" charset="-122"/>
                <a:cs typeface="IBM Plex Sans JP" pitchFamily="34" charset="-120"/>
              </a:rPr>
              <a:t>08</a:t>
            </a:r>
            <a:endParaRPr lang="en-US" sz="1600" dirty="0"/>
          </a:p>
        </p:txBody>
      </p:sp>
      <p:sp>
        <p:nvSpPr>
          <p:cNvPr id="34" name="Text 32"/>
          <p:cNvSpPr/>
          <p:nvPr/>
        </p:nvSpPr>
        <p:spPr>
          <a:xfrm>
            <a:off x="7116775" y="4261104"/>
            <a:ext cx="4389120" cy="320040"/>
          </a:xfrm>
          <a:prstGeom prst="rect">
            <a:avLst/>
          </a:prstGeom>
          <a:noFill/>
          <a:ln/>
        </p:spPr>
        <p:txBody>
          <a:bodyPr wrap="square" lIns="0" tIns="0" rIns="0" bIns="0" rtlCol="0" anchor="t"/>
          <a:lstStyle/>
          <a:p>
            <a:pPr indent="0" marL="0">
              <a:buNone/>
            </a:pPr>
            <a:r>
              <a:rPr lang="en-US" sz="1400" b="1" dirty="0">
                <a:solidFill>
                  <a:srgbClr val="111111"/>
                </a:solidFill>
                <a:latin typeface="IBM Plex Sans JP" pitchFamily="34" charset="0"/>
                <a:ea typeface="IBM Plex Sans JP" pitchFamily="34" charset="-122"/>
                <a:cs typeface="IBM Plex Sans JP" pitchFamily="34" charset="-120"/>
              </a:rPr>
              <a:t>制作を含めた総額</a:t>
            </a:r>
            <a:endParaRPr lang="en-US" sz="1400" dirty="0"/>
          </a:p>
        </p:txBody>
      </p:sp>
      <p:sp>
        <p:nvSpPr>
          <p:cNvPr id="35" name="Text 33"/>
          <p:cNvSpPr/>
          <p:nvPr/>
        </p:nvSpPr>
        <p:spPr>
          <a:xfrm>
            <a:off x="7116775" y="4572000"/>
            <a:ext cx="4389120" cy="201168"/>
          </a:xfrm>
          <a:prstGeom prst="rect">
            <a:avLst/>
          </a:prstGeom>
          <a:noFill/>
          <a:ln/>
        </p:spPr>
        <p:txBody>
          <a:bodyPr wrap="square" lIns="0" tIns="0" rIns="0" bIns="0" rtlCol="0" anchor="t"/>
          <a:lstStyle/>
          <a:p>
            <a:pPr indent="0" marL="0">
              <a:buNone/>
            </a:pPr>
            <a:r>
              <a:rPr lang="en-US" sz="850" spc="150" kern="0" dirty="0">
                <a:solidFill>
                  <a:srgbClr val="6A6A6A"/>
                </a:solidFill>
                <a:latin typeface="IBM Plex Sans JP" pitchFamily="34" charset="0"/>
                <a:ea typeface="IBM Plex Sans JP" pitchFamily="34" charset="-122"/>
                <a:cs typeface="IBM Plex Sans JP" pitchFamily="34" charset="-120"/>
              </a:rPr>
              <a:t>Total Package</a:t>
            </a:r>
            <a:endParaRPr lang="en-US" sz="850" dirty="0"/>
          </a:p>
        </p:txBody>
      </p:sp>
      <p:sp>
        <p:nvSpPr>
          <p:cNvPr id="36" name="Shape 34"/>
          <p:cNvSpPr/>
          <p:nvPr/>
        </p:nvSpPr>
        <p:spPr>
          <a:xfrm>
            <a:off x="6476695" y="4864608"/>
            <a:ext cx="5029200" cy="0"/>
          </a:xfrm>
          <a:prstGeom prst="line">
            <a:avLst/>
          </a:prstGeom>
          <a:noFill/>
          <a:ln w="9525">
            <a:solidFill>
              <a:srgbClr val="E6E4E0"/>
            </a:solidFill>
            <a:prstDash val="solid"/>
          </a:ln>
        </p:spPr>
      </p:sp>
      <p:sp>
        <p:nvSpPr>
          <p:cNvPr id="37" name="Text 35"/>
          <p:cNvSpPr/>
          <p:nvPr/>
        </p:nvSpPr>
        <p:spPr>
          <a:xfrm>
            <a:off x="685800" y="5029200"/>
            <a:ext cx="548640" cy="320040"/>
          </a:xfrm>
          <a:prstGeom prst="rect">
            <a:avLst/>
          </a:prstGeom>
          <a:noFill/>
          <a:ln/>
        </p:spPr>
        <p:txBody>
          <a:bodyPr wrap="square" lIns="0" tIns="0" rIns="0" bIns="0" rtlCol="0" anchor="t"/>
          <a:lstStyle/>
          <a:p>
            <a:pPr indent="0" marL="0">
              <a:buNone/>
            </a:pPr>
            <a:r>
              <a:rPr lang="en-US" sz="1600" dirty="0">
                <a:solidFill>
                  <a:srgbClr val="6A6A6A"/>
                </a:solidFill>
                <a:latin typeface="IBM Plex Sans JP" pitchFamily="34" charset="0"/>
                <a:ea typeface="IBM Plex Sans JP" pitchFamily="34" charset="-122"/>
                <a:cs typeface="IBM Plex Sans JP" pitchFamily="34" charset="-120"/>
              </a:rPr>
              <a:t>09</a:t>
            </a:r>
            <a:endParaRPr lang="en-US" sz="1600" dirty="0"/>
          </a:p>
        </p:txBody>
      </p:sp>
      <p:sp>
        <p:nvSpPr>
          <p:cNvPr id="38" name="Text 36"/>
          <p:cNvSpPr/>
          <p:nvPr/>
        </p:nvSpPr>
        <p:spPr>
          <a:xfrm>
            <a:off x="1325880" y="5010912"/>
            <a:ext cx="4389120" cy="320040"/>
          </a:xfrm>
          <a:prstGeom prst="rect">
            <a:avLst/>
          </a:prstGeom>
          <a:noFill/>
          <a:ln/>
        </p:spPr>
        <p:txBody>
          <a:bodyPr wrap="square" lIns="0" tIns="0" rIns="0" bIns="0" rtlCol="0" anchor="t"/>
          <a:lstStyle/>
          <a:p>
            <a:pPr indent="0" marL="0">
              <a:buNone/>
            </a:pPr>
            <a:r>
              <a:rPr lang="en-US" sz="1400" b="1" dirty="0">
                <a:solidFill>
                  <a:srgbClr val="111111"/>
                </a:solidFill>
                <a:latin typeface="IBM Plex Sans JP" pitchFamily="34" charset="0"/>
                <a:ea typeface="IBM Plex Sans JP" pitchFamily="34" charset="-122"/>
                <a:cs typeface="IBM Plex Sans JP" pitchFamily="34" charset="-120"/>
              </a:rPr>
              <a:t>体制と進め方</a:t>
            </a:r>
            <a:endParaRPr lang="en-US" sz="1400" dirty="0"/>
          </a:p>
        </p:txBody>
      </p:sp>
      <p:sp>
        <p:nvSpPr>
          <p:cNvPr id="39" name="Text 37"/>
          <p:cNvSpPr/>
          <p:nvPr/>
        </p:nvSpPr>
        <p:spPr>
          <a:xfrm>
            <a:off x="1325880" y="5321808"/>
            <a:ext cx="4389120" cy="201168"/>
          </a:xfrm>
          <a:prstGeom prst="rect">
            <a:avLst/>
          </a:prstGeom>
          <a:noFill/>
          <a:ln/>
        </p:spPr>
        <p:txBody>
          <a:bodyPr wrap="square" lIns="0" tIns="0" rIns="0" bIns="0" rtlCol="0" anchor="t"/>
          <a:lstStyle/>
          <a:p>
            <a:pPr indent="0" marL="0">
              <a:buNone/>
            </a:pPr>
            <a:r>
              <a:rPr lang="en-US" sz="850" spc="150" kern="0" dirty="0">
                <a:solidFill>
                  <a:srgbClr val="6A6A6A"/>
                </a:solidFill>
                <a:latin typeface="IBM Plex Sans JP" pitchFamily="34" charset="0"/>
                <a:ea typeface="IBM Plex Sans JP" pitchFamily="34" charset="-122"/>
                <a:cs typeface="IBM Plex Sans JP" pitchFamily="34" charset="-120"/>
              </a:rPr>
              <a:t>How We Work</a:t>
            </a:r>
            <a:endParaRPr lang="en-US" sz="850" dirty="0"/>
          </a:p>
        </p:txBody>
      </p:sp>
      <p:sp>
        <p:nvSpPr>
          <p:cNvPr id="40" name="Shape 38"/>
          <p:cNvSpPr/>
          <p:nvPr/>
        </p:nvSpPr>
        <p:spPr>
          <a:xfrm>
            <a:off x="685800" y="5614416"/>
            <a:ext cx="5029200" cy="0"/>
          </a:xfrm>
          <a:prstGeom prst="line">
            <a:avLst/>
          </a:prstGeom>
          <a:noFill/>
          <a:ln w="9525">
            <a:solidFill>
              <a:srgbClr val="E6E4E0"/>
            </a:solidFill>
            <a:prstDash val="solid"/>
          </a:ln>
        </p:spPr>
      </p:sp>
      <p:pic>
        <p:nvPicPr>
          <p:cNvPr id="41" name="Image 0" descr="/private/tmp/claude-501/-Users-hirokishirakawa/61df7724-8533-4661-9a58-fa513da8dcb2/scratchpad/deck/assets/logo-black.png">    </p:cNvPr>
          <p:cNvPicPr>
            <a:picLocks noChangeAspect="1"/>
          </p:cNvPicPr>
          <p:nvPr/>
        </p:nvPicPr>
        <p:blipFill>
          <a:blip r:embed="rId1"/>
          <a:stretch>
            <a:fillRect/>
          </a:stretch>
        </p:blipFill>
        <p:spPr>
          <a:xfrm>
            <a:off x="685800" y="6291072"/>
            <a:ext cx="868680" cy="128484"/>
          </a:xfrm>
          <a:prstGeom prst="rect">
            <a:avLst/>
          </a:prstGeom>
        </p:spPr>
      </p:pic>
      <p:sp>
        <p:nvSpPr>
          <p:cNvPr id="42" name="Text 39"/>
          <p:cNvSpPr/>
          <p:nvPr/>
        </p:nvSpPr>
        <p:spPr>
          <a:xfrm>
            <a:off x="1828800" y="6291072"/>
            <a:ext cx="5486400" cy="182880"/>
          </a:xfrm>
          <a:prstGeom prst="rect">
            <a:avLst/>
          </a:prstGeom>
          <a:noFill/>
          <a:ln/>
        </p:spPr>
        <p:txBody>
          <a:bodyPr wrap="square" lIns="0" tIns="0" rIns="0" bIns="0" rtlCol="0" anchor="t"/>
          <a:lstStyle/>
          <a:p>
            <a:pPr indent="0" marL="0">
              <a:buNone/>
            </a:pPr>
            <a:r>
              <a:rPr lang="en-US" sz="800" spc="100" kern="0" dirty="0">
                <a:solidFill>
                  <a:srgbClr val="6A6A6A"/>
                </a:solidFill>
                <a:latin typeface="IBM Plex Sans JP" pitchFamily="34" charset="0"/>
                <a:ea typeface="IBM Plex Sans JP" pitchFamily="34" charset="-122"/>
                <a:cs typeface="IBM Plex Sans JP" pitchFamily="34" charset="-120"/>
              </a:rPr>
              <a:t>Ad Arch Co., Ltd.　／　TVer Advertising Division</a:t>
            </a:r>
            <a:endParaRPr lang="en-US" sz="800" dirty="0"/>
          </a:p>
        </p:txBody>
      </p:sp>
      <p:sp>
        <p:nvSpPr>
          <p:cNvPr id="43" name="Text 40"/>
          <p:cNvSpPr/>
          <p:nvPr/>
        </p:nvSpPr>
        <p:spPr>
          <a:xfrm>
            <a:off x="7848295" y="6291072"/>
            <a:ext cx="3657600" cy="182880"/>
          </a:xfrm>
          <a:prstGeom prst="rect">
            <a:avLst/>
          </a:prstGeom>
          <a:noFill/>
          <a:ln/>
        </p:spPr>
        <p:txBody>
          <a:bodyPr wrap="square" lIns="0" tIns="0" rIns="0" bIns="0" rtlCol="0" anchor="t"/>
          <a:lstStyle/>
          <a:p>
            <a:pPr algn="r" indent="0" marL="0">
              <a:buNone/>
            </a:pPr>
            <a:r>
              <a:rPr lang="en-US" sz="800" spc="150" kern="0" dirty="0">
                <a:solidFill>
                  <a:srgbClr val="6A6A6A"/>
                </a:solidFill>
                <a:latin typeface="IBM Plex Sans JP" pitchFamily="34" charset="0"/>
                <a:ea typeface="IBM Plex Sans JP" pitchFamily="34" charset="-122"/>
                <a:cs typeface="IBM Plex Sans JP" pitchFamily="34" charset="-120"/>
              </a:rPr>
              <a:t>02 / 19　　CONFIDENTIAL</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5508"/>
            <a:ext cx="384048" cy="27432"/>
          </a:xfrm>
          <a:prstGeom prst="rect">
            <a:avLst/>
          </a:prstGeom>
          <a:solidFill>
            <a:srgbClr val="F19834"/>
          </a:solidFill>
          <a:ln w="12700">
            <a:solidFill>
              <a:srgbClr val="F19834"/>
            </a:solidFill>
            <a:prstDash val="solid"/>
          </a:ln>
        </p:spPr>
      </p:sp>
      <p:sp>
        <p:nvSpPr>
          <p:cNvPr id="3" name="Text 1"/>
          <p:cNvSpPr/>
          <p:nvPr/>
        </p:nvSpPr>
        <p:spPr>
          <a:xfrm>
            <a:off x="1188720" y="566928"/>
            <a:ext cx="6400800" cy="201168"/>
          </a:xfrm>
          <a:prstGeom prst="rect">
            <a:avLst/>
          </a:prstGeom>
          <a:noFill/>
          <a:ln/>
        </p:spPr>
        <p:txBody>
          <a:bodyPr wrap="square" lIns="0" tIns="0" rIns="0" bIns="0" rtlCol="0" anchor="t"/>
          <a:lstStyle/>
          <a:p>
            <a:pPr indent="0" marL="0">
              <a:buNone/>
            </a:pPr>
            <a:r>
              <a:rPr lang="en-US" sz="900" spc="300" kern="0" dirty="0">
                <a:solidFill>
                  <a:srgbClr val="6A6A6A"/>
                </a:solidFill>
                <a:latin typeface="IBM Plex Sans JP" pitchFamily="34" charset="0"/>
                <a:ea typeface="IBM Plex Sans JP" pitchFamily="34" charset="-122"/>
                <a:cs typeface="IBM Plex Sans JP" pitchFamily="34" charset="-120"/>
              </a:rPr>
              <a:t>01 ／ WHY TVER</a:t>
            </a:r>
            <a:endParaRPr lang="en-US" sz="900" dirty="0"/>
          </a:p>
        </p:txBody>
      </p:sp>
      <p:sp>
        <p:nvSpPr>
          <p:cNvPr id="4" name="Text 2"/>
          <p:cNvSpPr/>
          <p:nvPr/>
        </p:nvSpPr>
        <p:spPr>
          <a:xfrm>
            <a:off x="685800" y="896112"/>
            <a:ext cx="10820095" cy="822960"/>
          </a:xfrm>
          <a:prstGeom prst="rect">
            <a:avLst/>
          </a:prstGeom>
          <a:noFill/>
          <a:ln/>
        </p:spPr>
        <p:txBody>
          <a:bodyPr wrap="square" lIns="0" tIns="0" rIns="0" bIns="0" rtlCol="0" anchor="t"/>
          <a:lstStyle/>
          <a:p>
            <a:pPr indent="0" marL="0">
              <a:lnSpc>
                <a:spcPct val="125000"/>
              </a:lnSpc>
              <a:buNone/>
            </a:pPr>
            <a:r>
              <a:rPr lang="en-US" sz="2600" b="1" dirty="0">
                <a:solidFill>
                  <a:srgbClr val="111111"/>
                </a:solidFill>
                <a:latin typeface="IBM Plex Sans JP" pitchFamily="34" charset="0"/>
                <a:ea typeface="IBM Plex Sans JP" pitchFamily="34" charset="-122"/>
                <a:cs typeface="IBM Plex Sans JP" pitchFamily="34" charset="-120"/>
              </a:rPr>
              <a:t>TVerという媒体</a:t>
            </a:r>
            <a:endParaRPr lang="en-US" sz="2600" dirty="0"/>
          </a:p>
        </p:txBody>
      </p:sp>
      <p:sp>
        <p:nvSpPr>
          <p:cNvPr id="5" name="Text 3"/>
          <p:cNvSpPr/>
          <p:nvPr/>
        </p:nvSpPr>
        <p:spPr>
          <a:xfrm>
            <a:off x="685800" y="1572768"/>
            <a:ext cx="10820095" cy="365760"/>
          </a:xfrm>
          <a:prstGeom prst="rect">
            <a:avLst/>
          </a:prstGeom>
          <a:noFill/>
          <a:ln/>
        </p:spPr>
        <p:txBody>
          <a:bodyPr wrap="square" lIns="0" tIns="0" rIns="0" bIns="0" rtlCol="0" anchor="t"/>
          <a:lstStyle/>
          <a:p>
            <a:pPr indent="0" marL="0">
              <a:buNone/>
            </a:pPr>
            <a:r>
              <a:rPr lang="en-US" sz="1200" dirty="0">
                <a:solidFill>
                  <a:srgbClr val="6A6A6A"/>
                </a:solidFill>
                <a:latin typeface="IBM Plex Sans JP" pitchFamily="34" charset="0"/>
                <a:ea typeface="IBM Plex Sans JP" pitchFamily="34" charset="-122"/>
                <a:cs typeface="IBM Plex Sans JP" pitchFamily="34" charset="-120"/>
              </a:rPr>
              <a:t>民放公式テレビ配信サービス。テレビ局の番組が、そのままの品質で配信されています。</a:t>
            </a:r>
            <a:endParaRPr lang="en-US" sz="1200" dirty="0"/>
          </a:p>
        </p:txBody>
      </p:sp>
      <p:sp>
        <p:nvSpPr>
          <p:cNvPr id="6" name="Shape 4"/>
          <p:cNvSpPr/>
          <p:nvPr/>
        </p:nvSpPr>
        <p:spPr>
          <a:xfrm>
            <a:off x="685800" y="2377440"/>
            <a:ext cx="2487168" cy="0"/>
          </a:xfrm>
          <a:prstGeom prst="line">
            <a:avLst/>
          </a:prstGeom>
          <a:noFill/>
          <a:ln w="12700">
            <a:solidFill>
              <a:srgbClr val="111111"/>
            </a:solidFill>
            <a:prstDash val="solid"/>
          </a:ln>
        </p:spPr>
      </p:sp>
      <p:sp>
        <p:nvSpPr>
          <p:cNvPr id="7" name="Text 5"/>
          <p:cNvSpPr/>
          <p:nvPr/>
        </p:nvSpPr>
        <p:spPr>
          <a:xfrm>
            <a:off x="685800" y="2651760"/>
            <a:ext cx="2487168" cy="640080"/>
          </a:xfrm>
          <a:prstGeom prst="rect">
            <a:avLst/>
          </a:prstGeom>
          <a:noFill/>
          <a:ln/>
        </p:spPr>
        <p:txBody>
          <a:bodyPr wrap="square" lIns="0" tIns="0" rIns="0" bIns="0" rtlCol="0" anchor="t"/>
          <a:lstStyle/>
          <a:p>
            <a:pPr indent="0" marL="0">
              <a:buNone/>
            </a:pPr>
            <a:r>
              <a:rPr lang="en-US" sz="3000" b="1" spc="-100" kern="0" dirty="0">
                <a:solidFill>
                  <a:srgbClr val="111111"/>
                </a:solidFill>
                <a:latin typeface="IBM Plex Sans JP" pitchFamily="34" charset="0"/>
                <a:ea typeface="IBM Plex Sans JP" pitchFamily="34" charset="-122"/>
                <a:cs typeface="IBM Plex Sans JP" pitchFamily="34" charset="-120"/>
              </a:rPr>
              <a:t>4,470万</a:t>
            </a:r>
            <a:endParaRPr lang="en-US" sz="3000" dirty="0"/>
          </a:p>
        </p:txBody>
      </p:sp>
      <p:sp>
        <p:nvSpPr>
          <p:cNvPr id="8" name="Text 6"/>
          <p:cNvSpPr/>
          <p:nvPr/>
        </p:nvSpPr>
        <p:spPr>
          <a:xfrm>
            <a:off x="685800" y="3337560"/>
            <a:ext cx="2487168" cy="274320"/>
          </a:xfrm>
          <a:prstGeom prst="rect">
            <a:avLst/>
          </a:prstGeom>
          <a:noFill/>
          <a:ln/>
        </p:spPr>
        <p:txBody>
          <a:bodyPr wrap="square" lIns="0" tIns="0" rIns="0" bIns="0" rtlCol="0" anchor="t"/>
          <a:lstStyle/>
          <a:p>
            <a:pPr indent="0" marL="0">
              <a:buNone/>
            </a:pPr>
            <a:r>
              <a:rPr lang="en-US" sz="1200" b="1" dirty="0">
                <a:solidFill>
                  <a:srgbClr val="111111"/>
                </a:solidFill>
                <a:latin typeface="IBM Plex Sans JP" pitchFamily="34" charset="0"/>
                <a:ea typeface="IBM Plex Sans JP" pitchFamily="34" charset="-122"/>
                <a:cs typeface="IBM Plex Sans JP" pitchFamily="34" charset="-120"/>
              </a:rPr>
              <a:t>月間ユーザー数</a:t>
            </a:r>
            <a:endParaRPr lang="en-US" sz="1200" dirty="0"/>
          </a:p>
        </p:txBody>
      </p:sp>
      <p:sp>
        <p:nvSpPr>
          <p:cNvPr id="9" name="Text 7"/>
          <p:cNvSpPr/>
          <p:nvPr/>
        </p:nvSpPr>
        <p:spPr>
          <a:xfrm>
            <a:off x="685800" y="3657600"/>
            <a:ext cx="2487168" cy="457200"/>
          </a:xfrm>
          <a:prstGeom prst="rect">
            <a:avLst/>
          </a:prstGeom>
          <a:noFill/>
          <a:ln/>
        </p:spPr>
        <p:txBody>
          <a:bodyPr wrap="square" lIns="0" tIns="0" rIns="0" bIns="0" rtlCol="0" anchor="t"/>
          <a:lstStyle/>
          <a:p>
            <a:pPr indent="0" marL="0">
              <a:lnSpc>
                <a:spcPct val="140000"/>
              </a:lnSpc>
              <a:buNone/>
            </a:pPr>
            <a:r>
              <a:rPr lang="en-US" sz="950" dirty="0">
                <a:solidFill>
                  <a:srgbClr val="6A6A6A"/>
                </a:solidFill>
                <a:latin typeface="IBM Plex Sans JP" pitchFamily="34" charset="0"/>
                <a:ea typeface="IBM Plex Sans JP" pitchFamily="34" charset="-122"/>
                <a:cs typeface="IBM Plex Sans JP" pitchFamily="34" charset="-120"/>
              </a:rPr>
              <a:t>2026年1月・2か月連続で過去最高を更新</a:t>
            </a:r>
            <a:endParaRPr lang="en-US" sz="950" dirty="0"/>
          </a:p>
        </p:txBody>
      </p:sp>
      <p:sp>
        <p:nvSpPr>
          <p:cNvPr id="10" name="Shape 8"/>
          <p:cNvSpPr/>
          <p:nvPr/>
        </p:nvSpPr>
        <p:spPr>
          <a:xfrm>
            <a:off x="3463442" y="2377440"/>
            <a:ext cx="2487168" cy="0"/>
          </a:xfrm>
          <a:prstGeom prst="line">
            <a:avLst/>
          </a:prstGeom>
          <a:noFill/>
          <a:ln w="12700">
            <a:solidFill>
              <a:srgbClr val="111111"/>
            </a:solidFill>
            <a:prstDash val="solid"/>
          </a:ln>
        </p:spPr>
      </p:sp>
      <p:sp>
        <p:nvSpPr>
          <p:cNvPr id="11" name="Text 9"/>
          <p:cNvSpPr/>
          <p:nvPr/>
        </p:nvSpPr>
        <p:spPr>
          <a:xfrm>
            <a:off x="3463442" y="2651760"/>
            <a:ext cx="2487168" cy="640080"/>
          </a:xfrm>
          <a:prstGeom prst="rect">
            <a:avLst/>
          </a:prstGeom>
          <a:noFill/>
          <a:ln/>
        </p:spPr>
        <p:txBody>
          <a:bodyPr wrap="square" lIns="0" tIns="0" rIns="0" bIns="0" rtlCol="0" anchor="t"/>
          <a:lstStyle/>
          <a:p>
            <a:pPr indent="0" marL="0">
              <a:buNone/>
            </a:pPr>
            <a:r>
              <a:rPr lang="en-US" sz="3000" b="1" spc="-100" kern="0" dirty="0">
                <a:solidFill>
                  <a:srgbClr val="111111"/>
                </a:solidFill>
                <a:latin typeface="IBM Plex Sans JP" pitchFamily="34" charset="0"/>
                <a:ea typeface="IBM Plex Sans JP" pitchFamily="34" charset="-122"/>
                <a:cs typeface="IBM Plex Sans JP" pitchFamily="34" charset="-120"/>
              </a:rPr>
              <a:t>6.5億回</a:t>
            </a:r>
            <a:endParaRPr lang="en-US" sz="3000" dirty="0"/>
          </a:p>
        </p:txBody>
      </p:sp>
      <p:sp>
        <p:nvSpPr>
          <p:cNvPr id="12" name="Text 10"/>
          <p:cNvSpPr/>
          <p:nvPr/>
        </p:nvSpPr>
        <p:spPr>
          <a:xfrm>
            <a:off x="3463442" y="3337560"/>
            <a:ext cx="2487168" cy="274320"/>
          </a:xfrm>
          <a:prstGeom prst="rect">
            <a:avLst/>
          </a:prstGeom>
          <a:noFill/>
          <a:ln/>
        </p:spPr>
        <p:txBody>
          <a:bodyPr wrap="square" lIns="0" tIns="0" rIns="0" bIns="0" rtlCol="0" anchor="t"/>
          <a:lstStyle/>
          <a:p>
            <a:pPr indent="0" marL="0">
              <a:buNone/>
            </a:pPr>
            <a:r>
              <a:rPr lang="en-US" sz="1200" b="1" dirty="0">
                <a:solidFill>
                  <a:srgbClr val="111111"/>
                </a:solidFill>
                <a:latin typeface="IBM Plex Sans JP" pitchFamily="34" charset="0"/>
                <a:ea typeface="IBM Plex Sans JP" pitchFamily="34" charset="-122"/>
                <a:cs typeface="IBM Plex Sans JP" pitchFamily="34" charset="-120"/>
              </a:rPr>
              <a:t>月間再生数</a:t>
            </a:r>
            <a:endParaRPr lang="en-US" sz="1200" dirty="0"/>
          </a:p>
        </p:txBody>
      </p:sp>
      <p:sp>
        <p:nvSpPr>
          <p:cNvPr id="13" name="Text 11"/>
          <p:cNvSpPr/>
          <p:nvPr/>
        </p:nvSpPr>
        <p:spPr>
          <a:xfrm>
            <a:off x="3463442" y="3657600"/>
            <a:ext cx="2487168" cy="457200"/>
          </a:xfrm>
          <a:prstGeom prst="rect">
            <a:avLst/>
          </a:prstGeom>
          <a:noFill/>
          <a:ln/>
        </p:spPr>
        <p:txBody>
          <a:bodyPr wrap="square" lIns="0" tIns="0" rIns="0" bIns="0" rtlCol="0" anchor="t"/>
          <a:lstStyle/>
          <a:p>
            <a:pPr indent="0" marL="0">
              <a:lnSpc>
                <a:spcPct val="140000"/>
              </a:lnSpc>
              <a:buNone/>
            </a:pPr>
            <a:r>
              <a:rPr lang="en-US" sz="950" dirty="0">
                <a:solidFill>
                  <a:srgbClr val="6A6A6A"/>
                </a:solidFill>
                <a:latin typeface="IBM Plex Sans JP" pitchFamily="34" charset="0"/>
                <a:ea typeface="IBM Plex Sans JP" pitchFamily="34" charset="-122"/>
                <a:cs typeface="IBM Plex Sans JP" pitchFamily="34" charset="-120"/>
              </a:rPr>
              <a:t>2025年12月時点</a:t>
            </a:r>
            <a:endParaRPr lang="en-US" sz="950" dirty="0"/>
          </a:p>
        </p:txBody>
      </p:sp>
      <p:sp>
        <p:nvSpPr>
          <p:cNvPr id="14" name="Shape 12"/>
          <p:cNvSpPr/>
          <p:nvPr/>
        </p:nvSpPr>
        <p:spPr>
          <a:xfrm>
            <a:off x="6241085" y="2377440"/>
            <a:ext cx="2487168" cy="0"/>
          </a:xfrm>
          <a:prstGeom prst="line">
            <a:avLst/>
          </a:prstGeom>
          <a:noFill/>
          <a:ln w="12700">
            <a:solidFill>
              <a:srgbClr val="111111"/>
            </a:solidFill>
            <a:prstDash val="solid"/>
          </a:ln>
        </p:spPr>
      </p:sp>
      <p:sp>
        <p:nvSpPr>
          <p:cNvPr id="15" name="Text 13"/>
          <p:cNvSpPr/>
          <p:nvPr/>
        </p:nvSpPr>
        <p:spPr>
          <a:xfrm>
            <a:off x="6241085" y="2651760"/>
            <a:ext cx="2487168" cy="640080"/>
          </a:xfrm>
          <a:prstGeom prst="rect">
            <a:avLst/>
          </a:prstGeom>
          <a:noFill/>
          <a:ln/>
        </p:spPr>
        <p:txBody>
          <a:bodyPr wrap="square" lIns="0" tIns="0" rIns="0" bIns="0" rtlCol="0" anchor="t"/>
          <a:lstStyle/>
          <a:p>
            <a:pPr indent="0" marL="0">
              <a:buNone/>
            </a:pPr>
            <a:r>
              <a:rPr lang="en-US" sz="3000" b="1" spc="-100" kern="0" dirty="0">
                <a:solidFill>
                  <a:srgbClr val="111111"/>
                </a:solidFill>
                <a:latin typeface="IBM Plex Sans JP" pitchFamily="34" charset="0"/>
                <a:ea typeface="IBM Plex Sans JP" pitchFamily="34" charset="-122"/>
                <a:cs typeface="IBM Plex Sans JP" pitchFamily="34" charset="-120"/>
              </a:rPr>
              <a:t>9,000万</a:t>
            </a:r>
            <a:endParaRPr lang="en-US" sz="3000" dirty="0"/>
          </a:p>
        </p:txBody>
      </p:sp>
      <p:sp>
        <p:nvSpPr>
          <p:cNvPr id="16" name="Text 14"/>
          <p:cNvSpPr/>
          <p:nvPr/>
        </p:nvSpPr>
        <p:spPr>
          <a:xfrm>
            <a:off x="6241085" y="3337560"/>
            <a:ext cx="2487168" cy="274320"/>
          </a:xfrm>
          <a:prstGeom prst="rect">
            <a:avLst/>
          </a:prstGeom>
          <a:noFill/>
          <a:ln/>
        </p:spPr>
        <p:txBody>
          <a:bodyPr wrap="square" lIns="0" tIns="0" rIns="0" bIns="0" rtlCol="0" anchor="t"/>
          <a:lstStyle/>
          <a:p>
            <a:pPr indent="0" marL="0">
              <a:buNone/>
            </a:pPr>
            <a:r>
              <a:rPr lang="en-US" sz="1200" b="1" dirty="0">
                <a:solidFill>
                  <a:srgbClr val="111111"/>
                </a:solidFill>
                <a:latin typeface="IBM Plex Sans JP" pitchFamily="34" charset="0"/>
                <a:ea typeface="IBM Plex Sans JP" pitchFamily="34" charset="-122"/>
                <a:cs typeface="IBM Plex Sans JP" pitchFamily="34" charset="-120"/>
              </a:rPr>
              <a:t>アプリ累計DL数</a:t>
            </a:r>
            <a:endParaRPr lang="en-US" sz="1200" dirty="0"/>
          </a:p>
        </p:txBody>
      </p:sp>
      <p:sp>
        <p:nvSpPr>
          <p:cNvPr id="17" name="Text 15"/>
          <p:cNvSpPr/>
          <p:nvPr/>
        </p:nvSpPr>
        <p:spPr>
          <a:xfrm>
            <a:off x="6241085" y="3657600"/>
            <a:ext cx="2487168" cy="457200"/>
          </a:xfrm>
          <a:prstGeom prst="rect">
            <a:avLst/>
          </a:prstGeom>
          <a:noFill/>
          <a:ln/>
        </p:spPr>
        <p:txBody>
          <a:bodyPr wrap="square" lIns="0" tIns="0" rIns="0" bIns="0" rtlCol="0" anchor="t"/>
          <a:lstStyle/>
          <a:p>
            <a:pPr indent="0" marL="0">
              <a:lnSpc>
                <a:spcPct val="140000"/>
              </a:lnSpc>
              <a:buNone/>
            </a:pPr>
            <a:r>
              <a:rPr lang="en-US" sz="950" dirty="0">
                <a:solidFill>
                  <a:srgbClr val="6A6A6A"/>
                </a:solidFill>
                <a:latin typeface="IBM Plex Sans JP" pitchFamily="34" charset="0"/>
                <a:ea typeface="IBM Plex Sans JP" pitchFamily="34" charset="-122"/>
                <a:cs typeface="IBM Plex Sans JP" pitchFamily="34" charset="-120"/>
              </a:rPr>
              <a:t>2025年10月時点</a:t>
            </a:r>
            <a:endParaRPr lang="en-US" sz="950" dirty="0"/>
          </a:p>
        </p:txBody>
      </p:sp>
      <p:sp>
        <p:nvSpPr>
          <p:cNvPr id="18" name="Shape 16"/>
          <p:cNvSpPr/>
          <p:nvPr/>
        </p:nvSpPr>
        <p:spPr>
          <a:xfrm>
            <a:off x="9018727" y="2377440"/>
            <a:ext cx="2487168" cy="0"/>
          </a:xfrm>
          <a:prstGeom prst="line">
            <a:avLst/>
          </a:prstGeom>
          <a:noFill/>
          <a:ln w="12700">
            <a:solidFill>
              <a:srgbClr val="111111"/>
            </a:solidFill>
            <a:prstDash val="solid"/>
          </a:ln>
        </p:spPr>
      </p:sp>
      <p:sp>
        <p:nvSpPr>
          <p:cNvPr id="19" name="Text 17"/>
          <p:cNvSpPr/>
          <p:nvPr/>
        </p:nvSpPr>
        <p:spPr>
          <a:xfrm>
            <a:off x="9018727" y="2651760"/>
            <a:ext cx="2487168" cy="640080"/>
          </a:xfrm>
          <a:prstGeom prst="rect">
            <a:avLst/>
          </a:prstGeom>
          <a:noFill/>
          <a:ln/>
        </p:spPr>
        <p:txBody>
          <a:bodyPr wrap="square" lIns="0" tIns="0" rIns="0" bIns="0" rtlCol="0" anchor="t"/>
          <a:lstStyle/>
          <a:p>
            <a:pPr indent="0" marL="0">
              <a:buNone/>
            </a:pPr>
            <a:r>
              <a:rPr lang="en-US" sz="3000" b="1" spc="-100" kern="0" dirty="0">
                <a:solidFill>
                  <a:srgbClr val="111111"/>
                </a:solidFill>
                <a:latin typeface="IBM Plex Sans JP" pitchFamily="34" charset="0"/>
                <a:ea typeface="IBM Plex Sans JP" pitchFamily="34" charset="-122"/>
                <a:cs typeface="IBM Plex Sans JP" pitchFamily="34" charset="-120"/>
              </a:rPr>
              <a:t>73.3%</a:t>
            </a:r>
            <a:endParaRPr lang="en-US" sz="3000" dirty="0"/>
          </a:p>
        </p:txBody>
      </p:sp>
      <p:sp>
        <p:nvSpPr>
          <p:cNvPr id="20" name="Text 18"/>
          <p:cNvSpPr/>
          <p:nvPr/>
        </p:nvSpPr>
        <p:spPr>
          <a:xfrm>
            <a:off x="9018727" y="3337560"/>
            <a:ext cx="2487168" cy="274320"/>
          </a:xfrm>
          <a:prstGeom prst="rect">
            <a:avLst/>
          </a:prstGeom>
          <a:noFill/>
          <a:ln/>
        </p:spPr>
        <p:txBody>
          <a:bodyPr wrap="square" lIns="0" tIns="0" rIns="0" bIns="0" rtlCol="0" anchor="t"/>
          <a:lstStyle/>
          <a:p>
            <a:pPr indent="0" marL="0">
              <a:buNone/>
            </a:pPr>
            <a:r>
              <a:rPr lang="en-US" sz="1200" b="1" dirty="0">
                <a:solidFill>
                  <a:srgbClr val="111111"/>
                </a:solidFill>
                <a:latin typeface="IBM Plex Sans JP" pitchFamily="34" charset="0"/>
                <a:ea typeface="IBM Plex Sans JP" pitchFamily="34" charset="-122"/>
                <a:cs typeface="IBM Plex Sans JP" pitchFamily="34" charset="-120"/>
              </a:rPr>
              <a:t>サービス認知率</a:t>
            </a:r>
            <a:endParaRPr lang="en-US" sz="1200" dirty="0"/>
          </a:p>
        </p:txBody>
      </p:sp>
      <p:sp>
        <p:nvSpPr>
          <p:cNvPr id="21" name="Text 19"/>
          <p:cNvSpPr/>
          <p:nvPr/>
        </p:nvSpPr>
        <p:spPr>
          <a:xfrm>
            <a:off x="9018727" y="3657600"/>
            <a:ext cx="2487168" cy="457200"/>
          </a:xfrm>
          <a:prstGeom prst="rect">
            <a:avLst/>
          </a:prstGeom>
          <a:noFill/>
          <a:ln/>
        </p:spPr>
        <p:txBody>
          <a:bodyPr wrap="square" lIns="0" tIns="0" rIns="0" bIns="0" rtlCol="0" anchor="t"/>
          <a:lstStyle/>
          <a:p>
            <a:pPr indent="0" marL="0">
              <a:lnSpc>
                <a:spcPct val="140000"/>
              </a:lnSpc>
              <a:buNone/>
            </a:pPr>
            <a:r>
              <a:rPr lang="en-US" sz="950" dirty="0">
                <a:solidFill>
                  <a:srgbClr val="6A6A6A"/>
                </a:solidFill>
                <a:latin typeface="IBM Plex Sans JP" pitchFamily="34" charset="0"/>
                <a:ea typeface="IBM Plex Sans JP" pitchFamily="34" charset="-122"/>
                <a:cs typeface="IBM Plex Sans JP" pitchFamily="34" charset="-120"/>
              </a:rPr>
              <a:t>15〜69歳・2024年11月時点</a:t>
            </a:r>
            <a:endParaRPr lang="en-US" sz="950" dirty="0"/>
          </a:p>
        </p:txBody>
      </p:sp>
      <p:sp>
        <p:nvSpPr>
          <p:cNvPr id="22" name="Shape 20"/>
          <p:cNvSpPr/>
          <p:nvPr/>
        </p:nvSpPr>
        <p:spPr>
          <a:xfrm>
            <a:off x="685800" y="5349240"/>
            <a:ext cx="10820095" cy="566928"/>
          </a:xfrm>
          <a:prstGeom prst="rect">
            <a:avLst/>
          </a:prstGeom>
          <a:solidFill>
            <a:srgbClr val="F7F6F4"/>
          </a:solidFill>
          <a:ln w="12700">
            <a:solidFill>
              <a:srgbClr val="F7F6F4"/>
            </a:solidFill>
            <a:prstDash val="solid"/>
          </a:ln>
        </p:spPr>
      </p:sp>
      <p:sp>
        <p:nvSpPr>
          <p:cNvPr id="23" name="Text 21"/>
          <p:cNvSpPr/>
          <p:nvPr/>
        </p:nvSpPr>
        <p:spPr>
          <a:xfrm>
            <a:off x="960120" y="5349240"/>
            <a:ext cx="10271455" cy="566928"/>
          </a:xfrm>
          <a:prstGeom prst="rect">
            <a:avLst/>
          </a:prstGeom>
          <a:noFill/>
          <a:ln/>
        </p:spPr>
        <p:txBody>
          <a:bodyPr wrap="square" lIns="0" tIns="0" rIns="0" bIns="0" rtlCol="0" anchor="ctr"/>
          <a:lstStyle/>
          <a:p>
            <a:pPr indent="0" marL="0">
              <a:lnSpc>
                <a:spcPct val="140000"/>
              </a:lnSpc>
              <a:buNone/>
            </a:pPr>
            <a:r>
              <a:rPr lang="en-US" sz="1000" b="1" dirty="0">
                <a:solidFill>
                  <a:srgbClr val="111111"/>
                </a:solidFill>
                <a:latin typeface="IBM Plex Sans JP" pitchFamily="34" charset="0"/>
                <a:ea typeface="IBM Plex Sans JP" pitchFamily="34" charset="-122"/>
                <a:cs typeface="IBM Plex Sans JP" pitchFamily="34" charset="-120"/>
              </a:rPr>
              <a:t>出典　</a:t>
            </a:r>
            <a:pPr indent="0" marL="0">
              <a:lnSpc>
                <a:spcPct val="140000"/>
              </a:lnSpc>
              <a:buNone/>
            </a:pPr>
            <a:r>
              <a:rPr lang="en-US" sz="1000" dirty="0">
                <a:solidFill>
                  <a:srgbClr val="6A6A6A"/>
                </a:solidFill>
                <a:latin typeface="IBM Plex Sans JP" pitchFamily="34" charset="0"/>
                <a:ea typeface="IBM Plex Sans JP" pitchFamily="34" charset="-122"/>
                <a:cs typeface="IBM Plex Sans JP" pitchFamily="34" charset="-120"/>
              </a:rPr>
              <a:t>TVer INC. 公表値（2026年3月17日リリース ほか）。月間ユーザー数はユニークブラウザ数（MUB）。</a:t>
            </a:r>
            <a:endParaRPr lang="en-US" sz="1000" dirty="0"/>
          </a:p>
        </p:txBody>
      </p:sp>
      <p:pic>
        <p:nvPicPr>
          <p:cNvPr id="24" name="Image 0" descr="/private/tmp/claude-501/-Users-hirokishirakawa/61df7724-8533-4661-9a58-fa513da8dcb2/scratchpad/deck/assets/logo-black.png">    </p:cNvPr>
          <p:cNvPicPr>
            <a:picLocks noChangeAspect="1"/>
          </p:cNvPicPr>
          <p:nvPr/>
        </p:nvPicPr>
        <p:blipFill>
          <a:blip r:embed="rId1"/>
          <a:stretch>
            <a:fillRect/>
          </a:stretch>
        </p:blipFill>
        <p:spPr>
          <a:xfrm>
            <a:off x="685800" y="6291072"/>
            <a:ext cx="868680" cy="128484"/>
          </a:xfrm>
          <a:prstGeom prst="rect">
            <a:avLst/>
          </a:prstGeom>
        </p:spPr>
      </p:pic>
      <p:sp>
        <p:nvSpPr>
          <p:cNvPr id="25" name="Text 22"/>
          <p:cNvSpPr/>
          <p:nvPr/>
        </p:nvSpPr>
        <p:spPr>
          <a:xfrm>
            <a:off x="1828800" y="6291072"/>
            <a:ext cx="5486400" cy="182880"/>
          </a:xfrm>
          <a:prstGeom prst="rect">
            <a:avLst/>
          </a:prstGeom>
          <a:noFill/>
          <a:ln/>
        </p:spPr>
        <p:txBody>
          <a:bodyPr wrap="square" lIns="0" tIns="0" rIns="0" bIns="0" rtlCol="0" anchor="t"/>
          <a:lstStyle/>
          <a:p>
            <a:pPr indent="0" marL="0">
              <a:buNone/>
            </a:pPr>
            <a:r>
              <a:rPr lang="en-US" sz="800" spc="100" kern="0" dirty="0">
                <a:solidFill>
                  <a:srgbClr val="6A6A6A"/>
                </a:solidFill>
                <a:latin typeface="IBM Plex Sans JP" pitchFamily="34" charset="0"/>
                <a:ea typeface="IBM Plex Sans JP" pitchFamily="34" charset="-122"/>
                <a:cs typeface="IBM Plex Sans JP" pitchFamily="34" charset="-120"/>
              </a:rPr>
              <a:t>Ad Arch Co., Ltd.　／　TVer Advertising Division</a:t>
            </a:r>
            <a:endParaRPr lang="en-US" sz="800" dirty="0"/>
          </a:p>
        </p:txBody>
      </p:sp>
      <p:sp>
        <p:nvSpPr>
          <p:cNvPr id="26" name="Text 23"/>
          <p:cNvSpPr/>
          <p:nvPr/>
        </p:nvSpPr>
        <p:spPr>
          <a:xfrm>
            <a:off x="7848295" y="6291072"/>
            <a:ext cx="3657600" cy="182880"/>
          </a:xfrm>
          <a:prstGeom prst="rect">
            <a:avLst/>
          </a:prstGeom>
          <a:noFill/>
          <a:ln/>
        </p:spPr>
        <p:txBody>
          <a:bodyPr wrap="square" lIns="0" tIns="0" rIns="0" bIns="0" rtlCol="0" anchor="t"/>
          <a:lstStyle/>
          <a:p>
            <a:pPr algn="r" indent="0" marL="0">
              <a:buNone/>
            </a:pPr>
            <a:r>
              <a:rPr lang="en-US" sz="800" spc="150" kern="0" dirty="0">
                <a:solidFill>
                  <a:srgbClr val="6A6A6A"/>
                </a:solidFill>
                <a:latin typeface="IBM Plex Sans JP" pitchFamily="34" charset="0"/>
                <a:ea typeface="IBM Plex Sans JP" pitchFamily="34" charset="-122"/>
                <a:cs typeface="IBM Plex Sans JP" pitchFamily="34" charset="-120"/>
              </a:rPr>
              <a:t>03 / 19　　CONFIDENTIAL</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5508"/>
            <a:ext cx="384048" cy="27432"/>
          </a:xfrm>
          <a:prstGeom prst="rect">
            <a:avLst/>
          </a:prstGeom>
          <a:solidFill>
            <a:srgbClr val="F19834"/>
          </a:solidFill>
          <a:ln w="12700">
            <a:solidFill>
              <a:srgbClr val="F19834"/>
            </a:solidFill>
            <a:prstDash val="solid"/>
          </a:ln>
        </p:spPr>
      </p:sp>
      <p:sp>
        <p:nvSpPr>
          <p:cNvPr id="3" name="Text 1"/>
          <p:cNvSpPr/>
          <p:nvPr/>
        </p:nvSpPr>
        <p:spPr>
          <a:xfrm>
            <a:off x="1188720" y="566928"/>
            <a:ext cx="6400800" cy="201168"/>
          </a:xfrm>
          <a:prstGeom prst="rect">
            <a:avLst/>
          </a:prstGeom>
          <a:noFill/>
          <a:ln/>
        </p:spPr>
        <p:txBody>
          <a:bodyPr wrap="square" lIns="0" tIns="0" rIns="0" bIns="0" rtlCol="0" anchor="t"/>
          <a:lstStyle/>
          <a:p>
            <a:pPr indent="0" marL="0">
              <a:buNone/>
            </a:pPr>
            <a:r>
              <a:rPr lang="en-US" sz="900" spc="300" kern="0" dirty="0">
                <a:solidFill>
                  <a:srgbClr val="6A6A6A"/>
                </a:solidFill>
                <a:latin typeface="IBM Plex Sans JP" pitchFamily="34" charset="0"/>
                <a:ea typeface="IBM Plex Sans JP" pitchFamily="34" charset="-122"/>
                <a:cs typeface="IBM Plex Sans JP" pitchFamily="34" charset="-120"/>
              </a:rPr>
              <a:t>02 ／ STRUCTURAL FIT</a:t>
            </a:r>
            <a:endParaRPr lang="en-US" sz="900" dirty="0"/>
          </a:p>
        </p:txBody>
      </p:sp>
      <p:sp>
        <p:nvSpPr>
          <p:cNvPr id="4" name="Text 2"/>
          <p:cNvSpPr/>
          <p:nvPr/>
        </p:nvSpPr>
        <p:spPr>
          <a:xfrm>
            <a:off x="685800" y="896112"/>
            <a:ext cx="10820095" cy="822960"/>
          </a:xfrm>
          <a:prstGeom prst="rect">
            <a:avLst/>
          </a:prstGeom>
          <a:noFill/>
          <a:ln/>
        </p:spPr>
        <p:txBody>
          <a:bodyPr wrap="square" lIns="0" tIns="0" rIns="0" bIns="0" rtlCol="0" anchor="t"/>
          <a:lstStyle/>
          <a:p>
            <a:pPr indent="0" marL="0">
              <a:lnSpc>
                <a:spcPct val="125000"/>
              </a:lnSpc>
              <a:buNone/>
            </a:pPr>
            <a:r>
              <a:rPr lang="en-US" sz="2600" b="1" dirty="0">
                <a:solidFill>
                  <a:srgbClr val="111111"/>
                </a:solidFill>
                <a:latin typeface="IBM Plex Sans JP" pitchFamily="34" charset="0"/>
                <a:ea typeface="IBM Plex Sans JP" pitchFamily="34" charset="-122"/>
                <a:cs typeface="IBM Plex Sans JP" pitchFamily="34" charset="-120"/>
              </a:rPr>
              <a:t>なぜ、地域の企業に向くのか</a:t>
            </a:r>
            <a:endParaRPr lang="en-US" sz="2600" dirty="0"/>
          </a:p>
        </p:txBody>
      </p:sp>
      <p:sp>
        <p:nvSpPr>
          <p:cNvPr id="5" name="Text 3"/>
          <p:cNvSpPr/>
          <p:nvPr/>
        </p:nvSpPr>
        <p:spPr>
          <a:xfrm>
            <a:off x="685800" y="1572768"/>
            <a:ext cx="10820095" cy="365760"/>
          </a:xfrm>
          <a:prstGeom prst="rect">
            <a:avLst/>
          </a:prstGeom>
          <a:noFill/>
          <a:ln/>
        </p:spPr>
        <p:txBody>
          <a:bodyPr wrap="square" lIns="0" tIns="0" rIns="0" bIns="0" rtlCol="0" anchor="t"/>
          <a:lstStyle/>
          <a:p>
            <a:pPr indent="0" marL="0">
              <a:buNone/>
            </a:pPr>
            <a:r>
              <a:rPr lang="en-US" sz="1200" dirty="0">
                <a:solidFill>
                  <a:srgbClr val="6A6A6A"/>
                </a:solidFill>
                <a:latin typeface="IBM Plex Sans JP" pitchFamily="34" charset="0"/>
                <a:ea typeface="IBM Plex Sans JP" pitchFamily="34" charset="-122"/>
                <a:cs typeface="IBM Plex Sans JP" pitchFamily="34" charset="-120"/>
              </a:rPr>
              <a:t>TVerは「テレビCMの届く力」と「デジタルの絞り込み」を同時に持っています。</a:t>
            </a:r>
            <a:endParaRPr lang="en-US" sz="1200" dirty="0"/>
          </a:p>
        </p:txBody>
      </p:sp>
      <p:sp>
        <p:nvSpPr>
          <p:cNvPr id="6" name="Shape 4"/>
          <p:cNvSpPr/>
          <p:nvPr/>
        </p:nvSpPr>
        <p:spPr>
          <a:xfrm>
            <a:off x="685800" y="2240280"/>
            <a:ext cx="5120640" cy="0"/>
          </a:xfrm>
          <a:prstGeom prst="line">
            <a:avLst/>
          </a:prstGeom>
          <a:noFill/>
          <a:ln w="9525">
            <a:solidFill>
              <a:srgbClr val="E6E4E0"/>
            </a:solidFill>
            <a:prstDash val="solid"/>
          </a:ln>
        </p:spPr>
      </p:sp>
      <p:sp>
        <p:nvSpPr>
          <p:cNvPr id="7" name="Text 5"/>
          <p:cNvSpPr/>
          <p:nvPr/>
        </p:nvSpPr>
        <p:spPr>
          <a:xfrm>
            <a:off x="685800" y="2441448"/>
            <a:ext cx="548640" cy="274320"/>
          </a:xfrm>
          <a:prstGeom prst="rect">
            <a:avLst/>
          </a:prstGeom>
          <a:noFill/>
          <a:ln/>
        </p:spPr>
        <p:txBody>
          <a:bodyPr wrap="square" lIns="0" tIns="0" rIns="0" bIns="0" rtlCol="0" anchor="t"/>
          <a:lstStyle/>
          <a:p>
            <a:pPr indent="0" marL="0">
              <a:buNone/>
            </a:pPr>
            <a:r>
              <a:rPr lang="en-US" sz="900" spc="300" kern="0" dirty="0">
                <a:solidFill>
                  <a:srgbClr val="6A6A6A"/>
                </a:solidFill>
                <a:latin typeface="IBM Plex Sans JP" pitchFamily="34" charset="0"/>
                <a:ea typeface="IBM Plex Sans JP" pitchFamily="34" charset="-122"/>
                <a:cs typeface="IBM Plex Sans JP" pitchFamily="34" charset="-120"/>
              </a:rPr>
              <a:t>01</a:t>
            </a:r>
            <a:endParaRPr lang="en-US" sz="900" dirty="0"/>
          </a:p>
        </p:txBody>
      </p:sp>
      <p:sp>
        <p:nvSpPr>
          <p:cNvPr id="8" name="Text 6"/>
          <p:cNvSpPr/>
          <p:nvPr/>
        </p:nvSpPr>
        <p:spPr>
          <a:xfrm>
            <a:off x="685800" y="2697480"/>
            <a:ext cx="5120640" cy="365760"/>
          </a:xfrm>
          <a:prstGeom prst="rect">
            <a:avLst/>
          </a:prstGeom>
          <a:noFill/>
          <a:ln/>
        </p:spPr>
        <p:txBody>
          <a:bodyPr wrap="square" lIns="0" tIns="0" rIns="0" bIns="0" rtlCol="0" anchor="t"/>
          <a:lstStyle/>
          <a:p>
            <a:pPr indent="0" marL="0">
              <a:buNone/>
            </a:pPr>
            <a:r>
              <a:rPr lang="en-US" sz="1600" b="1" dirty="0">
                <a:solidFill>
                  <a:srgbClr val="111111"/>
                </a:solidFill>
                <a:latin typeface="IBM Plex Sans JP" pitchFamily="34" charset="0"/>
                <a:ea typeface="IBM Plex Sans JP" pitchFamily="34" charset="-122"/>
                <a:cs typeface="IBM Plex Sans JP" pitchFamily="34" charset="-120"/>
              </a:rPr>
              <a:t>広告がスキップできない</a:t>
            </a:r>
            <a:endParaRPr lang="en-US" sz="1600" dirty="0"/>
          </a:p>
        </p:txBody>
      </p:sp>
      <p:sp>
        <p:nvSpPr>
          <p:cNvPr id="9" name="Text 7"/>
          <p:cNvSpPr/>
          <p:nvPr/>
        </p:nvSpPr>
        <p:spPr>
          <a:xfrm>
            <a:off x="685800" y="3108960"/>
            <a:ext cx="5120640" cy="640080"/>
          </a:xfrm>
          <a:prstGeom prst="rect">
            <a:avLst/>
          </a:prstGeom>
          <a:noFill/>
          <a:ln/>
        </p:spPr>
        <p:txBody>
          <a:bodyPr wrap="square" lIns="0" tIns="0" rIns="0" bIns="0" rtlCol="0" anchor="t"/>
          <a:lstStyle/>
          <a:p>
            <a:pPr indent="0" marL="0">
              <a:lnSpc>
                <a:spcPct val="145000"/>
              </a:lnSpc>
              <a:buNone/>
            </a:pPr>
            <a:r>
              <a:rPr lang="en-US" sz="1050" dirty="0">
                <a:solidFill>
                  <a:srgbClr val="6A6A6A"/>
                </a:solidFill>
                <a:latin typeface="IBM Plex Sans JP" pitchFamily="34" charset="0"/>
                <a:ea typeface="IBM Plex Sans JP" pitchFamily="34" charset="-122"/>
                <a:cs typeface="IBM Plex Sans JP" pitchFamily="34" charset="-120"/>
              </a:rPr>
              <a:t>番組本編の前後・途中に流れるため、視聴者は最後まで見ます。地上波CMと同じ見られ方です。</a:t>
            </a:r>
            <a:endParaRPr lang="en-US" sz="1050" dirty="0"/>
          </a:p>
        </p:txBody>
      </p:sp>
      <p:sp>
        <p:nvSpPr>
          <p:cNvPr id="10" name="Shape 8"/>
          <p:cNvSpPr/>
          <p:nvPr/>
        </p:nvSpPr>
        <p:spPr>
          <a:xfrm>
            <a:off x="6385255" y="2240280"/>
            <a:ext cx="5120640" cy="0"/>
          </a:xfrm>
          <a:prstGeom prst="line">
            <a:avLst/>
          </a:prstGeom>
          <a:noFill/>
          <a:ln w="9525">
            <a:solidFill>
              <a:srgbClr val="E6E4E0"/>
            </a:solidFill>
            <a:prstDash val="solid"/>
          </a:ln>
        </p:spPr>
      </p:sp>
      <p:sp>
        <p:nvSpPr>
          <p:cNvPr id="11" name="Text 9"/>
          <p:cNvSpPr/>
          <p:nvPr/>
        </p:nvSpPr>
        <p:spPr>
          <a:xfrm>
            <a:off x="6385255" y="2441448"/>
            <a:ext cx="548640" cy="274320"/>
          </a:xfrm>
          <a:prstGeom prst="rect">
            <a:avLst/>
          </a:prstGeom>
          <a:noFill/>
          <a:ln/>
        </p:spPr>
        <p:txBody>
          <a:bodyPr wrap="square" lIns="0" tIns="0" rIns="0" bIns="0" rtlCol="0" anchor="t"/>
          <a:lstStyle/>
          <a:p>
            <a:pPr indent="0" marL="0">
              <a:buNone/>
            </a:pPr>
            <a:r>
              <a:rPr lang="en-US" sz="900" spc="300" kern="0" dirty="0">
                <a:solidFill>
                  <a:srgbClr val="6A6A6A"/>
                </a:solidFill>
                <a:latin typeface="IBM Plex Sans JP" pitchFamily="34" charset="0"/>
                <a:ea typeface="IBM Plex Sans JP" pitchFamily="34" charset="-122"/>
                <a:cs typeface="IBM Plex Sans JP" pitchFamily="34" charset="-120"/>
              </a:rPr>
              <a:t>02</a:t>
            </a:r>
            <a:endParaRPr lang="en-US" sz="900" dirty="0"/>
          </a:p>
        </p:txBody>
      </p:sp>
      <p:sp>
        <p:nvSpPr>
          <p:cNvPr id="12" name="Text 10"/>
          <p:cNvSpPr/>
          <p:nvPr/>
        </p:nvSpPr>
        <p:spPr>
          <a:xfrm>
            <a:off x="6385255" y="2697480"/>
            <a:ext cx="5120640" cy="365760"/>
          </a:xfrm>
          <a:prstGeom prst="rect">
            <a:avLst/>
          </a:prstGeom>
          <a:noFill/>
          <a:ln/>
        </p:spPr>
        <p:txBody>
          <a:bodyPr wrap="square" lIns="0" tIns="0" rIns="0" bIns="0" rtlCol="0" anchor="t"/>
          <a:lstStyle/>
          <a:p>
            <a:pPr indent="0" marL="0">
              <a:buNone/>
            </a:pPr>
            <a:r>
              <a:rPr lang="en-US" sz="1600" b="1" dirty="0">
                <a:solidFill>
                  <a:srgbClr val="111111"/>
                </a:solidFill>
                <a:latin typeface="IBM Plex Sans JP" pitchFamily="34" charset="0"/>
                <a:ea typeface="IBM Plex Sans JP" pitchFamily="34" charset="-122"/>
                <a:cs typeface="IBM Plex Sans JP" pitchFamily="34" charset="-120"/>
              </a:rPr>
              <a:t>テレビの大画面で見られる</a:t>
            </a:r>
            <a:endParaRPr lang="en-US" sz="1600" dirty="0"/>
          </a:p>
        </p:txBody>
      </p:sp>
      <p:sp>
        <p:nvSpPr>
          <p:cNvPr id="13" name="Text 11"/>
          <p:cNvSpPr/>
          <p:nvPr/>
        </p:nvSpPr>
        <p:spPr>
          <a:xfrm>
            <a:off x="6385255" y="3108960"/>
            <a:ext cx="5120640" cy="640080"/>
          </a:xfrm>
          <a:prstGeom prst="rect">
            <a:avLst/>
          </a:prstGeom>
          <a:noFill/>
          <a:ln/>
        </p:spPr>
        <p:txBody>
          <a:bodyPr wrap="square" lIns="0" tIns="0" rIns="0" bIns="0" rtlCol="0" anchor="t"/>
          <a:lstStyle/>
          <a:p>
            <a:pPr indent="0" marL="0">
              <a:lnSpc>
                <a:spcPct val="145000"/>
              </a:lnSpc>
              <a:buNone/>
            </a:pPr>
            <a:r>
              <a:rPr lang="en-US" sz="1050" dirty="0">
                <a:solidFill>
                  <a:srgbClr val="6A6A6A"/>
                </a:solidFill>
                <a:latin typeface="IBM Plex Sans JP" pitchFamily="34" charset="0"/>
                <a:ea typeface="IBM Plex Sans JP" pitchFamily="34" charset="-122"/>
                <a:cs typeface="IBM Plex Sans JP" pitchFamily="34" charset="-120"/>
              </a:rPr>
              <a:t>スマホの小さな画面だけでなく、リビングのテレビでも視聴されています。音声つき・全画面で、生活者の受け取り方は地上波に近い形です。</a:t>
            </a:r>
            <a:endParaRPr lang="en-US" sz="1050" dirty="0"/>
          </a:p>
        </p:txBody>
      </p:sp>
      <p:sp>
        <p:nvSpPr>
          <p:cNvPr id="14" name="Shape 12"/>
          <p:cNvSpPr/>
          <p:nvPr/>
        </p:nvSpPr>
        <p:spPr>
          <a:xfrm>
            <a:off x="685800" y="3931920"/>
            <a:ext cx="5120640" cy="0"/>
          </a:xfrm>
          <a:prstGeom prst="line">
            <a:avLst/>
          </a:prstGeom>
          <a:noFill/>
          <a:ln w="9525">
            <a:solidFill>
              <a:srgbClr val="E6E4E0"/>
            </a:solidFill>
            <a:prstDash val="solid"/>
          </a:ln>
        </p:spPr>
      </p:sp>
      <p:sp>
        <p:nvSpPr>
          <p:cNvPr id="15" name="Text 13"/>
          <p:cNvSpPr/>
          <p:nvPr/>
        </p:nvSpPr>
        <p:spPr>
          <a:xfrm>
            <a:off x="685800" y="4133088"/>
            <a:ext cx="548640" cy="274320"/>
          </a:xfrm>
          <a:prstGeom prst="rect">
            <a:avLst/>
          </a:prstGeom>
          <a:noFill/>
          <a:ln/>
        </p:spPr>
        <p:txBody>
          <a:bodyPr wrap="square" lIns="0" tIns="0" rIns="0" bIns="0" rtlCol="0" anchor="t"/>
          <a:lstStyle/>
          <a:p>
            <a:pPr indent="0" marL="0">
              <a:buNone/>
            </a:pPr>
            <a:r>
              <a:rPr lang="en-US" sz="900" spc="300" kern="0" dirty="0">
                <a:solidFill>
                  <a:srgbClr val="6A6A6A"/>
                </a:solidFill>
                <a:latin typeface="IBM Plex Sans JP" pitchFamily="34" charset="0"/>
                <a:ea typeface="IBM Plex Sans JP" pitchFamily="34" charset="-122"/>
                <a:cs typeface="IBM Plex Sans JP" pitchFamily="34" charset="-120"/>
              </a:rPr>
              <a:t>03</a:t>
            </a:r>
            <a:endParaRPr lang="en-US" sz="900" dirty="0"/>
          </a:p>
        </p:txBody>
      </p:sp>
      <p:sp>
        <p:nvSpPr>
          <p:cNvPr id="16" name="Text 14"/>
          <p:cNvSpPr/>
          <p:nvPr/>
        </p:nvSpPr>
        <p:spPr>
          <a:xfrm>
            <a:off x="685800" y="4389120"/>
            <a:ext cx="5120640" cy="365760"/>
          </a:xfrm>
          <a:prstGeom prst="rect">
            <a:avLst/>
          </a:prstGeom>
          <a:noFill/>
          <a:ln/>
        </p:spPr>
        <p:txBody>
          <a:bodyPr wrap="square" lIns="0" tIns="0" rIns="0" bIns="0" rtlCol="0" anchor="t"/>
          <a:lstStyle/>
          <a:p>
            <a:pPr indent="0" marL="0">
              <a:buNone/>
            </a:pPr>
            <a:r>
              <a:rPr lang="en-US" sz="1600" b="1" dirty="0">
                <a:solidFill>
                  <a:srgbClr val="111111"/>
                </a:solidFill>
                <a:latin typeface="IBM Plex Sans JP" pitchFamily="34" charset="0"/>
                <a:ea typeface="IBM Plex Sans JP" pitchFamily="34" charset="-122"/>
                <a:cs typeface="IBM Plex Sans JP" pitchFamily="34" charset="-120"/>
              </a:rPr>
              <a:t>県・市区町村で配信を絞れる</a:t>
            </a:r>
            <a:endParaRPr lang="en-US" sz="1600" dirty="0"/>
          </a:p>
        </p:txBody>
      </p:sp>
      <p:sp>
        <p:nvSpPr>
          <p:cNvPr id="17" name="Text 15"/>
          <p:cNvSpPr/>
          <p:nvPr/>
        </p:nvSpPr>
        <p:spPr>
          <a:xfrm>
            <a:off x="685800" y="4800600"/>
            <a:ext cx="5120640" cy="640080"/>
          </a:xfrm>
          <a:prstGeom prst="rect">
            <a:avLst/>
          </a:prstGeom>
          <a:noFill/>
          <a:ln/>
        </p:spPr>
        <p:txBody>
          <a:bodyPr wrap="square" lIns="0" tIns="0" rIns="0" bIns="0" rtlCol="0" anchor="t"/>
          <a:lstStyle/>
          <a:p>
            <a:pPr indent="0" marL="0">
              <a:lnSpc>
                <a:spcPct val="145000"/>
              </a:lnSpc>
              <a:buNone/>
            </a:pPr>
            <a:r>
              <a:rPr lang="en-US" sz="1050" dirty="0">
                <a:solidFill>
                  <a:srgbClr val="6A6A6A"/>
                </a:solidFill>
                <a:latin typeface="IBM Plex Sans JP" pitchFamily="34" charset="0"/>
                <a:ea typeface="IBM Plex Sans JP" pitchFamily="34" charset="-122"/>
                <a:cs typeface="IBM Plex Sans JP" pitchFamily="34" charset="-120"/>
              </a:rPr>
              <a:t>都道府県はもちろん市区町村単位で配信エリアを指定できます。商圏の外に無駄打ちしません。</a:t>
            </a:r>
            <a:endParaRPr lang="en-US" sz="1050" dirty="0"/>
          </a:p>
        </p:txBody>
      </p:sp>
      <p:sp>
        <p:nvSpPr>
          <p:cNvPr id="18" name="Shape 16"/>
          <p:cNvSpPr/>
          <p:nvPr/>
        </p:nvSpPr>
        <p:spPr>
          <a:xfrm>
            <a:off x="6385255" y="3931920"/>
            <a:ext cx="5120640" cy="0"/>
          </a:xfrm>
          <a:prstGeom prst="line">
            <a:avLst/>
          </a:prstGeom>
          <a:noFill/>
          <a:ln w="9525">
            <a:solidFill>
              <a:srgbClr val="E6E4E0"/>
            </a:solidFill>
            <a:prstDash val="solid"/>
          </a:ln>
        </p:spPr>
      </p:sp>
      <p:sp>
        <p:nvSpPr>
          <p:cNvPr id="19" name="Text 17"/>
          <p:cNvSpPr/>
          <p:nvPr/>
        </p:nvSpPr>
        <p:spPr>
          <a:xfrm>
            <a:off x="6385255" y="4133088"/>
            <a:ext cx="548640" cy="274320"/>
          </a:xfrm>
          <a:prstGeom prst="rect">
            <a:avLst/>
          </a:prstGeom>
          <a:noFill/>
          <a:ln/>
        </p:spPr>
        <p:txBody>
          <a:bodyPr wrap="square" lIns="0" tIns="0" rIns="0" bIns="0" rtlCol="0" anchor="t"/>
          <a:lstStyle/>
          <a:p>
            <a:pPr indent="0" marL="0">
              <a:buNone/>
            </a:pPr>
            <a:r>
              <a:rPr lang="en-US" sz="900" spc="300" kern="0" dirty="0">
                <a:solidFill>
                  <a:srgbClr val="6A6A6A"/>
                </a:solidFill>
                <a:latin typeface="IBM Plex Sans JP" pitchFamily="34" charset="0"/>
                <a:ea typeface="IBM Plex Sans JP" pitchFamily="34" charset="-122"/>
                <a:cs typeface="IBM Plex Sans JP" pitchFamily="34" charset="-120"/>
              </a:rPr>
              <a:t>04</a:t>
            </a:r>
            <a:endParaRPr lang="en-US" sz="900" dirty="0"/>
          </a:p>
        </p:txBody>
      </p:sp>
      <p:sp>
        <p:nvSpPr>
          <p:cNvPr id="20" name="Text 18"/>
          <p:cNvSpPr/>
          <p:nvPr/>
        </p:nvSpPr>
        <p:spPr>
          <a:xfrm>
            <a:off x="6385255" y="4389120"/>
            <a:ext cx="5120640" cy="365760"/>
          </a:xfrm>
          <a:prstGeom prst="rect">
            <a:avLst/>
          </a:prstGeom>
          <a:noFill/>
          <a:ln/>
        </p:spPr>
        <p:txBody>
          <a:bodyPr wrap="square" lIns="0" tIns="0" rIns="0" bIns="0" rtlCol="0" anchor="t"/>
          <a:lstStyle/>
          <a:p>
            <a:pPr indent="0" marL="0">
              <a:buNone/>
            </a:pPr>
            <a:r>
              <a:rPr lang="en-US" sz="1600" b="1" dirty="0">
                <a:solidFill>
                  <a:srgbClr val="111111"/>
                </a:solidFill>
                <a:latin typeface="IBM Plex Sans JP" pitchFamily="34" charset="0"/>
                <a:ea typeface="IBM Plex Sans JP" pitchFamily="34" charset="-122"/>
                <a:cs typeface="IBM Plex Sans JP" pitchFamily="34" charset="-120"/>
              </a:rPr>
              <a:t>誰に何回届いたかが分かる</a:t>
            </a:r>
            <a:endParaRPr lang="en-US" sz="1600" dirty="0"/>
          </a:p>
        </p:txBody>
      </p:sp>
      <p:sp>
        <p:nvSpPr>
          <p:cNvPr id="21" name="Text 19"/>
          <p:cNvSpPr/>
          <p:nvPr/>
        </p:nvSpPr>
        <p:spPr>
          <a:xfrm>
            <a:off x="6385255" y="4800600"/>
            <a:ext cx="5120640" cy="640080"/>
          </a:xfrm>
          <a:prstGeom prst="rect">
            <a:avLst/>
          </a:prstGeom>
          <a:noFill/>
          <a:ln/>
        </p:spPr>
        <p:txBody>
          <a:bodyPr wrap="square" lIns="0" tIns="0" rIns="0" bIns="0" rtlCol="0" anchor="t"/>
          <a:lstStyle/>
          <a:p>
            <a:pPr indent="0" marL="0">
              <a:lnSpc>
                <a:spcPct val="145000"/>
              </a:lnSpc>
              <a:buNone/>
            </a:pPr>
            <a:r>
              <a:rPr lang="en-US" sz="1050" dirty="0">
                <a:solidFill>
                  <a:srgbClr val="6A6A6A"/>
                </a:solidFill>
                <a:latin typeface="IBM Plex Sans JP" pitchFamily="34" charset="0"/>
                <a:ea typeface="IBM Plex Sans JP" pitchFamily="34" charset="-122"/>
                <a:cs typeface="IBM Plex Sans JP" pitchFamily="34" charset="-120"/>
              </a:rPr>
              <a:t>リーチ人数・フリークエンシー・完全視聴率が数字で出ます。地上波では取れない粒度です。</a:t>
            </a:r>
            <a:endParaRPr lang="en-US" sz="1050" dirty="0"/>
          </a:p>
        </p:txBody>
      </p:sp>
      <p:pic>
        <p:nvPicPr>
          <p:cNvPr id="22" name="Image 0" descr="/private/tmp/claude-501/-Users-hirokishirakawa/61df7724-8533-4661-9a58-fa513da8dcb2/scratchpad/deck/assets/logo-black.png">    </p:cNvPr>
          <p:cNvPicPr>
            <a:picLocks noChangeAspect="1"/>
          </p:cNvPicPr>
          <p:nvPr/>
        </p:nvPicPr>
        <p:blipFill>
          <a:blip r:embed="rId1"/>
          <a:stretch>
            <a:fillRect/>
          </a:stretch>
        </p:blipFill>
        <p:spPr>
          <a:xfrm>
            <a:off x="685800" y="6291072"/>
            <a:ext cx="868680" cy="128484"/>
          </a:xfrm>
          <a:prstGeom prst="rect">
            <a:avLst/>
          </a:prstGeom>
        </p:spPr>
      </p:pic>
      <p:sp>
        <p:nvSpPr>
          <p:cNvPr id="23" name="Text 20"/>
          <p:cNvSpPr/>
          <p:nvPr/>
        </p:nvSpPr>
        <p:spPr>
          <a:xfrm>
            <a:off x="1828800" y="6291072"/>
            <a:ext cx="5486400" cy="182880"/>
          </a:xfrm>
          <a:prstGeom prst="rect">
            <a:avLst/>
          </a:prstGeom>
          <a:noFill/>
          <a:ln/>
        </p:spPr>
        <p:txBody>
          <a:bodyPr wrap="square" lIns="0" tIns="0" rIns="0" bIns="0" rtlCol="0" anchor="t"/>
          <a:lstStyle/>
          <a:p>
            <a:pPr indent="0" marL="0">
              <a:buNone/>
            </a:pPr>
            <a:r>
              <a:rPr lang="en-US" sz="800" spc="100" kern="0" dirty="0">
                <a:solidFill>
                  <a:srgbClr val="6A6A6A"/>
                </a:solidFill>
                <a:latin typeface="IBM Plex Sans JP" pitchFamily="34" charset="0"/>
                <a:ea typeface="IBM Plex Sans JP" pitchFamily="34" charset="-122"/>
                <a:cs typeface="IBM Plex Sans JP" pitchFamily="34" charset="-120"/>
              </a:rPr>
              <a:t>Ad Arch Co., Ltd.　／　TVer Advertising Division</a:t>
            </a:r>
            <a:endParaRPr lang="en-US" sz="800" dirty="0"/>
          </a:p>
        </p:txBody>
      </p:sp>
      <p:sp>
        <p:nvSpPr>
          <p:cNvPr id="24" name="Text 21"/>
          <p:cNvSpPr/>
          <p:nvPr/>
        </p:nvSpPr>
        <p:spPr>
          <a:xfrm>
            <a:off x="7848295" y="6291072"/>
            <a:ext cx="3657600" cy="182880"/>
          </a:xfrm>
          <a:prstGeom prst="rect">
            <a:avLst/>
          </a:prstGeom>
          <a:noFill/>
          <a:ln/>
        </p:spPr>
        <p:txBody>
          <a:bodyPr wrap="square" lIns="0" tIns="0" rIns="0" bIns="0" rtlCol="0" anchor="t"/>
          <a:lstStyle/>
          <a:p>
            <a:pPr algn="r" indent="0" marL="0">
              <a:buNone/>
            </a:pPr>
            <a:r>
              <a:rPr lang="en-US" sz="800" spc="150" kern="0" dirty="0">
                <a:solidFill>
                  <a:srgbClr val="6A6A6A"/>
                </a:solidFill>
                <a:latin typeface="IBM Plex Sans JP" pitchFamily="34" charset="0"/>
                <a:ea typeface="IBM Plex Sans JP" pitchFamily="34" charset="-122"/>
                <a:cs typeface="IBM Plex Sans JP" pitchFamily="34" charset="-120"/>
              </a:rPr>
              <a:t>04 / 19　　CONFIDENTIAL</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5508"/>
            <a:ext cx="384048" cy="27432"/>
          </a:xfrm>
          <a:prstGeom prst="rect">
            <a:avLst/>
          </a:prstGeom>
          <a:solidFill>
            <a:srgbClr val="F19834"/>
          </a:solidFill>
          <a:ln w="12700">
            <a:solidFill>
              <a:srgbClr val="F19834"/>
            </a:solidFill>
            <a:prstDash val="solid"/>
          </a:ln>
        </p:spPr>
      </p:sp>
      <p:sp>
        <p:nvSpPr>
          <p:cNvPr id="3" name="Text 1"/>
          <p:cNvSpPr/>
          <p:nvPr/>
        </p:nvSpPr>
        <p:spPr>
          <a:xfrm>
            <a:off x="1188720" y="566928"/>
            <a:ext cx="6400800" cy="201168"/>
          </a:xfrm>
          <a:prstGeom prst="rect">
            <a:avLst/>
          </a:prstGeom>
          <a:noFill/>
          <a:ln/>
        </p:spPr>
        <p:txBody>
          <a:bodyPr wrap="square" lIns="0" tIns="0" rIns="0" bIns="0" rtlCol="0" anchor="t"/>
          <a:lstStyle/>
          <a:p>
            <a:pPr indent="0" marL="0">
              <a:buNone/>
            </a:pPr>
            <a:r>
              <a:rPr lang="en-US" sz="900" spc="300" kern="0" dirty="0">
                <a:solidFill>
                  <a:srgbClr val="6A6A6A"/>
                </a:solidFill>
                <a:latin typeface="IBM Plex Sans JP" pitchFamily="34" charset="0"/>
                <a:ea typeface="IBM Plex Sans JP" pitchFamily="34" charset="-122"/>
                <a:cs typeface="IBM Plex Sans JP" pitchFamily="34" charset="-120"/>
              </a:rPr>
              <a:t>03 ／ THE CORE IDEA</a:t>
            </a:r>
            <a:endParaRPr lang="en-US" sz="900" dirty="0"/>
          </a:p>
        </p:txBody>
      </p:sp>
      <p:sp>
        <p:nvSpPr>
          <p:cNvPr id="4" name="Text 2"/>
          <p:cNvSpPr/>
          <p:nvPr/>
        </p:nvSpPr>
        <p:spPr>
          <a:xfrm>
            <a:off x="685800" y="896112"/>
            <a:ext cx="10820095" cy="822960"/>
          </a:xfrm>
          <a:prstGeom prst="rect">
            <a:avLst/>
          </a:prstGeom>
          <a:noFill/>
          <a:ln/>
        </p:spPr>
        <p:txBody>
          <a:bodyPr wrap="square" lIns="0" tIns="0" rIns="0" bIns="0" rtlCol="0" anchor="t"/>
          <a:lstStyle/>
          <a:p>
            <a:pPr indent="0" marL="0">
              <a:lnSpc>
                <a:spcPct val="125000"/>
              </a:lnSpc>
              <a:buNone/>
            </a:pPr>
            <a:r>
              <a:rPr lang="en-US" sz="2600" b="1" dirty="0">
                <a:solidFill>
                  <a:srgbClr val="111111"/>
                </a:solidFill>
                <a:latin typeface="IBM Plex Sans JP" pitchFamily="34" charset="0"/>
                <a:ea typeface="IBM Plex Sans JP" pitchFamily="34" charset="-122"/>
                <a:cs typeface="IBM Plex Sans JP" pitchFamily="34" charset="-120"/>
              </a:rPr>
              <a:t>発想を、変えます。</a:t>
            </a:r>
            <a:endParaRPr lang="en-US" sz="2600" dirty="0"/>
          </a:p>
        </p:txBody>
      </p:sp>
      <p:sp>
        <p:nvSpPr>
          <p:cNvPr id="5" name="Text 3"/>
          <p:cNvSpPr/>
          <p:nvPr/>
        </p:nvSpPr>
        <p:spPr>
          <a:xfrm>
            <a:off x="685800" y="2011680"/>
            <a:ext cx="4572000" cy="228600"/>
          </a:xfrm>
          <a:prstGeom prst="rect">
            <a:avLst/>
          </a:prstGeom>
          <a:noFill/>
          <a:ln/>
        </p:spPr>
        <p:txBody>
          <a:bodyPr wrap="square" lIns="0" tIns="0" rIns="0" bIns="0" rtlCol="0" anchor="t"/>
          <a:lstStyle/>
          <a:p>
            <a:pPr indent="0" marL="0">
              <a:buNone/>
            </a:pPr>
            <a:r>
              <a:rPr lang="en-US" sz="900" spc="300" kern="0" dirty="0">
                <a:solidFill>
                  <a:srgbClr val="6A6A6A"/>
                </a:solidFill>
                <a:latin typeface="IBM Plex Sans JP" pitchFamily="34" charset="0"/>
                <a:ea typeface="IBM Plex Sans JP" pitchFamily="34" charset="-122"/>
                <a:cs typeface="IBM Plex Sans JP" pitchFamily="34" charset="-120"/>
              </a:rPr>
              <a:t>これまでの考え方</a:t>
            </a:r>
            <a:endParaRPr lang="en-US" sz="900" dirty="0"/>
          </a:p>
        </p:txBody>
      </p:sp>
      <p:sp>
        <p:nvSpPr>
          <p:cNvPr id="6" name="Text 4"/>
          <p:cNvSpPr/>
          <p:nvPr/>
        </p:nvSpPr>
        <p:spPr>
          <a:xfrm>
            <a:off x="685800" y="2286000"/>
            <a:ext cx="5120640" cy="914400"/>
          </a:xfrm>
          <a:prstGeom prst="rect">
            <a:avLst/>
          </a:prstGeom>
          <a:noFill/>
          <a:ln/>
        </p:spPr>
        <p:txBody>
          <a:bodyPr wrap="square" lIns="0" tIns="0" rIns="0" bIns="0" rtlCol="0" anchor="t"/>
          <a:lstStyle/>
          <a:p>
            <a:pPr indent="0" marL="0">
              <a:lnSpc>
                <a:spcPct val="150000"/>
              </a:lnSpc>
              <a:buNone/>
            </a:pPr>
            <a:r>
              <a:rPr lang="en-US" sz="1600" dirty="0">
                <a:solidFill>
                  <a:srgbClr val="6A6A6A"/>
                </a:solidFill>
                <a:latin typeface="IBM Plex Sans JP" pitchFamily="34" charset="0"/>
                <a:ea typeface="IBM Plex Sans JP" pitchFamily="34" charset="-122"/>
                <a:cs typeface="IBM Plex Sans JP" pitchFamily="34" charset="-120"/>
              </a:rPr>
              <a:t>「広告予算が◯万円あります。</a:t>
            </a:r>
            <a:endParaRPr lang="en-US" sz="1600" dirty="0"/>
          </a:p>
          <a:p>
            <a:pPr indent="0" marL="0">
              <a:lnSpc>
                <a:spcPct val="150000"/>
              </a:lnSpc>
              <a:buNone/>
            </a:pPr>
            <a:r>
              <a:rPr lang="en-US" sz="1600" dirty="0">
                <a:solidFill>
                  <a:srgbClr val="6A6A6A"/>
                </a:solidFill>
                <a:latin typeface="IBM Plex Sans JP" pitchFamily="34" charset="0"/>
                <a:ea typeface="IBM Plex Sans JP" pitchFamily="34" charset="-122"/>
                <a:cs typeface="IBM Plex Sans JP" pitchFamily="34" charset="-120"/>
              </a:rPr>
              <a:t>何回くらい再生されますか？」</a:t>
            </a:r>
            <a:endParaRPr lang="en-US" sz="1600" dirty="0"/>
          </a:p>
        </p:txBody>
      </p:sp>
      <p:sp>
        <p:nvSpPr>
          <p:cNvPr id="7" name="Text 5"/>
          <p:cNvSpPr/>
          <p:nvPr/>
        </p:nvSpPr>
        <p:spPr>
          <a:xfrm>
            <a:off x="685800" y="3200400"/>
            <a:ext cx="914400" cy="457200"/>
          </a:xfrm>
          <a:prstGeom prst="rect">
            <a:avLst/>
          </a:prstGeom>
          <a:noFill/>
          <a:ln/>
        </p:spPr>
        <p:txBody>
          <a:bodyPr wrap="square" lIns="0" tIns="0" rIns="0" bIns="0" rtlCol="0" anchor="t"/>
          <a:lstStyle/>
          <a:p>
            <a:pPr indent="0" marL="0">
              <a:buNone/>
            </a:pPr>
            <a:r>
              <a:rPr lang="en-US" sz="2000" dirty="0">
                <a:solidFill>
                  <a:srgbClr val="C9C7C2"/>
                </a:solidFill>
                <a:latin typeface="IBM Plex Sans JP" pitchFamily="34" charset="0"/>
                <a:ea typeface="IBM Plex Sans JP" pitchFamily="34" charset="-122"/>
                <a:cs typeface="IBM Plex Sans JP" pitchFamily="34" charset="-120"/>
              </a:rPr>
              <a:t>↓</a:t>
            </a:r>
            <a:endParaRPr lang="en-US" sz="2000" dirty="0"/>
          </a:p>
        </p:txBody>
      </p:sp>
      <p:sp>
        <p:nvSpPr>
          <p:cNvPr id="8" name="Text 6"/>
          <p:cNvSpPr/>
          <p:nvPr/>
        </p:nvSpPr>
        <p:spPr>
          <a:xfrm>
            <a:off x="685800" y="3703320"/>
            <a:ext cx="4572000" cy="228600"/>
          </a:xfrm>
          <a:prstGeom prst="rect">
            <a:avLst/>
          </a:prstGeom>
          <a:noFill/>
          <a:ln/>
        </p:spPr>
        <p:txBody>
          <a:bodyPr wrap="square" lIns="0" tIns="0" rIns="0" bIns="0" rtlCol="0" anchor="t"/>
          <a:lstStyle/>
          <a:p>
            <a:pPr indent="0" marL="0">
              <a:buNone/>
            </a:pPr>
            <a:r>
              <a:rPr lang="en-US" sz="900" b="1" spc="300" kern="0" dirty="0">
                <a:solidFill>
                  <a:srgbClr val="D97F18"/>
                </a:solidFill>
                <a:latin typeface="IBM Plex Sans JP" pitchFamily="34" charset="0"/>
                <a:ea typeface="IBM Plex Sans JP" pitchFamily="34" charset="-122"/>
                <a:cs typeface="IBM Plex Sans JP" pitchFamily="34" charset="-120"/>
              </a:rPr>
              <a:t>これからの考え方</a:t>
            </a:r>
            <a:endParaRPr lang="en-US" sz="900" dirty="0"/>
          </a:p>
        </p:txBody>
      </p:sp>
      <p:sp>
        <p:nvSpPr>
          <p:cNvPr id="9" name="Text 7"/>
          <p:cNvSpPr/>
          <p:nvPr/>
        </p:nvSpPr>
        <p:spPr>
          <a:xfrm>
            <a:off x="685800" y="3977640"/>
            <a:ext cx="5120640" cy="1005840"/>
          </a:xfrm>
          <a:prstGeom prst="rect">
            <a:avLst/>
          </a:prstGeom>
          <a:noFill/>
          <a:ln/>
        </p:spPr>
        <p:txBody>
          <a:bodyPr wrap="square" lIns="0" tIns="0" rIns="0" bIns="0" rtlCol="0" anchor="t"/>
          <a:lstStyle/>
          <a:p>
            <a:pPr indent="0" marL="0">
              <a:lnSpc>
                <a:spcPct val="140000"/>
              </a:lnSpc>
              <a:buNone/>
            </a:pPr>
            <a:r>
              <a:rPr lang="en-US" sz="2000" b="1" dirty="0">
                <a:solidFill>
                  <a:srgbClr val="111111"/>
                </a:solidFill>
                <a:latin typeface="IBM Plex Sans JP" pitchFamily="34" charset="0"/>
                <a:ea typeface="IBM Plex Sans JP" pitchFamily="34" charset="-122"/>
                <a:cs typeface="IBM Plex Sans JP" pitchFamily="34" charset="-120"/>
              </a:rPr>
              <a:t>「うちの商圏を、</a:t>
            </a:r>
            <a:endParaRPr lang="en-US" sz="2000" dirty="0"/>
          </a:p>
          <a:p>
            <a:pPr indent="0" marL="0">
              <a:lnSpc>
                <a:spcPct val="140000"/>
              </a:lnSpc>
              <a:buNone/>
            </a:pPr>
            <a:r>
              <a:rPr lang="en-US" sz="2000" b="1" dirty="0">
                <a:solidFill>
                  <a:srgbClr val="111111"/>
                </a:solidFill>
                <a:latin typeface="IBM Plex Sans JP" pitchFamily="34" charset="0"/>
                <a:ea typeface="IBM Plex Sans JP" pitchFamily="34" charset="-122"/>
                <a:cs typeface="IBM Plex Sans JP" pitchFamily="34" charset="-120"/>
              </a:rPr>
              <a:t>いくらで押さえられますか？」</a:t>
            </a:r>
            <a:endParaRPr lang="en-US" sz="2000" dirty="0"/>
          </a:p>
        </p:txBody>
      </p:sp>
      <p:sp>
        <p:nvSpPr>
          <p:cNvPr id="10" name="Text 8"/>
          <p:cNvSpPr/>
          <p:nvPr/>
        </p:nvSpPr>
        <p:spPr>
          <a:xfrm>
            <a:off x="685800" y="5029200"/>
            <a:ext cx="5120640" cy="548640"/>
          </a:xfrm>
          <a:prstGeom prst="rect">
            <a:avLst/>
          </a:prstGeom>
          <a:noFill/>
          <a:ln/>
        </p:spPr>
        <p:txBody>
          <a:bodyPr wrap="square" lIns="0" tIns="0" rIns="0" bIns="0" rtlCol="0" anchor="t"/>
          <a:lstStyle/>
          <a:p>
            <a:pPr indent="0" marL="0">
              <a:lnSpc>
                <a:spcPct val="150000"/>
              </a:lnSpc>
              <a:buNone/>
            </a:pPr>
            <a:r>
              <a:rPr lang="en-US" sz="1050" dirty="0">
                <a:solidFill>
                  <a:srgbClr val="6A6A6A"/>
                </a:solidFill>
                <a:latin typeface="IBM Plex Sans JP" pitchFamily="34" charset="0"/>
                <a:ea typeface="IBM Plex Sans JP" pitchFamily="34" charset="-122"/>
                <a:cs typeface="IBM Plex Sans JP" pitchFamily="34" charset="-120"/>
              </a:rPr>
              <a:t>県でも、市でも。商圏の広さに合わせて</a:t>
            </a:r>
            <a:endParaRPr lang="en-US" sz="1050" dirty="0"/>
          </a:p>
          <a:p>
            <a:pPr indent="0" marL="0">
              <a:lnSpc>
                <a:spcPct val="150000"/>
              </a:lnSpc>
              <a:buNone/>
            </a:pPr>
            <a:r>
              <a:rPr lang="en-US" sz="1050" dirty="0">
                <a:solidFill>
                  <a:srgbClr val="6A6A6A"/>
                </a:solidFill>
                <a:latin typeface="IBM Plex Sans JP" pitchFamily="34" charset="0"/>
                <a:ea typeface="IBM Plex Sans JP" pitchFamily="34" charset="-122"/>
                <a:cs typeface="IBM Plex Sans JP" pitchFamily="34" charset="-120"/>
              </a:rPr>
              <a:t>「まるごと押さえる」金額をお出しします。</a:t>
            </a:r>
            <a:endParaRPr lang="en-US" sz="1050" dirty="0"/>
          </a:p>
        </p:txBody>
      </p:sp>
      <p:sp>
        <p:nvSpPr>
          <p:cNvPr id="11" name="Shape 9"/>
          <p:cNvSpPr/>
          <p:nvPr/>
        </p:nvSpPr>
        <p:spPr>
          <a:xfrm>
            <a:off x="6675120" y="2011680"/>
            <a:ext cx="4830775" cy="1572768"/>
          </a:xfrm>
          <a:prstGeom prst="rect">
            <a:avLst/>
          </a:prstGeom>
          <a:solidFill>
            <a:srgbClr val="F7F6F4"/>
          </a:solidFill>
          <a:ln w="12700">
            <a:solidFill>
              <a:srgbClr val="F7F6F4"/>
            </a:solidFill>
            <a:prstDash val="solid"/>
          </a:ln>
        </p:spPr>
      </p:sp>
      <p:sp>
        <p:nvSpPr>
          <p:cNvPr id="12" name="Text 10"/>
          <p:cNvSpPr/>
          <p:nvPr/>
        </p:nvSpPr>
        <p:spPr>
          <a:xfrm>
            <a:off x="6995160" y="2240280"/>
            <a:ext cx="3200400" cy="274320"/>
          </a:xfrm>
          <a:prstGeom prst="rect">
            <a:avLst/>
          </a:prstGeom>
          <a:noFill/>
          <a:ln/>
        </p:spPr>
        <p:txBody>
          <a:bodyPr wrap="square" lIns="0" tIns="0" rIns="0" bIns="0" rtlCol="0" anchor="t"/>
          <a:lstStyle/>
          <a:p>
            <a:pPr indent="0" marL="0">
              <a:buNone/>
            </a:pPr>
            <a:r>
              <a:rPr lang="en-US" sz="1300" b="1" dirty="0">
                <a:solidFill>
                  <a:srgbClr val="111111"/>
                </a:solidFill>
                <a:latin typeface="IBM Plex Sans JP" pitchFamily="34" charset="0"/>
                <a:ea typeface="IBM Plex Sans JP" pitchFamily="34" charset="-122"/>
                <a:cs typeface="IBM Plex Sans JP" pitchFamily="34" charset="-120"/>
              </a:rPr>
              <a:t>香川県 網羅プラン</a:t>
            </a:r>
            <a:endParaRPr lang="en-US" sz="1300" dirty="0"/>
          </a:p>
        </p:txBody>
      </p:sp>
      <p:sp>
        <p:nvSpPr>
          <p:cNvPr id="13" name="Text 11"/>
          <p:cNvSpPr/>
          <p:nvPr/>
        </p:nvSpPr>
        <p:spPr>
          <a:xfrm>
            <a:off x="9677095" y="2267712"/>
            <a:ext cx="1508760" cy="228600"/>
          </a:xfrm>
          <a:prstGeom prst="rect">
            <a:avLst/>
          </a:prstGeom>
          <a:noFill/>
          <a:ln/>
        </p:spPr>
        <p:txBody>
          <a:bodyPr wrap="square" lIns="0" tIns="0" rIns="0" bIns="0" rtlCol="0" anchor="t"/>
          <a:lstStyle/>
          <a:p>
            <a:pPr algn="r" indent="0" marL="0">
              <a:buNone/>
            </a:pPr>
            <a:r>
              <a:rPr lang="en-US" sz="900" spc="200" kern="0" dirty="0">
                <a:solidFill>
                  <a:srgbClr val="6A6A6A"/>
                </a:solidFill>
                <a:latin typeface="IBM Plex Sans JP" pitchFamily="34" charset="0"/>
                <a:ea typeface="IBM Plex Sans JP" pitchFamily="34" charset="-122"/>
                <a:cs typeface="IBM Plex Sans JP" pitchFamily="34" charset="-120"/>
              </a:rPr>
              <a:t>県まるごと</a:t>
            </a:r>
            <a:endParaRPr lang="en-US" sz="900" dirty="0"/>
          </a:p>
        </p:txBody>
      </p:sp>
      <p:sp>
        <p:nvSpPr>
          <p:cNvPr id="14" name="Text 12"/>
          <p:cNvSpPr/>
          <p:nvPr/>
        </p:nvSpPr>
        <p:spPr>
          <a:xfrm>
            <a:off x="6995160" y="2633472"/>
            <a:ext cx="3108960" cy="256032"/>
          </a:xfrm>
          <a:prstGeom prst="rect">
            <a:avLst/>
          </a:prstGeom>
          <a:noFill/>
          <a:ln/>
        </p:spPr>
        <p:txBody>
          <a:bodyPr wrap="square" lIns="0" tIns="0" rIns="0" bIns="0" rtlCol="0" anchor="t"/>
          <a:lstStyle/>
          <a:p>
            <a:pPr indent="0" marL="0">
              <a:buNone/>
            </a:pPr>
            <a:r>
              <a:rPr lang="en-US" sz="950" dirty="0">
                <a:solidFill>
                  <a:srgbClr val="6A6A6A"/>
                </a:solidFill>
                <a:latin typeface="IBM Plex Sans JP" pitchFamily="34" charset="0"/>
                <a:ea typeface="IBM Plex Sans JP" pitchFamily="34" charset="-122"/>
                <a:cs typeface="IBM Plex Sans JP" pitchFamily="34" charset="-120"/>
              </a:rPr>
              <a:t>県内のTVer視聴者（推計）</a:t>
            </a:r>
            <a:endParaRPr lang="en-US" sz="950" dirty="0"/>
          </a:p>
        </p:txBody>
      </p:sp>
      <p:sp>
        <p:nvSpPr>
          <p:cNvPr id="15" name="Text 13"/>
          <p:cNvSpPr/>
          <p:nvPr/>
        </p:nvSpPr>
        <p:spPr>
          <a:xfrm>
            <a:off x="9677095" y="2606040"/>
            <a:ext cx="1508760" cy="256032"/>
          </a:xfrm>
          <a:prstGeom prst="rect">
            <a:avLst/>
          </a:prstGeom>
          <a:noFill/>
          <a:ln/>
        </p:spPr>
        <p:txBody>
          <a:bodyPr wrap="square" lIns="0" tIns="0" rIns="0" bIns="0" rtlCol="0" anchor="t"/>
          <a:lstStyle/>
          <a:p>
            <a:pPr algn="r" indent="0" marL="0">
              <a:buNone/>
            </a:pPr>
            <a:r>
              <a:rPr lang="en-US" sz="1200" b="1" dirty="0">
                <a:solidFill>
                  <a:srgbClr val="111111"/>
                </a:solidFill>
                <a:latin typeface="IBM Plex Sans JP" pitchFamily="34" charset="0"/>
                <a:ea typeface="IBM Plex Sans JP" pitchFamily="34" charset="-122"/>
                <a:cs typeface="IBM Plex Sans JP" pitchFamily="34" charset="-120"/>
              </a:rPr>
              <a:t>31.0万人</a:t>
            </a:r>
            <a:endParaRPr lang="en-US" sz="1200" dirty="0"/>
          </a:p>
        </p:txBody>
      </p:sp>
      <p:sp>
        <p:nvSpPr>
          <p:cNvPr id="16" name="Text 14"/>
          <p:cNvSpPr/>
          <p:nvPr/>
        </p:nvSpPr>
        <p:spPr>
          <a:xfrm>
            <a:off x="6995160" y="2907792"/>
            <a:ext cx="3108960" cy="256032"/>
          </a:xfrm>
          <a:prstGeom prst="rect">
            <a:avLst/>
          </a:prstGeom>
          <a:noFill/>
          <a:ln/>
        </p:spPr>
        <p:txBody>
          <a:bodyPr wrap="square" lIns="0" tIns="0" rIns="0" bIns="0" rtlCol="0" anchor="t"/>
          <a:lstStyle/>
          <a:p>
            <a:pPr indent="0" marL="0">
              <a:buNone/>
            </a:pPr>
            <a:r>
              <a:rPr lang="en-US" sz="950" dirty="0">
                <a:solidFill>
                  <a:srgbClr val="6A6A6A"/>
                </a:solidFill>
                <a:latin typeface="IBM Plex Sans JP" pitchFamily="34" charset="0"/>
                <a:ea typeface="IBM Plex Sans JP" pitchFamily="34" charset="-122"/>
                <a:cs typeface="IBM Plex Sans JP" pitchFamily="34" charset="-120"/>
              </a:rPr>
              <a:t>到達する人数（3人に1人）</a:t>
            </a:r>
            <a:endParaRPr lang="en-US" sz="950" dirty="0"/>
          </a:p>
        </p:txBody>
      </p:sp>
      <p:sp>
        <p:nvSpPr>
          <p:cNvPr id="17" name="Text 15"/>
          <p:cNvSpPr/>
          <p:nvPr/>
        </p:nvSpPr>
        <p:spPr>
          <a:xfrm>
            <a:off x="9677095" y="2880360"/>
            <a:ext cx="1508760" cy="256032"/>
          </a:xfrm>
          <a:prstGeom prst="rect">
            <a:avLst/>
          </a:prstGeom>
          <a:noFill/>
          <a:ln/>
        </p:spPr>
        <p:txBody>
          <a:bodyPr wrap="square" lIns="0" tIns="0" rIns="0" bIns="0" rtlCol="0" anchor="t"/>
          <a:lstStyle/>
          <a:p>
            <a:pPr algn="r" indent="0" marL="0">
              <a:buNone/>
            </a:pPr>
            <a:r>
              <a:rPr lang="en-US" sz="1200" b="1" dirty="0">
                <a:solidFill>
                  <a:srgbClr val="111111"/>
                </a:solidFill>
                <a:latin typeface="IBM Plex Sans JP" pitchFamily="34" charset="0"/>
                <a:ea typeface="IBM Plex Sans JP" pitchFamily="34" charset="-122"/>
                <a:cs typeface="IBM Plex Sans JP" pitchFamily="34" charset="-120"/>
              </a:rPr>
              <a:t>10.3万人</a:t>
            </a:r>
            <a:endParaRPr lang="en-US" sz="1200" dirty="0"/>
          </a:p>
        </p:txBody>
      </p:sp>
      <p:sp>
        <p:nvSpPr>
          <p:cNvPr id="18" name="Text 16"/>
          <p:cNvSpPr/>
          <p:nvPr/>
        </p:nvSpPr>
        <p:spPr>
          <a:xfrm>
            <a:off x="6995160" y="3218688"/>
            <a:ext cx="1828800" cy="228600"/>
          </a:xfrm>
          <a:prstGeom prst="rect">
            <a:avLst/>
          </a:prstGeom>
          <a:noFill/>
          <a:ln/>
        </p:spPr>
        <p:txBody>
          <a:bodyPr wrap="square" lIns="0" tIns="0" rIns="0" bIns="0" rtlCol="0" anchor="t"/>
          <a:lstStyle/>
          <a:p>
            <a:pPr indent="0" marL="0">
              <a:buNone/>
            </a:pPr>
            <a:r>
              <a:rPr lang="en-US" sz="900" b="1" spc="100" kern="0" dirty="0">
                <a:solidFill>
                  <a:srgbClr val="D97F18"/>
                </a:solidFill>
                <a:latin typeface="IBM Plex Sans JP" pitchFamily="34" charset="0"/>
                <a:ea typeface="IBM Plex Sans JP" pitchFamily="34" charset="-122"/>
                <a:cs typeface="IBM Plex Sans JP" pitchFamily="34" charset="-120"/>
              </a:rPr>
              <a:t>月額 媒体費</a:t>
            </a:r>
            <a:endParaRPr lang="en-US" sz="900" dirty="0"/>
          </a:p>
        </p:txBody>
      </p:sp>
      <p:sp>
        <p:nvSpPr>
          <p:cNvPr id="19" name="Text 17"/>
          <p:cNvSpPr/>
          <p:nvPr/>
        </p:nvSpPr>
        <p:spPr>
          <a:xfrm>
            <a:off x="8686800" y="3236976"/>
            <a:ext cx="1463040" cy="228600"/>
          </a:xfrm>
          <a:prstGeom prst="rect">
            <a:avLst/>
          </a:prstGeom>
          <a:noFill/>
          <a:ln/>
        </p:spPr>
        <p:txBody>
          <a:bodyPr wrap="square" lIns="0" tIns="0" rIns="0" bIns="0" rtlCol="0" anchor="t"/>
          <a:lstStyle/>
          <a:p>
            <a:pPr indent="0" marL="0">
              <a:buNone/>
            </a:pPr>
            <a:r>
              <a:rPr lang="en-US" sz="800" dirty="0">
                <a:solidFill>
                  <a:srgbClr val="6A6A6A"/>
                </a:solidFill>
                <a:latin typeface="IBM Plex Sans JP" pitchFamily="34" charset="0"/>
                <a:ea typeface="IBM Plex Sans JP" pitchFamily="34" charset="-122"/>
                <a:cs typeface="IBM Plex Sans JP" pitchFamily="34" charset="-120"/>
              </a:rPr>
              <a:t>15秒CM ／ 標準3ヶ月</a:t>
            </a:r>
            <a:endParaRPr lang="en-US" sz="800" dirty="0"/>
          </a:p>
        </p:txBody>
      </p:sp>
      <p:sp>
        <p:nvSpPr>
          <p:cNvPr id="20" name="Text 18"/>
          <p:cNvSpPr/>
          <p:nvPr/>
        </p:nvSpPr>
        <p:spPr>
          <a:xfrm>
            <a:off x="9128455" y="3090672"/>
            <a:ext cx="2057400" cy="411480"/>
          </a:xfrm>
          <a:prstGeom prst="rect">
            <a:avLst/>
          </a:prstGeom>
          <a:noFill/>
          <a:ln/>
        </p:spPr>
        <p:txBody>
          <a:bodyPr wrap="square" lIns="0" tIns="0" rIns="0" bIns="0" rtlCol="0" anchor="t"/>
          <a:lstStyle/>
          <a:p>
            <a:pPr algn="r" indent="0" marL="0">
              <a:buNone/>
            </a:pPr>
            <a:r>
              <a:rPr lang="en-US" sz="2200" b="1" dirty="0">
                <a:solidFill>
                  <a:srgbClr val="111111"/>
                </a:solidFill>
                <a:latin typeface="IBM Plex Sans JP" pitchFamily="34" charset="0"/>
                <a:ea typeface="IBM Plex Sans JP" pitchFamily="34" charset="-122"/>
                <a:cs typeface="IBM Plex Sans JP" pitchFamily="34" charset="-120"/>
              </a:rPr>
              <a:t>¥1,280,000</a:t>
            </a:r>
            <a:endParaRPr lang="en-US" sz="2200" dirty="0"/>
          </a:p>
        </p:txBody>
      </p:sp>
      <p:sp>
        <p:nvSpPr>
          <p:cNvPr id="21" name="Shape 19"/>
          <p:cNvSpPr/>
          <p:nvPr/>
        </p:nvSpPr>
        <p:spPr>
          <a:xfrm>
            <a:off x="6675120" y="3785616"/>
            <a:ext cx="4830775" cy="1572768"/>
          </a:xfrm>
          <a:prstGeom prst="rect">
            <a:avLst/>
          </a:prstGeom>
          <a:solidFill>
            <a:srgbClr val="111111"/>
          </a:solidFill>
          <a:ln w="12700">
            <a:solidFill>
              <a:srgbClr val="111111"/>
            </a:solidFill>
            <a:prstDash val="solid"/>
          </a:ln>
        </p:spPr>
      </p:sp>
      <p:sp>
        <p:nvSpPr>
          <p:cNvPr id="22" name="Text 20"/>
          <p:cNvSpPr/>
          <p:nvPr/>
        </p:nvSpPr>
        <p:spPr>
          <a:xfrm>
            <a:off x="6995160" y="4014216"/>
            <a:ext cx="3200400" cy="274320"/>
          </a:xfrm>
          <a:prstGeom prst="rect">
            <a:avLst/>
          </a:prstGeom>
          <a:noFill/>
          <a:ln/>
        </p:spPr>
        <p:txBody>
          <a:bodyPr wrap="square" lIns="0" tIns="0" rIns="0" bIns="0" rtlCol="0" anchor="t"/>
          <a:lstStyle/>
          <a:p>
            <a:pPr indent="0" marL="0">
              <a:buNone/>
            </a:pPr>
            <a:r>
              <a:rPr lang="en-US" sz="1300" b="1" dirty="0">
                <a:solidFill>
                  <a:srgbClr val="FFFFFF"/>
                </a:solidFill>
                <a:latin typeface="IBM Plex Sans JP" pitchFamily="34" charset="0"/>
                <a:ea typeface="IBM Plex Sans JP" pitchFamily="34" charset="-122"/>
                <a:cs typeface="IBM Plex Sans JP" pitchFamily="34" charset="-120"/>
              </a:rPr>
              <a:t>高松市 商圏網羅プラン</a:t>
            </a:r>
            <a:endParaRPr lang="en-US" sz="1300" dirty="0"/>
          </a:p>
        </p:txBody>
      </p:sp>
      <p:sp>
        <p:nvSpPr>
          <p:cNvPr id="23" name="Text 21"/>
          <p:cNvSpPr/>
          <p:nvPr/>
        </p:nvSpPr>
        <p:spPr>
          <a:xfrm>
            <a:off x="9677095" y="4041648"/>
            <a:ext cx="1508760" cy="228600"/>
          </a:xfrm>
          <a:prstGeom prst="rect">
            <a:avLst/>
          </a:prstGeom>
          <a:noFill/>
          <a:ln/>
        </p:spPr>
        <p:txBody>
          <a:bodyPr wrap="square" lIns="0" tIns="0" rIns="0" bIns="0" rtlCol="0" anchor="t"/>
          <a:lstStyle/>
          <a:p>
            <a:pPr algn="r" indent="0" marL="0">
              <a:buNone/>
            </a:pPr>
            <a:r>
              <a:rPr lang="en-US" sz="900" spc="200" kern="0" dirty="0">
                <a:solidFill>
                  <a:srgbClr val="BBBBBB"/>
                </a:solidFill>
                <a:latin typeface="IBM Plex Sans JP" pitchFamily="34" charset="0"/>
                <a:ea typeface="IBM Plex Sans JP" pitchFamily="34" charset="-122"/>
                <a:cs typeface="IBM Plex Sans JP" pitchFamily="34" charset="-120"/>
              </a:rPr>
              <a:t>市まるごと</a:t>
            </a:r>
            <a:endParaRPr lang="en-US" sz="900" dirty="0"/>
          </a:p>
        </p:txBody>
      </p:sp>
      <p:sp>
        <p:nvSpPr>
          <p:cNvPr id="24" name="Text 22"/>
          <p:cNvSpPr/>
          <p:nvPr/>
        </p:nvSpPr>
        <p:spPr>
          <a:xfrm>
            <a:off x="6995160" y="4407408"/>
            <a:ext cx="3108960" cy="256032"/>
          </a:xfrm>
          <a:prstGeom prst="rect">
            <a:avLst/>
          </a:prstGeom>
          <a:noFill/>
          <a:ln/>
        </p:spPr>
        <p:txBody>
          <a:bodyPr wrap="square" lIns="0" tIns="0" rIns="0" bIns="0" rtlCol="0" anchor="t"/>
          <a:lstStyle/>
          <a:p>
            <a:pPr indent="0" marL="0">
              <a:buNone/>
            </a:pPr>
            <a:r>
              <a:rPr lang="en-US" sz="950" dirty="0">
                <a:solidFill>
                  <a:srgbClr val="BBBBBB"/>
                </a:solidFill>
                <a:latin typeface="IBM Plex Sans JP" pitchFamily="34" charset="0"/>
                <a:ea typeface="IBM Plex Sans JP" pitchFamily="34" charset="-122"/>
                <a:cs typeface="IBM Plex Sans JP" pitchFamily="34" charset="-120"/>
              </a:rPr>
              <a:t>市内のTVer視聴者（推計）</a:t>
            </a:r>
            <a:endParaRPr lang="en-US" sz="950" dirty="0"/>
          </a:p>
        </p:txBody>
      </p:sp>
      <p:sp>
        <p:nvSpPr>
          <p:cNvPr id="25" name="Text 23"/>
          <p:cNvSpPr/>
          <p:nvPr/>
        </p:nvSpPr>
        <p:spPr>
          <a:xfrm>
            <a:off x="9677095" y="4379976"/>
            <a:ext cx="1508760" cy="256032"/>
          </a:xfrm>
          <a:prstGeom prst="rect">
            <a:avLst/>
          </a:prstGeom>
          <a:noFill/>
          <a:ln/>
        </p:spPr>
        <p:txBody>
          <a:bodyPr wrap="square" lIns="0" tIns="0" rIns="0" bIns="0" rtlCol="0" anchor="t"/>
          <a:lstStyle/>
          <a:p>
            <a:pPr algn="r" indent="0" marL="0">
              <a:buNone/>
            </a:pPr>
            <a:r>
              <a:rPr lang="en-US" sz="1200" b="1" dirty="0">
                <a:solidFill>
                  <a:srgbClr val="FFFFFF"/>
                </a:solidFill>
                <a:latin typeface="IBM Plex Sans JP" pitchFamily="34" charset="0"/>
                <a:ea typeface="IBM Plex Sans JP" pitchFamily="34" charset="-122"/>
                <a:cs typeface="IBM Plex Sans JP" pitchFamily="34" charset="-120"/>
              </a:rPr>
              <a:t>14.1万人</a:t>
            </a:r>
            <a:endParaRPr lang="en-US" sz="1200" dirty="0"/>
          </a:p>
        </p:txBody>
      </p:sp>
      <p:sp>
        <p:nvSpPr>
          <p:cNvPr id="26" name="Text 24"/>
          <p:cNvSpPr/>
          <p:nvPr/>
        </p:nvSpPr>
        <p:spPr>
          <a:xfrm>
            <a:off x="6995160" y="4681728"/>
            <a:ext cx="3108960" cy="256032"/>
          </a:xfrm>
          <a:prstGeom prst="rect">
            <a:avLst/>
          </a:prstGeom>
          <a:noFill/>
          <a:ln/>
        </p:spPr>
        <p:txBody>
          <a:bodyPr wrap="square" lIns="0" tIns="0" rIns="0" bIns="0" rtlCol="0" anchor="t"/>
          <a:lstStyle/>
          <a:p>
            <a:pPr indent="0" marL="0">
              <a:buNone/>
            </a:pPr>
            <a:r>
              <a:rPr lang="en-US" sz="950" dirty="0">
                <a:solidFill>
                  <a:srgbClr val="BBBBBB"/>
                </a:solidFill>
                <a:latin typeface="IBM Plex Sans JP" pitchFamily="34" charset="0"/>
                <a:ea typeface="IBM Plex Sans JP" pitchFamily="34" charset="-122"/>
                <a:cs typeface="IBM Plex Sans JP" pitchFamily="34" charset="-120"/>
              </a:rPr>
              <a:t>到達する人数（3人に1人）</a:t>
            </a:r>
            <a:endParaRPr lang="en-US" sz="950" dirty="0"/>
          </a:p>
        </p:txBody>
      </p:sp>
      <p:sp>
        <p:nvSpPr>
          <p:cNvPr id="27" name="Text 25"/>
          <p:cNvSpPr/>
          <p:nvPr/>
        </p:nvSpPr>
        <p:spPr>
          <a:xfrm>
            <a:off x="9677095" y="4654296"/>
            <a:ext cx="1508760" cy="256032"/>
          </a:xfrm>
          <a:prstGeom prst="rect">
            <a:avLst/>
          </a:prstGeom>
          <a:noFill/>
          <a:ln/>
        </p:spPr>
        <p:txBody>
          <a:bodyPr wrap="square" lIns="0" tIns="0" rIns="0" bIns="0" rtlCol="0" anchor="t"/>
          <a:lstStyle/>
          <a:p>
            <a:pPr algn="r" indent="0" marL="0">
              <a:buNone/>
            </a:pPr>
            <a:r>
              <a:rPr lang="en-US" sz="1200" b="1" dirty="0">
                <a:solidFill>
                  <a:srgbClr val="FFFFFF"/>
                </a:solidFill>
                <a:latin typeface="IBM Plex Sans JP" pitchFamily="34" charset="0"/>
                <a:ea typeface="IBM Plex Sans JP" pitchFamily="34" charset="-122"/>
                <a:cs typeface="IBM Plex Sans JP" pitchFamily="34" charset="-120"/>
              </a:rPr>
              <a:t>4.7万人</a:t>
            </a:r>
            <a:endParaRPr lang="en-US" sz="1200" dirty="0"/>
          </a:p>
        </p:txBody>
      </p:sp>
      <p:sp>
        <p:nvSpPr>
          <p:cNvPr id="28" name="Text 26"/>
          <p:cNvSpPr/>
          <p:nvPr/>
        </p:nvSpPr>
        <p:spPr>
          <a:xfrm>
            <a:off x="6995160" y="4992624"/>
            <a:ext cx="1828800" cy="228600"/>
          </a:xfrm>
          <a:prstGeom prst="rect">
            <a:avLst/>
          </a:prstGeom>
          <a:noFill/>
          <a:ln/>
        </p:spPr>
        <p:txBody>
          <a:bodyPr wrap="square" lIns="0" tIns="0" rIns="0" bIns="0" rtlCol="0" anchor="t"/>
          <a:lstStyle/>
          <a:p>
            <a:pPr indent="0" marL="0">
              <a:buNone/>
            </a:pPr>
            <a:r>
              <a:rPr lang="en-US" sz="900" b="1" spc="100" kern="0" dirty="0">
                <a:solidFill>
                  <a:srgbClr val="F19834"/>
                </a:solidFill>
                <a:latin typeface="IBM Plex Sans JP" pitchFamily="34" charset="0"/>
                <a:ea typeface="IBM Plex Sans JP" pitchFamily="34" charset="-122"/>
                <a:cs typeface="IBM Plex Sans JP" pitchFamily="34" charset="-120"/>
              </a:rPr>
              <a:t>月額 媒体費</a:t>
            </a:r>
            <a:endParaRPr lang="en-US" sz="900" dirty="0"/>
          </a:p>
        </p:txBody>
      </p:sp>
      <p:sp>
        <p:nvSpPr>
          <p:cNvPr id="29" name="Text 27"/>
          <p:cNvSpPr/>
          <p:nvPr/>
        </p:nvSpPr>
        <p:spPr>
          <a:xfrm>
            <a:off x="8686800" y="5010912"/>
            <a:ext cx="1463040" cy="228600"/>
          </a:xfrm>
          <a:prstGeom prst="rect">
            <a:avLst/>
          </a:prstGeom>
          <a:noFill/>
          <a:ln/>
        </p:spPr>
        <p:txBody>
          <a:bodyPr wrap="square" lIns="0" tIns="0" rIns="0" bIns="0" rtlCol="0" anchor="t"/>
          <a:lstStyle/>
          <a:p>
            <a:pPr indent="0" marL="0">
              <a:buNone/>
            </a:pPr>
            <a:r>
              <a:rPr lang="en-US" sz="800" dirty="0">
                <a:solidFill>
                  <a:srgbClr val="BBBBBB"/>
                </a:solidFill>
                <a:latin typeface="IBM Plex Sans JP" pitchFamily="34" charset="0"/>
                <a:ea typeface="IBM Plex Sans JP" pitchFamily="34" charset="-122"/>
                <a:cs typeface="IBM Plex Sans JP" pitchFamily="34" charset="-120"/>
              </a:rPr>
              <a:t>15秒CM ／ 標準3ヶ月</a:t>
            </a:r>
            <a:endParaRPr lang="en-US" sz="800" dirty="0"/>
          </a:p>
        </p:txBody>
      </p:sp>
      <p:sp>
        <p:nvSpPr>
          <p:cNvPr id="30" name="Text 28"/>
          <p:cNvSpPr/>
          <p:nvPr/>
        </p:nvSpPr>
        <p:spPr>
          <a:xfrm>
            <a:off x="9128455" y="4864608"/>
            <a:ext cx="2057400" cy="411480"/>
          </a:xfrm>
          <a:prstGeom prst="rect">
            <a:avLst/>
          </a:prstGeom>
          <a:noFill/>
          <a:ln/>
        </p:spPr>
        <p:txBody>
          <a:bodyPr wrap="square" lIns="0" tIns="0" rIns="0" bIns="0" rtlCol="0" anchor="t"/>
          <a:lstStyle/>
          <a:p>
            <a:pPr algn="r" indent="0" marL="0">
              <a:buNone/>
            </a:pPr>
            <a:r>
              <a:rPr lang="en-US" sz="2200" b="1" dirty="0">
                <a:solidFill>
                  <a:srgbClr val="FFFFFF"/>
                </a:solidFill>
                <a:latin typeface="IBM Plex Sans JP" pitchFamily="34" charset="0"/>
                <a:ea typeface="IBM Plex Sans JP" pitchFamily="34" charset="-122"/>
                <a:cs typeface="IBM Plex Sans JP" pitchFamily="34" charset="-120"/>
              </a:rPr>
              <a:t>¥580,000</a:t>
            </a:r>
            <a:endParaRPr lang="en-US" sz="2200" dirty="0"/>
          </a:p>
        </p:txBody>
      </p:sp>
      <p:sp>
        <p:nvSpPr>
          <p:cNvPr id="31" name="Shape 29"/>
          <p:cNvSpPr/>
          <p:nvPr/>
        </p:nvSpPr>
        <p:spPr>
          <a:xfrm>
            <a:off x="685800" y="5596128"/>
            <a:ext cx="10820095" cy="502920"/>
          </a:xfrm>
          <a:prstGeom prst="rect">
            <a:avLst/>
          </a:prstGeom>
          <a:solidFill>
            <a:srgbClr val="F7F6F4"/>
          </a:solidFill>
          <a:ln w="12700">
            <a:solidFill>
              <a:srgbClr val="F7F6F4"/>
            </a:solidFill>
            <a:prstDash val="solid"/>
          </a:ln>
        </p:spPr>
      </p:sp>
      <p:sp>
        <p:nvSpPr>
          <p:cNvPr id="32" name="Text 30"/>
          <p:cNvSpPr/>
          <p:nvPr/>
        </p:nvSpPr>
        <p:spPr>
          <a:xfrm>
            <a:off x="960120" y="5596128"/>
            <a:ext cx="10271455" cy="502920"/>
          </a:xfrm>
          <a:prstGeom prst="rect">
            <a:avLst/>
          </a:prstGeom>
          <a:noFill/>
          <a:ln/>
        </p:spPr>
        <p:txBody>
          <a:bodyPr wrap="square" lIns="0" tIns="0" rIns="0" bIns="0" rtlCol="0" anchor="ctr"/>
          <a:lstStyle/>
          <a:p>
            <a:pPr indent="0" marL="0">
              <a:lnSpc>
                <a:spcPct val="140000"/>
              </a:lnSpc>
              <a:buNone/>
            </a:pPr>
            <a:r>
              <a:rPr lang="en-US" sz="1000" b="1" dirty="0">
                <a:solidFill>
                  <a:srgbClr val="111111"/>
                </a:solidFill>
                <a:latin typeface="IBM Plex Sans JP" pitchFamily="34" charset="0"/>
                <a:ea typeface="IBM Plex Sans JP" pitchFamily="34" charset="-122"/>
                <a:cs typeface="IBM Plex Sans JP" pitchFamily="34" charset="-120"/>
              </a:rPr>
              <a:t>「網羅」の定義　</a:t>
            </a:r>
            <a:pPr indent="0" marL="0">
              <a:lnSpc>
                <a:spcPct val="140000"/>
              </a:lnSpc>
              <a:buNone/>
            </a:pPr>
            <a:r>
              <a:rPr lang="en-US" sz="1000" dirty="0">
                <a:solidFill>
                  <a:srgbClr val="6A6A6A"/>
                </a:solidFill>
                <a:latin typeface="IBM Plex Sans JP" pitchFamily="34" charset="0"/>
                <a:ea typeface="IBM Plex Sans JP" pitchFamily="34" charset="-122"/>
                <a:cs typeface="IBM Plex Sans JP" pitchFamily="34" charset="-120"/>
              </a:rPr>
              <a:t>その商圏のTVer視聴者の3人に1人へ、ひと月あたり平均約5回、CMを届ける水準を指します。数値は推計であり保証値ではありません。</a:t>
            </a:r>
            <a:endParaRPr lang="en-US" sz="1000" dirty="0"/>
          </a:p>
        </p:txBody>
      </p:sp>
      <p:pic>
        <p:nvPicPr>
          <p:cNvPr id="33" name="Image 0" descr="/private/tmp/claude-501/-Users-hirokishirakawa/61df7724-8533-4661-9a58-fa513da8dcb2/scratchpad/deck/assets/logo-black.png">    </p:cNvPr>
          <p:cNvPicPr>
            <a:picLocks noChangeAspect="1"/>
          </p:cNvPicPr>
          <p:nvPr/>
        </p:nvPicPr>
        <p:blipFill>
          <a:blip r:embed="rId1"/>
          <a:stretch>
            <a:fillRect/>
          </a:stretch>
        </p:blipFill>
        <p:spPr>
          <a:xfrm>
            <a:off x="685800" y="6291072"/>
            <a:ext cx="868680" cy="128484"/>
          </a:xfrm>
          <a:prstGeom prst="rect">
            <a:avLst/>
          </a:prstGeom>
        </p:spPr>
      </p:pic>
      <p:sp>
        <p:nvSpPr>
          <p:cNvPr id="34" name="Text 31"/>
          <p:cNvSpPr/>
          <p:nvPr/>
        </p:nvSpPr>
        <p:spPr>
          <a:xfrm>
            <a:off x="1828800" y="6291072"/>
            <a:ext cx="5486400" cy="182880"/>
          </a:xfrm>
          <a:prstGeom prst="rect">
            <a:avLst/>
          </a:prstGeom>
          <a:noFill/>
          <a:ln/>
        </p:spPr>
        <p:txBody>
          <a:bodyPr wrap="square" lIns="0" tIns="0" rIns="0" bIns="0" rtlCol="0" anchor="t"/>
          <a:lstStyle/>
          <a:p>
            <a:pPr indent="0" marL="0">
              <a:buNone/>
            </a:pPr>
            <a:r>
              <a:rPr lang="en-US" sz="800" spc="100" kern="0" dirty="0">
                <a:solidFill>
                  <a:srgbClr val="6A6A6A"/>
                </a:solidFill>
                <a:latin typeface="IBM Plex Sans JP" pitchFamily="34" charset="0"/>
                <a:ea typeface="IBM Plex Sans JP" pitchFamily="34" charset="-122"/>
                <a:cs typeface="IBM Plex Sans JP" pitchFamily="34" charset="-120"/>
              </a:rPr>
              <a:t>Ad Arch Co., Ltd.　／　TVer Advertising Division</a:t>
            </a:r>
            <a:endParaRPr lang="en-US" sz="800" dirty="0"/>
          </a:p>
        </p:txBody>
      </p:sp>
      <p:sp>
        <p:nvSpPr>
          <p:cNvPr id="35" name="Text 32"/>
          <p:cNvSpPr/>
          <p:nvPr/>
        </p:nvSpPr>
        <p:spPr>
          <a:xfrm>
            <a:off x="7848295" y="6291072"/>
            <a:ext cx="3657600" cy="182880"/>
          </a:xfrm>
          <a:prstGeom prst="rect">
            <a:avLst/>
          </a:prstGeom>
          <a:noFill/>
          <a:ln/>
        </p:spPr>
        <p:txBody>
          <a:bodyPr wrap="square" lIns="0" tIns="0" rIns="0" bIns="0" rtlCol="0" anchor="t"/>
          <a:lstStyle/>
          <a:p>
            <a:pPr algn="r" indent="0" marL="0">
              <a:buNone/>
            </a:pPr>
            <a:r>
              <a:rPr lang="en-US" sz="800" spc="150" kern="0" dirty="0">
                <a:solidFill>
                  <a:srgbClr val="6A6A6A"/>
                </a:solidFill>
                <a:latin typeface="IBM Plex Sans JP" pitchFamily="34" charset="0"/>
                <a:ea typeface="IBM Plex Sans JP" pitchFamily="34" charset="-122"/>
                <a:cs typeface="IBM Plex Sans JP" pitchFamily="34" charset="-120"/>
              </a:rPr>
              <a:t>05 / 19　　CONFIDENTIAL</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5508"/>
            <a:ext cx="384048" cy="27432"/>
          </a:xfrm>
          <a:prstGeom prst="rect">
            <a:avLst/>
          </a:prstGeom>
          <a:solidFill>
            <a:srgbClr val="F19834"/>
          </a:solidFill>
          <a:ln w="12700">
            <a:solidFill>
              <a:srgbClr val="F19834"/>
            </a:solidFill>
            <a:prstDash val="solid"/>
          </a:ln>
        </p:spPr>
      </p:sp>
      <p:sp>
        <p:nvSpPr>
          <p:cNvPr id="3" name="Text 1"/>
          <p:cNvSpPr/>
          <p:nvPr/>
        </p:nvSpPr>
        <p:spPr>
          <a:xfrm>
            <a:off x="1188720" y="566928"/>
            <a:ext cx="6400800" cy="201168"/>
          </a:xfrm>
          <a:prstGeom prst="rect">
            <a:avLst/>
          </a:prstGeom>
          <a:noFill/>
          <a:ln/>
        </p:spPr>
        <p:txBody>
          <a:bodyPr wrap="square" lIns="0" tIns="0" rIns="0" bIns="0" rtlCol="0" anchor="t"/>
          <a:lstStyle/>
          <a:p>
            <a:pPr indent="0" marL="0">
              <a:buNone/>
            </a:pPr>
            <a:r>
              <a:rPr lang="en-US" sz="900" spc="300" kern="0" dirty="0">
                <a:solidFill>
                  <a:srgbClr val="6A6A6A"/>
                </a:solidFill>
                <a:latin typeface="IBM Plex Sans JP" pitchFamily="34" charset="0"/>
                <a:ea typeface="IBM Plex Sans JP" pitchFamily="34" charset="-122"/>
                <a:cs typeface="IBM Plex Sans JP" pitchFamily="34" charset="-120"/>
              </a:rPr>
              <a:t>04 ／ COVERAGE GAP</a:t>
            </a:r>
            <a:endParaRPr lang="en-US" sz="900" dirty="0"/>
          </a:p>
        </p:txBody>
      </p:sp>
      <p:sp>
        <p:nvSpPr>
          <p:cNvPr id="4" name="Text 2"/>
          <p:cNvSpPr/>
          <p:nvPr/>
        </p:nvSpPr>
        <p:spPr>
          <a:xfrm>
            <a:off x="685800" y="896112"/>
            <a:ext cx="10820095" cy="822960"/>
          </a:xfrm>
          <a:prstGeom prst="rect">
            <a:avLst/>
          </a:prstGeom>
          <a:noFill/>
          <a:ln/>
        </p:spPr>
        <p:txBody>
          <a:bodyPr wrap="square" lIns="0" tIns="0" rIns="0" bIns="0" rtlCol="0" anchor="t"/>
          <a:lstStyle/>
          <a:p>
            <a:pPr indent="0" marL="0">
              <a:lnSpc>
                <a:spcPct val="125000"/>
              </a:lnSpc>
              <a:buNone/>
            </a:pPr>
            <a:r>
              <a:rPr lang="en-US" sz="2600" b="1" dirty="0">
                <a:solidFill>
                  <a:srgbClr val="111111"/>
                </a:solidFill>
                <a:latin typeface="IBM Plex Sans JP" pitchFamily="34" charset="0"/>
                <a:ea typeface="IBM Plex Sans JP" pitchFamily="34" charset="-122"/>
                <a:cs typeface="IBM Plex Sans JP" pitchFamily="34" charset="-120"/>
              </a:rPr>
              <a:t>同じ100万円で、届く率がこれだけ違う</a:t>
            </a:r>
            <a:endParaRPr lang="en-US" sz="2600" dirty="0"/>
          </a:p>
        </p:txBody>
      </p:sp>
      <p:sp>
        <p:nvSpPr>
          <p:cNvPr id="5" name="Text 3"/>
          <p:cNvSpPr/>
          <p:nvPr/>
        </p:nvSpPr>
        <p:spPr>
          <a:xfrm>
            <a:off x="685800" y="1572768"/>
            <a:ext cx="10820095" cy="365760"/>
          </a:xfrm>
          <a:prstGeom prst="rect">
            <a:avLst/>
          </a:prstGeom>
          <a:noFill/>
          <a:ln/>
        </p:spPr>
        <p:txBody>
          <a:bodyPr wrap="square" lIns="0" tIns="0" rIns="0" bIns="0" rtlCol="0" anchor="t"/>
          <a:lstStyle/>
          <a:p>
            <a:pPr indent="0" marL="0">
              <a:buNone/>
            </a:pPr>
            <a:r>
              <a:rPr lang="en-US" sz="1200" dirty="0">
                <a:solidFill>
                  <a:srgbClr val="6A6A6A"/>
                </a:solidFill>
                <a:latin typeface="IBM Plex Sans JP" pitchFamily="34" charset="0"/>
                <a:ea typeface="IBM Plex Sans JP" pitchFamily="34" charset="-122"/>
                <a:cs typeface="IBM Plex Sans JP" pitchFamily="34" charset="-120"/>
              </a:rPr>
              <a:t>県内のTVer視聴者のうち、媒体費100万円で何％に到達できるか。</a:t>
            </a:r>
            <a:endParaRPr lang="en-US" sz="1200" dirty="0"/>
          </a:p>
        </p:txBody>
      </p:sp>
      <p:sp>
        <p:nvSpPr>
          <p:cNvPr id="6" name="Text 4"/>
          <p:cNvSpPr/>
          <p:nvPr/>
        </p:nvSpPr>
        <p:spPr>
          <a:xfrm>
            <a:off x="685800" y="2194560"/>
            <a:ext cx="1097280" cy="274320"/>
          </a:xfrm>
          <a:prstGeom prst="rect">
            <a:avLst/>
          </a:prstGeom>
          <a:noFill/>
          <a:ln/>
        </p:spPr>
        <p:txBody>
          <a:bodyPr wrap="square" lIns="0" tIns="0" rIns="0" bIns="0" rtlCol="0" anchor="t"/>
          <a:lstStyle/>
          <a:p>
            <a:pPr indent="0" marL="0">
              <a:buNone/>
            </a:pPr>
            <a:r>
              <a:rPr lang="en-US" sz="1200" b="1" dirty="0">
                <a:solidFill>
                  <a:srgbClr val="111111"/>
                </a:solidFill>
                <a:latin typeface="IBM Plex Sans JP" pitchFamily="34" charset="0"/>
                <a:ea typeface="IBM Plex Sans JP" pitchFamily="34" charset="-122"/>
                <a:cs typeface="IBM Plex Sans JP" pitchFamily="34" charset="-120"/>
              </a:rPr>
              <a:t>鳥取県</a:t>
            </a:r>
            <a:endParaRPr lang="en-US" sz="1200" dirty="0"/>
          </a:p>
        </p:txBody>
      </p:sp>
      <p:sp>
        <p:nvSpPr>
          <p:cNvPr id="7" name="Shape 5"/>
          <p:cNvSpPr/>
          <p:nvPr/>
        </p:nvSpPr>
        <p:spPr>
          <a:xfrm>
            <a:off x="1874520" y="2221992"/>
            <a:ext cx="7253935" cy="182880"/>
          </a:xfrm>
          <a:prstGeom prst="rect">
            <a:avLst/>
          </a:prstGeom>
          <a:solidFill>
            <a:srgbClr val="EFEEEA"/>
          </a:solidFill>
          <a:ln w="12700">
            <a:solidFill>
              <a:srgbClr val="EFEEEA"/>
            </a:solidFill>
            <a:prstDash val="solid"/>
          </a:ln>
        </p:spPr>
      </p:sp>
      <p:sp>
        <p:nvSpPr>
          <p:cNvPr id="8" name="Shape 6"/>
          <p:cNvSpPr/>
          <p:nvPr/>
        </p:nvSpPr>
        <p:spPr>
          <a:xfrm>
            <a:off x="1874520" y="2221992"/>
            <a:ext cx="7253935" cy="182880"/>
          </a:xfrm>
          <a:prstGeom prst="rect">
            <a:avLst/>
          </a:prstGeom>
          <a:solidFill>
            <a:srgbClr val="F19834"/>
          </a:solidFill>
          <a:ln w="12700">
            <a:solidFill>
              <a:srgbClr val="F19834"/>
            </a:solidFill>
            <a:prstDash val="solid"/>
          </a:ln>
        </p:spPr>
      </p:sp>
      <p:sp>
        <p:nvSpPr>
          <p:cNvPr id="9" name="Text 7"/>
          <p:cNvSpPr/>
          <p:nvPr/>
        </p:nvSpPr>
        <p:spPr>
          <a:xfrm>
            <a:off x="9265615" y="2176272"/>
            <a:ext cx="1005840" cy="274320"/>
          </a:xfrm>
          <a:prstGeom prst="rect">
            <a:avLst/>
          </a:prstGeom>
          <a:noFill/>
          <a:ln/>
        </p:spPr>
        <p:txBody>
          <a:bodyPr wrap="square" lIns="0" tIns="0" rIns="0" bIns="0" rtlCol="0" anchor="t"/>
          <a:lstStyle/>
          <a:p>
            <a:pPr algn="r" indent="0" marL="0">
              <a:buNone/>
            </a:pPr>
            <a:r>
              <a:rPr lang="en-US" sz="1400" b="1" dirty="0">
                <a:solidFill>
                  <a:srgbClr val="D97F18"/>
                </a:solidFill>
                <a:latin typeface="IBM Plex Sans JP" pitchFamily="34" charset="0"/>
                <a:ea typeface="IBM Plex Sans JP" pitchFamily="34" charset="-122"/>
                <a:cs typeface="IBM Plex Sans JP" pitchFamily="34" charset="-120"/>
              </a:rPr>
              <a:t>15.4%</a:t>
            </a:r>
            <a:endParaRPr lang="en-US" sz="1400" dirty="0"/>
          </a:p>
        </p:txBody>
      </p:sp>
      <p:sp>
        <p:nvSpPr>
          <p:cNvPr id="10" name="Text 8"/>
          <p:cNvSpPr/>
          <p:nvPr/>
        </p:nvSpPr>
        <p:spPr>
          <a:xfrm>
            <a:off x="10362895" y="2221992"/>
            <a:ext cx="1097280" cy="274320"/>
          </a:xfrm>
          <a:prstGeom prst="rect">
            <a:avLst/>
          </a:prstGeom>
          <a:noFill/>
          <a:ln/>
        </p:spPr>
        <p:txBody>
          <a:bodyPr wrap="square" lIns="0" tIns="0" rIns="0" bIns="0" rtlCol="0" anchor="t"/>
          <a:lstStyle/>
          <a:p>
            <a:pPr algn="r" indent="0" marL="0">
              <a:buNone/>
            </a:pPr>
            <a:r>
              <a:rPr lang="en-US" sz="900" dirty="0">
                <a:solidFill>
                  <a:srgbClr val="6A6A6A"/>
                </a:solidFill>
                <a:latin typeface="IBM Plex Sans JP" pitchFamily="34" charset="0"/>
                <a:ea typeface="IBM Plex Sans JP" pitchFamily="34" charset="-122"/>
                <a:cs typeface="IBM Plex Sans JP" pitchFamily="34" charset="-120"/>
              </a:rPr>
              <a:t>26,991人</a:t>
            </a:r>
            <a:endParaRPr lang="en-US" sz="900" dirty="0"/>
          </a:p>
        </p:txBody>
      </p:sp>
      <p:sp>
        <p:nvSpPr>
          <p:cNvPr id="11" name="Shape 9"/>
          <p:cNvSpPr/>
          <p:nvPr/>
        </p:nvSpPr>
        <p:spPr>
          <a:xfrm>
            <a:off x="685800" y="2459736"/>
            <a:ext cx="10820095" cy="0"/>
          </a:xfrm>
          <a:prstGeom prst="line">
            <a:avLst/>
          </a:prstGeom>
          <a:noFill/>
          <a:ln w="6350">
            <a:solidFill>
              <a:srgbClr val="E6E4E0"/>
            </a:solidFill>
            <a:prstDash val="solid"/>
          </a:ln>
        </p:spPr>
      </p:sp>
      <p:sp>
        <p:nvSpPr>
          <p:cNvPr id="12" name="Text 10"/>
          <p:cNvSpPr/>
          <p:nvPr/>
        </p:nvSpPr>
        <p:spPr>
          <a:xfrm>
            <a:off x="685800" y="2523744"/>
            <a:ext cx="1097280" cy="274320"/>
          </a:xfrm>
          <a:prstGeom prst="rect">
            <a:avLst/>
          </a:prstGeom>
          <a:noFill/>
          <a:ln/>
        </p:spPr>
        <p:txBody>
          <a:bodyPr wrap="square" lIns="0" tIns="0" rIns="0" bIns="0" rtlCol="0" anchor="t"/>
          <a:lstStyle/>
          <a:p>
            <a:pPr indent="0" marL="0">
              <a:buNone/>
            </a:pPr>
            <a:r>
              <a:rPr lang="en-US" sz="1200" b="1" dirty="0">
                <a:solidFill>
                  <a:srgbClr val="111111"/>
                </a:solidFill>
                <a:latin typeface="IBM Plex Sans JP" pitchFamily="34" charset="0"/>
                <a:ea typeface="IBM Plex Sans JP" pitchFamily="34" charset="-122"/>
                <a:cs typeface="IBM Plex Sans JP" pitchFamily="34" charset="-120"/>
              </a:rPr>
              <a:t>島根県</a:t>
            </a:r>
            <a:endParaRPr lang="en-US" sz="1200" dirty="0"/>
          </a:p>
        </p:txBody>
      </p:sp>
      <p:sp>
        <p:nvSpPr>
          <p:cNvPr id="13" name="Shape 11"/>
          <p:cNvSpPr/>
          <p:nvPr/>
        </p:nvSpPr>
        <p:spPr>
          <a:xfrm>
            <a:off x="1874520" y="2551176"/>
            <a:ext cx="7253935" cy="182880"/>
          </a:xfrm>
          <a:prstGeom prst="rect">
            <a:avLst/>
          </a:prstGeom>
          <a:solidFill>
            <a:srgbClr val="EFEEEA"/>
          </a:solidFill>
          <a:ln w="12700">
            <a:solidFill>
              <a:srgbClr val="EFEEEA"/>
            </a:solidFill>
            <a:prstDash val="solid"/>
          </a:ln>
        </p:spPr>
      </p:sp>
      <p:sp>
        <p:nvSpPr>
          <p:cNvPr id="14" name="Shape 12"/>
          <p:cNvSpPr/>
          <p:nvPr/>
        </p:nvSpPr>
        <p:spPr>
          <a:xfrm>
            <a:off x="1874520" y="2551176"/>
            <a:ext cx="6170555" cy="182880"/>
          </a:xfrm>
          <a:prstGeom prst="rect">
            <a:avLst/>
          </a:prstGeom>
          <a:solidFill>
            <a:srgbClr val="111111"/>
          </a:solidFill>
          <a:ln w="12700">
            <a:solidFill>
              <a:srgbClr val="111111"/>
            </a:solidFill>
            <a:prstDash val="solid"/>
          </a:ln>
        </p:spPr>
      </p:sp>
      <p:sp>
        <p:nvSpPr>
          <p:cNvPr id="15" name="Text 13"/>
          <p:cNvSpPr/>
          <p:nvPr/>
        </p:nvSpPr>
        <p:spPr>
          <a:xfrm>
            <a:off x="9265615" y="2505456"/>
            <a:ext cx="1005840" cy="274320"/>
          </a:xfrm>
          <a:prstGeom prst="rect">
            <a:avLst/>
          </a:prstGeom>
          <a:noFill/>
          <a:ln/>
        </p:spPr>
        <p:txBody>
          <a:bodyPr wrap="square" lIns="0" tIns="0" rIns="0" bIns="0" rtlCol="0" anchor="t"/>
          <a:lstStyle/>
          <a:p>
            <a:pPr algn="r" indent="0" marL="0">
              <a:buNone/>
            </a:pPr>
            <a:r>
              <a:rPr lang="en-US" sz="1400" b="1" dirty="0">
                <a:solidFill>
                  <a:srgbClr val="111111"/>
                </a:solidFill>
                <a:latin typeface="IBM Plex Sans JP" pitchFamily="34" charset="0"/>
                <a:ea typeface="IBM Plex Sans JP" pitchFamily="34" charset="-122"/>
                <a:cs typeface="IBM Plex Sans JP" pitchFamily="34" charset="-120"/>
              </a:rPr>
              <a:t>13.1%</a:t>
            </a:r>
            <a:endParaRPr lang="en-US" sz="1400" dirty="0"/>
          </a:p>
        </p:txBody>
      </p:sp>
      <p:sp>
        <p:nvSpPr>
          <p:cNvPr id="16" name="Text 14"/>
          <p:cNvSpPr/>
          <p:nvPr/>
        </p:nvSpPr>
        <p:spPr>
          <a:xfrm>
            <a:off x="10362895" y="2551176"/>
            <a:ext cx="1097280" cy="274320"/>
          </a:xfrm>
          <a:prstGeom prst="rect">
            <a:avLst/>
          </a:prstGeom>
          <a:noFill/>
          <a:ln/>
        </p:spPr>
        <p:txBody>
          <a:bodyPr wrap="square" lIns="0" tIns="0" rIns="0" bIns="0" rtlCol="0" anchor="t"/>
          <a:lstStyle/>
          <a:p>
            <a:pPr algn="r" indent="0" marL="0">
              <a:buNone/>
            </a:pPr>
            <a:r>
              <a:rPr lang="en-US" sz="900" dirty="0">
                <a:solidFill>
                  <a:srgbClr val="6A6A6A"/>
                </a:solidFill>
                <a:latin typeface="IBM Plex Sans JP" pitchFamily="34" charset="0"/>
                <a:ea typeface="IBM Plex Sans JP" pitchFamily="34" charset="-122"/>
                <a:cs typeface="IBM Plex Sans JP" pitchFamily="34" charset="-120"/>
              </a:rPr>
              <a:t>26,991人</a:t>
            </a:r>
            <a:endParaRPr lang="en-US" sz="900" dirty="0"/>
          </a:p>
        </p:txBody>
      </p:sp>
      <p:sp>
        <p:nvSpPr>
          <p:cNvPr id="17" name="Shape 15"/>
          <p:cNvSpPr/>
          <p:nvPr/>
        </p:nvSpPr>
        <p:spPr>
          <a:xfrm>
            <a:off x="685800" y="2788920"/>
            <a:ext cx="10820095" cy="0"/>
          </a:xfrm>
          <a:prstGeom prst="line">
            <a:avLst/>
          </a:prstGeom>
          <a:noFill/>
          <a:ln w="6350">
            <a:solidFill>
              <a:srgbClr val="E6E4E0"/>
            </a:solidFill>
            <a:prstDash val="solid"/>
          </a:ln>
        </p:spPr>
      </p:sp>
      <p:sp>
        <p:nvSpPr>
          <p:cNvPr id="18" name="Text 16"/>
          <p:cNvSpPr/>
          <p:nvPr/>
        </p:nvSpPr>
        <p:spPr>
          <a:xfrm>
            <a:off x="685800" y="2852928"/>
            <a:ext cx="1097280" cy="274320"/>
          </a:xfrm>
          <a:prstGeom prst="rect">
            <a:avLst/>
          </a:prstGeom>
          <a:noFill/>
          <a:ln/>
        </p:spPr>
        <p:txBody>
          <a:bodyPr wrap="square" lIns="0" tIns="0" rIns="0" bIns="0" rtlCol="0" anchor="t"/>
          <a:lstStyle/>
          <a:p>
            <a:pPr indent="0" marL="0">
              <a:buNone/>
            </a:pPr>
            <a:r>
              <a:rPr lang="en-US" sz="1200" b="1" dirty="0">
                <a:solidFill>
                  <a:srgbClr val="111111"/>
                </a:solidFill>
                <a:latin typeface="IBM Plex Sans JP" pitchFamily="34" charset="0"/>
                <a:ea typeface="IBM Plex Sans JP" pitchFamily="34" charset="-122"/>
                <a:cs typeface="IBM Plex Sans JP" pitchFamily="34" charset="-120"/>
              </a:rPr>
              <a:t>高知県</a:t>
            </a:r>
            <a:endParaRPr lang="en-US" sz="1200" dirty="0"/>
          </a:p>
        </p:txBody>
      </p:sp>
      <p:sp>
        <p:nvSpPr>
          <p:cNvPr id="19" name="Shape 17"/>
          <p:cNvSpPr/>
          <p:nvPr/>
        </p:nvSpPr>
        <p:spPr>
          <a:xfrm>
            <a:off x="1874520" y="2880360"/>
            <a:ext cx="7253935" cy="182880"/>
          </a:xfrm>
          <a:prstGeom prst="rect">
            <a:avLst/>
          </a:prstGeom>
          <a:solidFill>
            <a:srgbClr val="EFEEEA"/>
          </a:solidFill>
          <a:ln w="12700">
            <a:solidFill>
              <a:srgbClr val="EFEEEA"/>
            </a:solidFill>
            <a:prstDash val="solid"/>
          </a:ln>
        </p:spPr>
      </p:sp>
      <p:sp>
        <p:nvSpPr>
          <p:cNvPr id="20" name="Shape 18"/>
          <p:cNvSpPr/>
          <p:nvPr/>
        </p:nvSpPr>
        <p:spPr>
          <a:xfrm>
            <a:off x="1874520" y="2880360"/>
            <a:ext cx="6029245" cy="182880"/>
          </a:xfrm>
          <a:prstGeom prst="rect">
            <a:avLst/>
          </a:prstGeom>
          <a:solidFill>
            <a:srgbClr val="111111"/>
          </a:solidFill>
          <a:ln w="12700">
            <a:solidFill>
              <a:srgbClr val="111111"/>
            </a:solidFill>
            <a:prstDash val="solid"/>
          </a:ln>
        </p:spPr>
      </p:sp>
      <p:sp>
        <p:nvSpPr>
          <p:cNvPr id="21" name="Text 19"/>
          <p:cNvSpPr/>
          <p:nvPr/>
        </p:nvSpPr>
        <p:spPr>
          <a:xfrm>
            <a:off x="9265615" y="2834640"/>
            <a:ext cx="1005840" cy="274320"/>
          </a:xfrm>
          <a:prstGeom prst="rect">
            <a:avLst/>
          </a:prstGeom>
          <a:noFill/>
          <a:ln/>
        </p:spPr>
        <p:txBody>
          <a:bodyPr wrap="square" lIns="0" tIns="0" rIns="0" bIns="0" rtlCol="0" anchor="t"/>
          <a:lstStyle/>
          <a:p>
            <a:pPr algn="r" indent="0" marL="0">
              <a:buNone/>
            </a:pPr>
            <a:r>
              <a:rPr lang="en-US" sz="1400" b="1" dirty="0">
                <a:solidFill>
                  <a:srgbClr val="111111"/>
                </a:solidFill>
                <a:latin typeface="IBM Plex Sans JP" pitchFamily="34" charset="0"/>
                <a:ea typeface="IBM Plex Sans JP" pitchFamily="34" charset="-122"/>
                <a:cs typeface="IBM Plex Sans JP" pitchFamily="34" charset="-120"/>
              </a:rPr>
              <a:t>12.8%</a:t>
            </a:r>
            <a:endParaRPr lang="en-US" sz="1400" dirty="0"/>
          </a:p>
        </p:txBody>
      </p:sp>
      <p:sp>
        <p:nvSpPr>
          <p:cNvPr id="22" name="Text 20"/>
          <p:cNvSpPr/>
          <p:nvPr/>
        </p:nvSpPr>
        <p:spPr>
          <a:xfrm>
            <a:off x="10362895" y="2880360"/>
            <a:ext cx="1097280" cy="274320"/>
          </a:xfrm>
          <a:prstGeom prst="rect">
            <a:avLst/>
          </a:prstGeom>
          <a:noFill/>
          <a:ln/>
        </p:spPr>
        <p:txBody>
          <a:bodyPr wrap="square" lIns="0" tIns="0" rIns="0" bIns="0" rtlCol="0" anchor="t"/>
          <a:lstStyle/>
          <a:p>
            <a:pPr algn="r" indent="0" marL="0">
              <a:buNone/>
            </a:pPr>
            <a:r>
              <a:rPr lang="en-US" sz="900" dirty="0">
                <a:solidFill>
                  <a:srgbClr val="6A6A6A"/>
                </a:solidFill>
                <a:latin typeface="IBM Plex Sans JP" pitchFamily="34" charset="0"/>
                <a:ea typeface="IBM Plex Sans JP" pitchFamily="34" charset="-122"/>
                <a:cs typeface="IBM Plex Sans JP" pitchFamily="34" charset="-120"/>
              </a:rPr>
              <a:t>26,991人</a:t>
            </a:r>
            <a:endParaRPr lang="en-US" sz="900" dirty="0"/>
          </a:p>
        </p:txBody>
      </p:sp>
      <p:sp>
        <p:nvSpPr>
          <p:cNvPr id="23" name="Shape 21"/>
          <p:cNvSpPr/>
          <p:nvPr/>
        </p:nvSpPr>
        <p:spPr>
          <a:xfrm>
            <a:off x="685800" y="3118104"/>
            <a:ext cx="10820095" cy="0"/>
          </a:xfrm>
          <a:prstGeom prst="line">
            <a:avLst/>
          </a:prstGeom>
          <a:noFill/>
          <a:ln w="6350">
            <a:solidFill>
              <a:srgbClr val="E6E4E0"/>
            </a:solidFill>
            <a:prstDash val="solid"/>
          </a:ln>
        </p:spPr>
      </p:sp>
      <p:sp>
        <p:nvSpPr>
          <p:cNvPr id="24" name="Text 22"/>
          <p:cNvSpPr/>
          <p:nvPr/>
        </p:nvSpPr>
        <p:spPr>
          <a:xfrm>
            <a:off x="685800" y="3182112"/>
            <a:ext cx="1097280" cy="274320"/>
          </a:xfrm>
          <a:prstGeom prst="rect">
            <a:avLst/>
          </a:prstGeom>
          <a:noFill/>
          <a:ln/>
        </p:spPr>
        <p:txBody>
          <a:bodyPr wrap="square" lIns="0" tIns="0" rIns="0" bIns="0" rtlCol="0" anchor="t"/>
          <a:lstStyle/>
          <a:p>
            <a:pPr indent="0" marL="0">
              <a:buNone/>
            </a:pPr>
            <a:r>
              <a:rPr lang="en-US" sz="1200" b="1" dirty="0">
                <a:solidFill>
                  <a:srgbClr val="111111"/>
                </a:solidFill>
                <a:latin typeface="IBM Plex Sans JP" pitchFamily="34" charset="0"/>
                <a:ea typeface="IBM Plex Sans JP" pitchFamily="34" charset="-122"/>
                <a:cs typeface="IBM Plex Sans JP" pitchFamily="34" charset="-120"/>
              </a:rPr>
              <a:t>徳島県</a:t>
            </a:r>
            <a:endParaRPr lang="en-US" sz="1200" dirty="0"/>
          </a:p>
        </p:txBody>
      </p:sp>
      <p:sp>
        <p:nvSpPr>
          <p:cNvPr id="25" name="Shape 23"/>
          <p:cNvSpPr/>
          <p:nvPr/>
        </p:nvSpPr>
        <p:spPr>
          <a:xfrm>
            <a:off x="1874520" y="3209544"/>
            <a:ext cx="7253935" cy="182880"/>
          </a:xfrm>
          <a:prstGeom prst="rect">
            <a:avLst/>
          </a:prstGeom>
          <a:solidFill>
            <a:srgbClr val="EFEEEA"/>
          </a:solidFill>
          <a:ln w="12700">
            <a:solidFill>
              <a:srgbClr val="EFEEEA"/>
            </a:solidFill>
            <a:prstDash val="solid"/>
          </a:ln>
        </p:spPr>
      </p:sp>
      <p:sp>
        <p:nvSpPr>
          <p:cNvPr id="26" name="Shape 24"/>
          <p:cNvSpPr/>
          <p:nvPr/>
        </p:nvSpPr>
        <p:spPr>
          <a:xfrm>
            <a:off x="1874520" y="3209544"/>
            <a:ext cx="5699521" cy="182880"/>
          </a:xfrm>
          <a:prstGeom prst="rect">
            <a:avLst/>
          </a:prstGeom>
          <a:solidFill>
            <a:srgbClr val="111111"/>
          </a:solidFill>
          <a:ln w="12700">
            <a:solidFill>
              <a:srgbClr val="111111"/>
            </a:solidFill>
            <a:prstDash val="solid"/>
          </a:ln>
        </p:spPr>
      </p:sp>
      <p:sp>
        <p:nvSpPr>
          <p:cNvPr id="27" name="Text 25"/>
          <p:cNvSpPr/>
          <p:nvPr/>
        </p:nvSpPr>
        <p:spPr>
          <a:xfrm>
            <a:off x="9265615" y="3163824"/>
            <a:ext cx="1005840" cy="274320"/>
          </a:xfrm>
          <a:prstGeom prst="rect">
            <a:avLst/>
          </a:prstGeom>
          <a:noFill/>
          <a:ln/>
        </p:spPr>
        <p:txBody>
          <a:bodyPr wrap="square" lIns="0" tIns="0" rIns="0" bIns="0" rtlCol="0" anchor="t"/>
          <a:lstStyle/>
          <a:p>
            <a:pPr algn="r" indent="0" marL="0">
              <a:buNone/>
            </a:pPr>
            <a:r>
              <a:rPr lang="en-US" sz="1400" b="1" dirty="0">
                <a:solidFill>
                  <a:srgbClr val="111111"/>
                </a:solidFill>
                <a:latin typeface="IBM Plex Sans JP" pitchFamily="34" charset="0"/>
                <a:ea typeface="IBM Plex Sans JP" pitchFamily="34" charset="-122"/>
                <a:cs typeface="IBM Plex Sans JP" pitchFamily="34" charset="-120"/>
              </a:rPr>
              <a:t>12.1%</a:t>
            </a:r>
            <a:endParaRPr lang="en-US" sz="1400" dirty="0"/>
          </a:p>
        </p:txBody>
      </p:sp>
      <p:sp>
        <p:nvSpPr>
          <p:cNvPr id="28" name="Text 26"/>
          <p:cNvSpPr/>
          <p:nvPr/>
        </p:nvSpPr>
        <p:spPr>
          <a:xfrm>
            <a:off x="10362895" y="3209544"/>
            <a:ext cx="1097280" cy="274320"/>
          </a:xfrm>
          <a:prstGeom prst="rect">
            <a:avLst/>
          </a:prstGeom>
          <a:noFill/>
          <a:ln/>
        </p:spPr>
        <p:txBody>
          <a:bodyPr wrap="square" lIns="0" tIns="0" rIns="0" bIns="0" rtlCol="0" anchor="t"/>
          <a:lstStyle/>
          <a:p>
            <a:pPr algn="r" indent="0" marL="0">
              <a:buNone/>
            </a:pPr>
            <a:r>
              <a:rPr lang="en-US" sz="900" dirty="0">
                <a:solidFill>
                  <a:srgbClr val="6A6A6A"/>
                </a:solidFill>
                <a:latin typeface="IBM Plex Sans JP" pitchFamily="34" charset="0"/>
                <a:ea typeface="IBM Plex Sans JP" pitchFamily="34" charset="-122"/>
                <a:cs typeface="IBM Plex Sans JP" pitchFamily="34" charset="-120"/>
              </a:rPr>
              <a:t>26,991人</a:t>
            </a:r>
            <a:endParaRPr lang="en-US" sz="900" dirty="0"/>
          </a:p>
        </p:txBody>
      </p:sp>
      <p:sp>
        <p:nvSpPr>
          <p:cNvPr id="29" name="Shape 27"/>
          <p:cNvSpPr/>
          <p:nvPr/>
        </p:nvSpPr>
        <p:spPr>
          <a:xfrm>
            <a:off x="685800" y="3447288"/>
            <a:ext cx="10820095" cy="0"/>
          </a:xfrm>
          <a:prstGeom prst="line">
            <a:avLst/>
          </a:prstGeom>
          <a:noFill/>
          <a:ln w="6350">
            <a:solidFill>
              <a:srgbClr val="E6E4E0"/>
            </a:solidFill>
            <a:prstDash val="solid"/>
          </a:ln>
        </p:spPr>
      </p:sp>
      <p:sp>
        <p:nvSpPr>
          <p:cNvPr id="30" name="Text 28"/>
          <p:cNvSpPr/>
          <p:nvPr/>
        </p:nvSpPr>
        <p:spPr>
          <a:xfrm>
            <a:off x="685800" y="3511296"/>
            <a:ext cx="1097280" cy="274320"/>
          </a:xfrm>
          <a:prstGeom prst="rect">
            <a:avLst/>
          </a:prstGeom>
          <a:noFill/>
          <a:ln/>
        </p:spPr>
        <p:txBody>
          <a:bodyPr wrap="square" lIns="0" tIns="0" rIns="0" bIns="0" rtlCol="0" anchor="t"/>
          <a:lstStyle/>
          <a:p>
            <a:pPr indent="0" marL="0">
              <a:buNone/>
            </a:pPr>
            <a:r>
              <a:rPr lang="en-US" sz="1200" b="1" dirty="0">
                <a:solidFill>
                  <a:srgbClr val="111111"/>
                </a:solidFill>
                <a:latin typeface="IBM Plex Sans JP" pitchFamily="34" charset="0"/>
                <a:ea typeface="IBM Plex Sans JP" pitchFamily="34" charset="-122"/>
                <a:cs typeface="IBM Plex Sans JP" pitchFamily="34" charset="-120"/>
              </a:rPr>
              <a:t>香川県</a:t>
            </a:r>
            <a:endParaRPr lang="en-US" sz="1200" dirty="0"/>
          </a:p>
        </p:txBody>
      </p:sp>
      <p:sp>
        <p:nvSpPr>
          <p:cNvPr id="31" name="Shape 29"/>
          <p:cNvSpPr/>
          <p:nvPr/>
        </p:nvSpPr>
        <p:spPr>
          <a:xfrm>
            <a:off x="1874520" y="3538728"/>
            <a:ext cx="7253935" cy="182880"/>
          </a:xfrm>
          <a:prstGeom prst="rect">
            <a:avLst/>
          </a:prstGeom>
          <a:solidFill>
            <a:srgbClr val="EFEEEA"/>
          </a:solidFill>
          <a:ln w="12700">
            <a:solidFill>
              <a:srgbClr val="EFEEEA"/>
            </a:solidFill>
            <a:prstDash val="solid"/>
          </a:ln>
        </p:spPr>
      </p:sp>
      <p:sp>
        <p:nvSpPr>
          <p:cNvPr id="32" name="Shape 30"/>
          <p:cNvSpPr/>
          <p:nvPr/>
        </p:nvSpPr>
        <p:spPr>
          <a:xfrm>
            <a:off x="1874520" y="3538728"/>
            <a:ext cx="4098002" cy="182880"/>
          </a:xfrm>
          <a:prstGeom prst="rect">
            <a:avLst/>
          </a:prstGeom>
          <a:solidFill>
            <a:srgbClr val="111111"/>
          </a:solidFill>
          <a:ln w="12700">
            <a:solidFill>
              <a:srgbClr val="111111"/>
            </a:solidFill>
            <a:prstDash val="solid"/>
          </a:ln>
        </p:spPr>
      </p:sp>
      <p:sp>
        <p:nvSpPr>
          <p:cNvPr id="33" name="Text 31"/>
          <p:cNvSpPr/>
          <p:nvPr/>
        </p:nvSpPr>
        <p:spPr>
          <a:xfrm>
            <a:off x="9265615" y="3493008"/>
            <a:ext cx="1005840" cy="274320"/>
          </a:xfrm>
          <a:prstGeom prst="rect">
            <a:avLst/>
          </a:prstGeom>
          <a:noFill/>
          <a:ln/>
        </p:spPr>
        <p:txBody>
          <a:bodyPr wrap="square" lIns="0" tIns="0" rIns="0" bIns="0" rtlCol="0" anchor="t"/>
          <a:lstStyle/>
          <a:p>
            <a:pPr algn="r" indent="0" marL="0">
              <a:buNone/>
            </a:pPr>
            <a:r>
              <a:rPr lang="en-US" sz="1400" b="1" dirty="0">
                <a:solidFill>
                  <a:srgbClr val="111111"/>
                </a:solidFill>
                <a:latin typeface="IBM Plex Sans JP" pitchFamily="34" charset="0"/>
                <a:ea typeface="IBM Plex Sans JP" pitchFamily="34" charset="-122"/>
                <a:cs typeface="IBM Plex Sans JP" pitchFamily="34" charset="-120"/>
              </a:rPr>
              <a:t>8.7%</a:t>
            </a:r>
            <a:endParaRPr lang="en-US" sz="1400" dirty="0"/>
          </a:p>
        </p:txBody>
      </p:sp>
      <p:sp>
        <p:nvSpPr>
          <p:cNvPr id="34" name="Text 32"/>
          <p:cNvSpPr/>
          <p:nvPr/>
        </p:nvSpPr>
        <p:spPr>
          <a:xfrm>
            <a:off x="10362895" y="3538728"/>
            <a:ext cx="1097280" cy="274320"/>
          </a:xfrm>
          <a:prstGeom prst="rect">
            <a:avLst/>
          </a:prstGeom>
          <a:noFill/>
          <a:ln/>
        </p:spPr>
        <p:txBody>
          <a:bodyPr wrap="square" lIns="0" tIns="0" rIns="0" bIns="0" rtlCol="0" anchor="t"/>
          <a:lstStyle/>
          <a:p>
            <a:pPr algn="r" indent="0" marL="0">
              <a:buNone/>
            </a:pPr>
            <a:r>
              <a:rPr lang="en-US" sz="900" dirty="0">
                <a:solidFill>
                  <a:srgbClr val="6A6A6A"/>
                </a:solidFill>
                <a:latin typeface="IBM Plex Sans JP" pitchFamily="34" charset="0"/>
                <a:ea typeface="IBM Plex Sans JP" pitchFamily="34" charset="-122"/>
                <a:cs typeface="IBM Plex Sans JP" pitchFamily="34" charset="-120"/>
              </a:rPr>
              <a:t>26,991人</a:t>
            </a:r>
            <a:endParaRPr lang="en-US" sz="900" dirty="0"/>
          </a:p>
        </p:txBody>
      </p:sp>
      <p:sp>
        <p:nvSpPr>
          <p:cNvPr id="35" name="Shape 33"/>
          <p:cNvSpPr/>
          <p:nvPr/>
        </p:nvSpPr>
        <p:spPr>
          <a:xfrm>
            <a:off x="685800" y="3776472"/>
            <a:ext cx="10820095" cy="0"/>
          </a:xfrm>
          <a:prstGeom prst="line">
            <a:avLst/>
          </a:prstGeom>
          <a:noFill/>
          <a:ln w="6350">
            <a:solidFill>
              <a:srgbClr val="E6E4E0"/>
            </a:solidFill>
            <a:prstDash val="solid"/>
          </a:ln>
        </p:spPr>
      </p:sp>
      <p:sp>
        <p:nvSpPr>
          <p:cNvPr id="36" name="Text 34"/>
          <p:cNvSpPr/>
          <p:nvPr/>
        </p:nvSpPr>
        <p:spPr>
          <a:xfrm>
            <a:off x="685800" y="3840480"/>
            <a:ext cx="1097280" cy="274320"/>
          </a:xfrm>
          <a:prstGeom prst="rect">
            <a:avLst/>
          </a:prstGeom>
          <a:noFill/>
          <a:ln/>
        </p:spPr>
        <p:txBody>
          <a:bodyPr wrap="square" lIns="0" tIns="0" rIns="0" bIns="0" rtlCol="0" anchor="t"/>
          <a:lstStyle/>
          <a:p>
            <a:pPr indent="0" marL="0">
              <a:buNone/>
            </a:pPr>
            <a:r>
              <a:rPr lang="en-US" sz="1200" b="1" dirty="0">
                <a:solidFill>
                  <a:srgbClr val="111111"/>
                </a:solidFill>
                <a:latin typeface="IBM Plex Sans JP" pitchFamily="34" charset="0"/>
                <a:ea typeface="IBM Plex Sans JP" pitchFamily="34" charset="-122"/>
                <a:cs typeface="IBM Plex Sans JP" pitchFamily="34" charset="-120"/>
              </a:rPr>
              <a:t>福岡県</a:t>
            </a:r>
            <a:endParaRPr lang="en-US" sz="1200" dirty="0"/>
          </a:p>
        </p:txBody>
      </p:sp>
      <p:sp>
        <p:nvSpPr>
          <p:cNvPr id="37" name="Shape 35"/>
          <p:cNvSpPr/>
          <p:nvPr/>
        </p:nvSpPr>
        <p:spPr>
          <a:xfrm>
            <a:off x="1874520" y="3867912"/>
            <a:ext cx="7253935" cy="182880"/>
          </a:xfrm>
          <a:prstGeom prst="rect">
            <a:avLst/>
          </a:prstGeom>
          <a:solidFill>
            <a:srgbClr val="EFEEEA"/>
          </a:solidFill>
          <a:ln w="12700">
            <a:solidFill>
              <a:srgbClr val="EFEEEA"/>
            </a:solidFill>
            <a:prstDash val="solid"/>
          </a:ln>
        </p:spPr>
      </p:sp>
      <p:sp>
        <p:nvSpPr>
          <p:cNvPr id="38" name="Shape 36"/>
          <p:cNvSpPr/>
          <p:nvPr/>
        </p:nvSpPr>
        <p:spPr>
          <a:xfrm>
            <a:off x="1874520" y="3867912"/>
            <a:ext cx="942070" cy="182880"/>
          </a:xfrm>
          <a:prstGeom prst="rect">
            <a:avLst/>
          </a:prstGeom>
          <a:solidFill>
            <a:srgbClr val="111111"/>
          </a:solidFill>
          <a:ln w="12700">
            <a:solidFill>
              <a:srgbClr val="111111"/>
            </a:solidFill>
            <a:prstDash val="solid"/>
          </a:ln>
        </p:spPr>
      </p:sp>
      <p:sp>
        <p:nvSpPr>
          <p:cNvPr id="39" name="Text 37"/>
          <p:cNvSpPr/>
          <p:nvPr/>
        </p:nvSpPr>
        <p:spPr>
          <a:xfrm>
            <a:off x="9265615" y="3822192"/>
            <a:ext cx="1005840" cy="274320"/>
          </a:xfrm>
          <a:prstGeom prst="rect">
            <a:avLst/>
          </a:prstGeom>
          <a:noFill/>
          <a:ln/>
        </p:spPr>
        <p:txBody>
          <a:bodyPr wrap="square" lIns="0" tIns="0" rIns="0" bIns="0" rtlCol="0" anchor="t"/>
          <a:lstStyle/>
          <a:p>
            <a:pPr algn="r" indent="0" marL="0">
              <a:buNone/>
            </a:pPr>
            <a:r>
              <a:rPr lang="en-US" sz="1400" b="1" dirty="0">
                <a:solidFill>
                  <a:srgbClr val="111111"/>
                </a:solidFill>
                <a:latin typeface="IBM Plex Sans JP" pitchFamily="34" charset="0"/>
                <a:ea typeface="IBM Plex Sans JP" pitchFamily="34" charset="-122"/>
                <a:cs typeface="IBM Plex Sans JP" pitchFamily="34" charset="-120"/>
              </a:rPr>
              <a:t>2.0%</a:t>
            </a:r>
            <a:endParaRPr lang="en-US" sz="1400" dirty="0"/>
          </a:p>
        </p:txBody>
      </p:sp>
      <p:sp>
        <p:nvSpPr>
          <p:cNvPr id="40" name="Text 38"/>
          <p:cNvSpPr/>
          <p:nvPr/>
        </p:nvSpPr>
        <p:spPr>
          <a:xfrm>
            <a:off x="10362895" y="3867912"/>
            <a:ext cx="1097280" cy="274320"/>
          </a:xfrm>
          <a:prstGeom prst="rect">
            <a:avLst/>
          </a:prstGeom>
          <a:noFill/>
          <a:ln/>
        </p:spPr>
        <p:txBody>
          <a:bodyPr wrap="square" lIns="0" tIns="0" rIns="0" bIns="0" rtlCol="0" anchor="t"/>
          <a:lstStyle/>
          <a:p>
            <a:pPr algn="r" indent="0" marL="0">
              <a:buNone/>
            </a:pPr>
            <a:r>
              <a:rPr lang="en-US" sz="900" dirty="0">
                <a:solidFill>
                  <a:srgbClr val="6A6A6A"/>
                </a:solidFill>
                <a:latin typeface="IBM Plex Sans JP" pitchFamily="34" charset="0"/>
                <a:ea typeface="IBM Plex Sans JP" pitchFamily="34" charset="-122"/>
                <a:cs typeface="IBM Plex Sans JP" pitchFamily="34" charset="-120"/>
              </a:rPr>
              <a:t>36,232人</a:t>
            </a:r>
            <a:endParaRPr lang="en-US" sz="900" dirty="0"/>
          </a:p>
        </p:txBody>
      </p:sp>
      <p:sp>
        <p:nvSpPr>
          <p:cNvPr id="41" name="Shape 39"/>
          <p:cNvSpPr/>
          <p:nvPr/>
        </p:nvSpPr>
        <p:spPr>
          <a:xfrm>
            <a:off x="685800" y="4105656"/>
            <a:ext cx="10820095" cy="0"/>
          </a:xfrm>
          <a:prstGeom prst="line">
            <a:avLst/>
          </a:prstGeom>
          <a:noFill/>
          <a:ln w="6350">
            <a:solidFill>
              <a:srgbClr val="E6E4E0"/>
            </a:solidFill>
            <a:prstDash val="solid"/>
          </a:ln>
        </p:spPr>
      </p:sp>
      <p:sp>
        <p:nvSpPr>
          <p:cNvPr id="42" name="Text 40"/>
          <p:cNvSpPr/>
          <p:nvPr/>
        </p:nvSpPr>
        <p:spPr>
          <a:xfrm>
            <a:off x="685800" y="4169664"/>
            <a:ext cx="1097280" cy="274320"/>
          </a:xfrm>
          <a:prstGeom prst="rect">
            <a:avLst/>
          </a:prstGeom>
          <a:noFill/>
          <a:ln/>
        </p:spPr>
        <p:txBody>
          <a:bodyPr wrap="square" lIns="0" tIns="0" rIns="0" bIns="0" rtlCol="0" anchor="t"/>
          <a:lstStyle/>
          <a:p>
            <a:pPr indent="0" marL="0">
              <a:buNone/>
            </a:pPr>
            <a:r>
              <a:rPr lang="en-US" sz="1200" b="1" dirty="0">
                <a:solidFill>
                  <a:srgbClr val="111111"/>
                </a:solidFill>
                <a:latin typeface="IBM Plex Sans JP" pitchFamily="34" charset="0"/>
                <a:ea typeface="IBM Plex Sans JP" pitchFamily="34" charset="-122"/>
                <a:cs typeface="IBM Plex Sans JP" pitchFamily="34" charset="-120"/>
              </a:rPr>
              <a:t>大阪府</a:t>
            </a:r>
            <a:endParaRPr lang="en-US" sz="1200" dirty="0"/>
          </a:p>
        </p:txBody>
      </p:sp>
      <p:sp>
        <p:nvSpPr>
          <p:cNvPr id="43" name="Shape 41"/>
          <p:cNvSpPr/>
          <p:nvPr/>
        </p:nvSpPr>
        <p:spPr>
          <a:xfrm>
            <a:off x="1874520" y="4197096"/>
            <a:ext cx="7253935" cy="182880"/>
          </a:xfrm>
          <a:prstGeom prst="rect">
            <a:avLst/>
          </a:prstGeom>
          <a:solidFill>
            <a:srgbClr val="EFEEEA"/>
          </a:solidFill>
          <a:ln w="12700">
            <a:solidFill>
              <a:srgbClr val="EFEEEA"/>
            </a:solidFill>
            <a:prstDash val="solid"/>
          </a:ln>
        </p:spPr>
      </p:sp>
      <p:sp>
        <p:nvSpPr>
          <p:cNvPr id="44" name="Shape 42"/>
          <p:cNvSpPr/>
          <p:nvPr/>
        </p:nvSpPr>
        <p:spPr>
          <a:xfrm>
            <a:off x="1874520" y="4197096"/>
            <a:ext cx="518138" cy="182880"/>
          </a:xfrm>
          <a:prstGeom prst="rect">
            <a:avLst/>
          </a:prstGeom>
          <a:solidFill>
            <a:srgbClr val="C9C7C2"/>
          </a:solidFill>
          <a:ln w="12700">
            <a:solidFill>
              <a:srgbClr val="C9C7C2"/>
            </a:solidFill>
            <a:prstDash val="solid"/>
          </a:ln>
        </p:spPr>
      </p:sp>
      <p:sp>
        <p:nvSpPr>
          <p:cNvPr id="45" name="Text 43"/>
          <p:cNvSpPr/>
          <p:nvPr/>
        </p:nvSpPr>
        <p:spPr>
          <a:xfrm>
            <a:off x="9265615" y="4151376"/>
            <a:ext cx="1005840" cy="274320"/>
          </a:xfrm>
          <a:prstGeom prst="rect">
            <a:avLst/>
          </a:prstGeom>
          <a:noFill/>
          <a:ln/>
        </p:spPr>
        <p:txBody>
          <a:bodyPr wrap="square" lIns="0" tIns="0" rIns="0" bIns="0" rtlCol="0" anchor="t"/>
          <a:lstStyle/>
          <a:p>
            <a:pPr algn="r" indent="0" marL="0">
              <a:buNone/>
            </a:pPr>
            <a:r>
              <a:rPr lang="en-US" sz="1400" b="1" dirty="0">
                <a:solidFill>
                  <a:srgbClr val="111111"/>
                </a:solidFill>
                <a:latin typeface="IBM Plex Sans JP" pitchFamily="34" charset="0"/>
                <a:ea typeface="IBM Plex Sans JP" pitchFamily="34" charset="-122"/>
                <a:cs typeface="IBM Plex Sans JP" pitchFamily="34" charset="-120"/>
              </a:rPr>
              <a:t>1.1%</a:t>
            </a:r>
            <a:endParaRPr lang="en-US" sz="1400" dirty="0"/>
          </a:p>
        </p:txBody>
      </p:sp>
      <p:sp>
        <p:nvSpPr>
          <p:cNvPr id="46" name="Text 44"/>
          <p:cNvSpPr/>
          <p:nvPr/>
        </p:nvSpPr>
        <p:spPr>
          <a:xfrm>
            <a:off x="10362895" y="4197096"/>
            <a:ext cx="1097280" cy="274320"/>
          </a:xfrm>
          <a:prstGeom prst="rect">
            <a:avLst/>
          </a:prstGeom>
          <a:noFill/>
          <a:ln/>
        </p:spPr>
        <p:txBody>
          <a:bodyPr wrap="square" lIns="0" tIns="0" rIns="0" bIns="0" rtlCol="0" anchor="t"/>
          <a:lstStyle/>
          <a:p>
            <a:pPr algn="r" indent="0" marL="0">
              <a:buNone/>
            </a:pPr>
            <a:r>
              <a:rPr lang="en-US" sz="900" dirty="0">
                <a:solidFill>
                  <a:srgbClr val="6A6A6A"/>
                </a:solidFill>
                <a:latin typeface="IBM Plex Sans JP" pitchFamily="34" charset="0"/>
                <a:ea typeface="IBM Plex Sans JP" pitchFamily="34" charset="-122"/>
                <a:cs typeface="IBM Plex Sans JP" pitchFamily="34" charset="-120"/>
              </a:rPr>
              <a:t>36,232人</a:t>
            </a:r>
            <a:endParaRPr lang="en-US" sz="900" dirty="0"/>
          </a:p>
        </p:txBody>
      </p:sp>
      <p:sp>
        <p:nvSpPr>
          <p:cNvPr id="47" name="Shape 45"/>
          <p:cNvSpPr/>
          <p:nvPr/>
        </p:nvSpPr>
        <p:spPr>
          <a:xfrm>
            <a:off x="685800" y="4434840"/>
            <a:ext cx="10820095" cy="0"/>
          </a:xfrm>
          <a:prstGeom prst="line">
            <a:avLst/>
          </a:prstGeom>
          <a:noFill/>
          <a:ln w="6350">
            <a:solidFill>
              <a:srgbClr val="E6E4E0"/>
            </a:solidFill>
            <a:prstDash val="solid"/>
          </a:ln>
        </p:spPr>
      </p:sp>
      <p:sp>
        <p:nvSpPr>
          <p:cNvPr id="48" name="Text 46"/>
          <p:cNvSpPr/>
          <p:nvPr/>
        </p:nvSpPr>
        <p:spPr>
          <a:xfrm>
            <a:off x="685800" y="4498848"/>
            <a:ext cx="1097280" cy="274320"/>
          </a:xfrm>
          <a:prstGeom prst="rect">
            <a:avLst/>
          </a:prstGeom>
          <a:noFill/>
          <a:ln/>
        </p:spPr>
        <p:txBody>
          <a:bodyPr wrap="square" lIns="0" tIns="0" rIns="0" bIns="0" rtlCol="0" anchor="t"/>
          <a:lstStyle/>
          <a:p>
            <a:pPr indent="0" marL="0">
              <a:buNone/>
            </a:pPr>
            <a:r>
              <a:rPr lang="en-US" sz="1200" b="1" dirty="0">
                <a:solidFill>
                  <a:srgbClr val="111111"/>
                </a:solidFill>
                <a:latin typeface="IBM Plex Sans JP" pitchFamily="34" charset="0"/>
                <a:ea typeface="IBM Plex Sans JP" pitchFamily="34" charset="-122"/>
                <a:cs typeface="IBM Plex Sans JP" pitchFamily="34" charset="-120"/>
              </a:rPr>
              <a:t>東京都</a:t>
            </a:r>
            <a:endParaRPr lang="en-US" sz="1200" dirty="0"/>
          </a:p>
        </p:txBody>
      </p:sp>
      <p:sp>
        <p:nvSpPr>
          <p:cNvPr id="49" name="Shape 47"/>
          <p:cNvSpPr/>
          <p:nvPr/>
        </p:nvSpPr>
        <p:spPr>
          <a:xfrm>
            <a:off x="1874520" y="4526280"/>
            <a:ext cx="7253935" cy="182880"/>
          </a:xfrm>
          <a:prstGeom prst="rect">
            <a:avLst/>
          </a:prstGeom>
          <a:solidFill>
            <a:srgbClr val="EFEEEA"/>
          </a:solidFill>
          <a:ln w="12700">
            <a:solidFill>
              <a:srgbClr val="EFEEEA"/>
            </a:solidFill>
            <a:prstDash val="solid"/>
          </a:ln>
        </p:spPr>
      </p:sp>
      <p:sp>
        <p:nvSpPr>
          <p:cNvPr id="50" name="Shape 48"/>
          <p:cNvSpPr/>
          <p:nvPr/>
        </p:nvSpPr>
        <p:spPr>
          <a:xfrm>
            <a:off x="1874520" y="4526280"/>
            <a:ext cx="282621" cy="182880"/>
          </a:xfrm>
          <a:prstGeom prst="rect">
            <a:avLst/>
          </a:prstGeom>
          <a:solidFill>
            <a:srgbClr val="C9C7C2"/>
          </a:solidFill>
          <a:ln w="12700">
            <a:solidFill>
              <a:srgbClr val="C9C7C2"/>
            </a:solidFill>
            <a:prstDash val="solid"/>
          </a:ln>
        </p:spPr>
      </p:sp>
      <p:sp>
        <p:nvSpPr>
          <p:cNvPr id="51" name="Text 49"/>
          <p:cNvSpPr/>
          <p:nvPr/>
        </p:nvSpPr>
        <p:spPr>
          <a:xfrm>
            <a:off x="9265615" y="4480560"/>
            <a:ext cx="1005840" cy="274320"/>
          </a:xfrm>
          <a:prstGeom prst="rect">
            <a:avLst/>
          </a:prstGeom>
          <a:noFill/>
          <a:ln/>
        </p:spPr>
        <p:txBody>
          <a:bodyPr wrap="square" lIns="0" tIns="0" rIns="0" bIns="0" rtlCol="0" anchor="t"/>
          <a:lstStyle/>
          <a:p>
            <a:pPr algn="r" indent="0" marL="0">
              <a:buNone/>
            </a:pPr>
            <a:r>
              <a:rPr lang="en-US" sz="1400" b="1" dirty="0">
                <a:solidFill>
                  <a:srgbClr val="111111"/>
                </a:solidFill>
                <a:latin typeface="IBM Plex Sans JP" pitchFamily="34" charset="0"/>
                <a:ea typeface="IBM Plex Sans JP" pitchFamily="34" charset="-122"/>
                <a:cs typeface="IBM Plex Sans JP" pitchFamily="34" charset="-120"/>
              </a:rPr>
              <a:t>0.6%</a:t>
            </a:r>
            <a:endParaRPr lang="en-US" sz="1400" dirty="0"/>
          </a:p>
        </p:txBody>
      </p:sp>
      <p:sp>
        <p:nvSpPr>
          <p:cNvPr id="52" name="Text 50"/>
          <p:cNvSpPr/>
          <p:nvPr/>
        </p:nvSpPr>
        <p:spPr>
          <a:xfrm>
            <a:off x="10362895" y="4526280"/>
            <a:ext cx="1097280" cy="274320"/>
          </a:xfrm>
          <a:prstGeom prst="rect">
            <a:avLst/>
          </a:prstGeom>
          <a:noFill/>
          <a:ln/>
        </p:spPr>
        <p:txBody>
          <a:bodyPr wrap="square" lIns="0" tIns="0" rIns="0" bIns="0" rtlCol="0" anchor="t"/>
          <a:lstStyle/>
          <a:p>
            <a:pPr algn="r" indent="0" marL="0">
              <a:buNone/>
            </a:pPr>
            <a:r>
              <a:rPr lang="en-US" sz="900" dirty="0">
                <a:solidFill>
                  <a:srgbClr val="6A6A6A"/>
                </a:solidFill>
                <a:latin typeface="IBM Plex Sans JP" pitchFamily="34" charset="0"/>
                <a:ea typeface="IBM Plex Sans JP" pitchFamily="34" charset="-122"/>
                <a:cs typeface="IBM Plex Sans JP" pitchFamily="34" charset="-120"/>
              </a:rPr>
              <a:t>36,232人</a:t>
            </a:r>
            <a:endParaRPr lang="en-US" sz="900" dirty="0"/>
          </a:p>
        </p:txBody>
      </p:sp>
      <p:sp>
        <p:nvSpPr>
          <p:cNvPr id="53" name="Shape 51"/>
          <p:cNvSpPr/>
          <p:nvPr/>
        </p:nvSpPr>
        <p:spPr>
          <a:xfrm>
            <a:off x="685800" y="4764024"/>
            <a:ext cx="10820095" cy="0"/>
          </a:xfrm>
          <a:prstGeom prst="line">
            <a:avLst/>
          </a:prstGeom>
          <a:noFill/>
          <a:ln w="6350">
            <a:solidFill>
              <a:srgbClr val="E6E4E0"/>
            </a:solidFill>
            <a:prstDash val="solid"/>
          </a:ln>
        </p:spPr>
      </p:sp>
      <p:sp>
        <p:nvSpPr>
          <p:cNvPr id="54" name="Shape 52"/>
          <p:cNvSpPr/>
          <p:nvPr/>
        </p:nvSpPr>
        <p:spPr>
          <a:xfrm>
            <a:off x="685800" y="5029200"/>
            <a:ext cx="10820095" cy="640080"/>
          </a:xfrm>
          <a:prstGeom prst="rect">
            <a:avLst/>
          </a:prstGeom>
          <a:solidFill>
            <a:srgbClr val="111111"/>
          </a:solidFill>
          <a:ln w="12700">
            <a:solidFill>
              <a:srgbClr val="111111"/>
            </a:solidFill>
            <a:prstDash val="solid"/>
          </a:ln>
        </p:spPr>
      </p:sp>
      <p:sp>
        <p:nvSpPr>
          <p:cNvPr id="55" name="Text 53"/>
          <p:cNvSpPr/>
          <p:nvPr/>
        </p:nvSpPr>
        <p:spPr>
          <a:xfrm>
            <a:off x="1005840" y="5029200"/>
            <a:ext cx="10180015" cy="640080"/>
          </a:xfrm>
          <a:prstGeom prst="rect">
            <a:avLst/>
          </a:prstGeom>
          <a:noFill/>
          <a:ln/>
        </p:spPr>
        <p:txBody>
          <a:bodyPr wrap="square" lIns="0" tIns="0" rIns="0" bIns="0" rtlCol="0" anchor="ctr"/>
          <a:lstStyle/>
          <a:p>
            <a:pPr indent="0" marL="0">
              <a:buNone/>
            </a:pPr>
            <a:r>
              <a:rPr lang="en-US" sz="1200" b="1" dirty="0">
                <a:solidFill>
                  <a:srgbClr val="F19834"/>
                </a:solidFill>
                <a:latin typeface="IBM Plex Sans JP" pitchFamily="34" charset="0"/>
                <a:ea typeface="IBM Plex Sans JP" pitchFamily="34" charset="-122"/>
                <a:cs typeface="IBM Plex Sans JP" pitchFamily="34" charset="-120"/>
              </a:rPr>
              <a:t>東京の会社が同じ100万円を出しても、届くのは0.6%。</a:t>
            </a:r>
            <a:pPr indent="0" marL="0">
              <a:buNone/>
            </a:pPr>
            <a:r>
              <a:rPr lang="en-US" sz="1200" dirty="0">
                <a:solidFill>
                  <a:srgbClr val="FFFFFF"/>
                </a:solidFill>
                <a:latin typeface="IBM Plex Sans JP" pitchFamily="34" charset="0"/>
                <a:ea typeface="IBM Plex Sans JP" pitchFamily="34" charset="-122"/>
                <a:cs typeface="IBM Plex Sans JP" pitchFamily="34" charset="-120"/>
              </a:rPr>
              <a:t>　県を単位で「目立つ」ことができるのは、地域の企業だけです。</a:t>
            </a:r>
            <a:endParaRPr lang="en-US" sz="1200" dirty="0"/>
          </a:p>
        </p:txBody>
      </p:sp>
      <p:pic>
        <p:nvPicPr>
          <p:cNvPr id="56" name="Image 0" descr="/private/tmp/claude-501/-Users-hirokishirakawa/61df7724-8533-4661-9a58-fa513da8dcb2/scratchpad/deck/assets/logo-black.png">    </p:cNvPr>
          <p:cNvPicPr>
            <a:picLocks noChangeAspect="1"/>
          </p:cNvPicPr>
          <p:nvPr/>
        </p:nvPicPr>
        <p:blipFill>
          <a:blip r:embed="rId1"/>
          <a:stretch>
            <a:fillRect/>
          </a:stretch>
        </p:blipFill>
        <p:spPr>
          <a:xfrm>
            <a:off x="685800" y="6291072"/>
            <a:ext cx="868680" cy="128484"/>
          </a:xfrm>
          <a:prstGeom prst="rect">
            <a:avLst/>
          </a:prstGeom>
        </p:spPr>
      </p:pic>
      <p:sp>
        <p:nvSpPr>
          <p:cNvPr id="57" name="Text 54"/>
          <p:cNvSpPr/>
          <p:nvPr/>
        </p:nvSpPr>
        <p:spPr>
          <a:xfrm>
            <a:off x="1828800" y="6291072"/>
            <a:ext cx="5486400" cy="182880"/>
          </a:xfrm>
          <a:prstGeom prst="rect">
            <a:avLst/>
          </a:prstGeom>
          <a:noFill/>
          <a:ln/>
        </p:spPr>
        <p:txBody>
          <a:bodyPr wrap="square" lIns="0" tIns="0" rIns="0" bIns="0" rtlCol="0" anchor="t"/>
          <a:lstStyle/>
          <a:p>
            <a:pPr indent="0" marL="0">
              <a:buNone/>
            </a:pPr>
            <a:r>
              <a:rPr lang="en-US" sz="800" spc="100" kern="0" dirty="0">
                <a:solidFill>
                  <a:srgbClr val="6A6A6A"/>
                </a:solidFill>
                <a:latin typeface="IBM Plex Sans JP" pitchFamily="34" charset="0"/>
                <a:ea typeface="IBM Plex Sans JP" pitchFamily="34" charset="-122"/>
                <a:cs typeface="IBM Plex Sans JP" pitchFamily="34" charset="-120"/>
              </a:rPr>
              <a:t>Ad Arch Co., Ltd.　／　TVer Advertising Division</a:t>
            </a:r>
            <a:endParaRPr lang="en-US" sz="800" dirty="0"/>
          </a:p>
        </p:txBody>
      </p:sp>
      <p:sp>
        <p:nvSpPr>
          <p:cNvPr id="58" name="Text 55"/>
          <p:cNvSpPr/>
          <p:nvPr/>
        </p:nvSpPr>
        <p:spPr>
          <a:xfrm>
            <a:off x="7848295" y="6291072"/>
            <a:ext cx="3657600" cy="182880"/>
          </a:xfrm>
          <a:prstGeom prst="rect">
            <a:avLst/>
          </a:prstGeom>
          <a:noFill/>
          <a:ln/>
        </p:spPr>
        <p:txBody>
          <a:bodyPr wrap="square" lIns="0" tIns="0" rIns="0" bIns="0" rtlCol="0" anchor="t"/>
          <a:lstStyle/>
          <a:p>
            <a:pPr algn="r" indent="0" marL="0">
              <a:buNone/>
            </a:pPr>
            <a:r>
              <a:rPr lang="en-US" sz="800" spc="150" kern="0" dirty="0">
                <a:solidFill>
                  <a:srgbClr val="6A6A6A"/>
                </a:solidFill>
                <a:latin typeface="IBM Plex Sans JP" pitchFamily="34" charset="0"/>
                <a:ea typeface="IBM Plex Sans JP" pitchFamily="34" charset="-122"/>
                <a:cs typeface="IBM Plex Sans JP" pitchFamily="34" charset="-120"/>
              </a:rPr>
              <a:t>06 / 19　　CONFIDENTIAL</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5508"/>
            <a:ext cx="384048" cy="27432"/>
          </a:xfrm>
          <a:prstGeom prst="rect">
            <a:avLst/>
          </a:prstGeom>
          <a:solidFill>
            <a:srgbClr val="F19834"/>
          </a:solidFill>
          <a:ln w="12700">
            <a:solidFill>
              <a:srgbClr val="F19834"/>
            </a:solidFill>
            <a:prstDash val="solid"/>
          </a:ln>
        </p:spPr>
      </p:sp>
      <p:sp>
        <p:nvSpPr>
          <p:cNvPr id="3" name="Text 1"/>
          <p:cNvSpPr/>
          <p:nvPr/>
        </p:nvSpPr>
        <p:spPr>
          <a:xfrm>
            <a:off x="1188720" y="566928"/>
            <a:ext cx="6400800" cy="201168"/>
          </a:xfrm>
          <a:prstGeom prst="rect">
            <a:avLst/>
          </a:prstGeom>
          <a:noFill/>
          <a:ln/>
        </p:spPr>
        <p:txBody>
          <a:bodyPr wrap="square" lIns="0" tIns="0" rIns="0" bIns="0" rtlCol="0" anchor="t"/>
          <a:lstStyle/>
          <a:p>
            <a:pPr indent="0" marL="0">
              <a:buNone/>
            </a:pPr>
            <a:r>
              <a:rPr lang="en-US" sz="900" spc="300" kern="0" dirty="0">
                <a:solidFill>
                  <a:srgbClr val="6A6A6A"/>
                </a:solidFill>
                <a:latin typeface="IBM Plex Sans JP" pitchFamily="34" charset="0"/>
                <a:ea typeface="IBM Plex Sans JP" pitchFamily="34" charset="-122"/>
                <a:cs typeface="IBM Plex Sans JP" pitchFamily="34" charset="-120"/>
              </a:rPr>
              <a:t>05 ／ PREFECTURE PLANS</a:t>
            </a:r>
            <a:endParaRPr lang="en-US" sz="900" dirty="0"/>
          </a:p>
        </p:txBody>
      </p:sp>
      <p:sp>
        <p:nvSpPr>
          <p:cNvPr id="4" name="Text 2"/>
          <p:cNvSpPr/>
          <p:nvPr/>
        </p:nvSpPr>
        <p:spPr>
          <a:xfrm>
            <a:off x="685800" y="896112"/>
            <a:ext cx="10820095" cy="822960"/>
          </a:xfrm>
          <a:prstGeom prst="rect">
            <a:avLst/>
          </a:prstGeom>
          <a:noFill/>
          <a:ln/>
        </p:spPr>
        <p:txBody>
          <a:bodyPr wrap="square" lIns="0" tIns="0" rIns="0" bIns="0" rtlCol="0" anchor="t"/>
          <a:lstStyle/>
          <a:p>
            <a:pPr indent="0" marL="0">
              <a:lnSpc>
                <a:spcPct val="125000"/>
              </a:lnSpc>
              <a:buNone/>
            </a:pPr>
            <a:r>
              <a:rPr lang="en-US" sz="2600" b="1" dirty="0">
                <a:solidFill>
                  <a:srgbClr val="111111"/>
                </a:solidFill>
                <a:latin typeface="IBM Plex Sans JP" pitchFamily="34" charset="0"/>
                <a:ea typeface="IBM Plex Sans JP" pitchFamily="34" charset="-122"/>
                <a:cs typeface="IBM Plex Sans JP" pitchFamily="34" charset="-120"/>
              </a:rPr>
              <a:t>県別「網羅プラン」定価表</a:t>
            </a:r>
            <a:endParaRPr lang="en-US" sz="2600" dirty="0"/>
          </a:p>
        </p:txBody>
      </p:sp>
      <p:sp>
        <p:nvSpPr>
          <p:cNvPr id="5" name="Text 3"/>
          <p:cNvSpPr/>
          <p:nvPr/>
        </p:nvSpPr>
        <p:spPr>
          <a:xfrm>
            <a:off x="685800" y="1572768"/>
            <a:ext cx="10820095" cy="365760"/>
          </a:xfrm>
          <a:prstGeom prst="rect">
            <a:avLst/>
          </a:prstGeom>
          <a:noFill/>
          <a:ln/>
        </p:spPr>
        <p:txBody>
          <a:bodyPr wrap="square" lIns="0" tIns="0" rIns="0" bIns="0" rtlCol="0" anchor="t"/>
          <a:lstStyle/>
          <a:p>
            <a:pPr indent="0" marL="0">
              <a:buNone/>
            </a:pPr>
            <a:r>
              <a:rPr lang="en-US" sz="1200" dirty="0">
                <a:solidFill>
                  <a:srgbClr val="6A6A6A"/>
                </a:solidFill>
                <a:latin typeface="IBM Plex Sans JP" pitchFamily="34" charset="0"/>
                <a:ea typeface="IBM Plex Sans JP" pitchFamily="34" charset="-122"/>
                <a:cs typeface="IBM Plex Sans JP" pitchFamily="34" charset="-120"/>
              </a:rPr>
              <a:t>15秒CM（1再生 ¥6.6）／ 県内TVer視聴者の3人に1人へ平均約5回到達 ／ 1〜16位　網羅コストが低い順</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85800" y="2103120"/>
          <a:ext cx="5166360" cy="914400"/>
        </p:xfrm>
        <a:graphic>
          <a:graphicData uri="http://schemas.openxmlformats.org/drawingml/2006/table">
            <a:tbl>
              <a:tblPr/>
              <a:tblGrid>
                <a:gridCol w="411480"/>
                <a:gridCol w="1188720"/>
                <a:gridCol w="1097280"/>
                <a:gridCol w="1234440"/>
                <a:gridCol w="1234440"/>
              </a:tblGrid>
              <a:tr h="283464">
                <a:tc>
                  <a:txBody>
                    <a:bodyPr/>
                    <a:lstStyle/>
                    <a:p>
                      <a:pPr algn="ctr" indent="0" marL="0">
                        <a:buNone/>
                      </a:pP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l" indent="0" marL="0">
                        <a:buNone/>
                      </a:pPr>
                      <a:r>
                        <a:rPr lang="en-US" sz="800" dirty="0">
                          <a:solidFill>
                            <a:srgbClr val="6A6A6A"/>
                          </a:solidFill>
                          <a:latin typeface="IBM Plex Sans JP" pitchFamily="34" charset="0"/>
                          <a:ea typeface="IBM Plex Sans JP" pitchFamily="34" charset="-122"/>
                          <a:cs typeface="IBM Plex Sans JP" pitchFamily="34" charset="-120"/>
                        </a:rPr>
                        <a:t>都道府県</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県内視聴者</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月額 媒体費</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3ヶ月 総額</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1</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鳥取県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17.5万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¥720,000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¥2,160,000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2</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島根県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20.7万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¥850,000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¥2,550,000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3</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高知県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21.1万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¥870,000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¥2,610,000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4</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徳島県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22.4万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¥920,000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¥2,760,000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5</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福井県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25.3万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¥1,040,000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¥3,120,000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6</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佐賀県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26.4万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¥1,090,000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¥3,260,000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7</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山梨県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27.5万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¥1,130,000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¥3,390,000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8</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秋田県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28.1万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¥1,160,000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¥3,470,000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339535" y="2103120"/>
          <a:ext cx="5166360" cy="914400"/>
        </p:xfrm>
        <a:graphic>
          <a:graphicData uri="http://schemas.openxmlformats.org/drawingml/2006/table">
            <a:tbl>
              <a:tblPr/>
              <a:tblGrid>
                <a:gridCol w="411480"/>
                <a:gridCol w="1188720"/>
                <a:gridCol w="1097280"/>
                <a:gridCol w="1234440"/>
                <a:gridCol w="1234440"/>
              </a:tblGrid>
              <a:tr h="283464">
                <a:tc>
                  <a:txBody>
                    <a:bodyPr/>
                    <a:lstStyle/>
                    <a:p>
                      <a:pPr algn="ctr" indent="0" marL="0">
                        <a:buNone/>
                      </a:pP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l" indent="0" marL="0">
                        <a:buNone/>
                      </a:pPr>
                      <a:r>
                        <a:rPr lang="en-US" sz="800" dirty="0">
                          <a:solidFill>
                            <a:srgbClr val="6A6A6A"/>
                          </a:solidFill>
                          <a:latin typeface="IBM Plex Sans JP" pitchFamily="34" charset="0"/>
                          <a:ea typeface="IBM Plex Sans JP" pitchFamily="34" charset="-122"/>
                          <a:cs typeface="IBM Plex Sans JP" pitchFamily="34" charset="-120"/>
                        </a:rPr>
                        <a:t>都道府県</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県内視聴者</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月額 媒体費</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3ヶ月 総額</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9</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和歌山県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29.2万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¥1,200,000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¥3,600,000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10</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香川県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31.0万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¥1,280,000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¥3,830,000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11</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山形県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33.1万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¥1,360,000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¥4,090,000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12</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宮崎県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33.5万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¥1,380,000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¥4,140,000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13</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富山県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34.0万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¥1,400,000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¥4,200,000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14</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大分県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35.6万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¥1,470,000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¥4,400,000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15</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岩手県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37.8万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¥1,560,000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¥4,670,000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16</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青森県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38.4万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¥1,580,000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¥4,750,000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bl>
          </a:graphicData>
        </a:graphic>
      </p:graphicFrame>
      <p:sp>
        <p:nvSpPr>
          <p:cNvPr id="8" name="Shape 4"/>
          <p:cNvSpPr/>
          <p:nvPr/>
        </p:nvSpPr>
        <p:spPr>
          <a:xfrm>
            <a:off x="685800" y="5120640"/>
            <a:ext cx="10820095" cy="640080"/>
          </a:xfrm>
          <a:prstGeom prst="rect">
            <a:avLst/>
          </a:prstGeom>
          <a:solidFill>
            <a:srgbClr val="F7F6F4"/>
          </a:solidFill>
          <a:ln w="12700">
            <a:solidFill>
              <a:srgbClr val="F7F6F4"/>
            </a:solidFill>
            <a:prstDash val="solid"/>
          </a:ln>
        </p:spPr>
      </p:sp>
      <p:sp>
        <p:nvSpPr>
          <p:cNvPr id="9" name="Text 5"/>
          <p:cNvSpPr/>
          <p:nvPr/>
        </p:nvSpPr>
        <p:spPr>
          <a:xfrm>
            <a:off x="960120" y="5120640"/>
            <a:ext cx="10271455" cy="640080"/>
          </a:xfrm>
          <a:prstGeom prst="rect">
            <a:avLst/>
          </a:prstGeom>
          <a:noFill/>
          <a:ln/>
        </p:spPr>
        <p:txBody>
          <a:bodyPr wrap="square" lIns="0" tIns="0" rIns="0" bIns="0" rtlCol="0" anchor="ctr"/>
          <a:lstStyle/>
          <a:p>
            <a:pPr indent="0" marL="0">
              <a:lnSpc>
                <a:spcPct val="140000"/>
              </a:lnSpc>
              <a:buNone/>
            </a:pPr>
            <a:r>
              <a:rPr lang="en-US" sz="1000" b="1" dirty="0">
                <a:solidFill>
                  <a:srgbClr val="111111"/>
                </a:solidFill>
                <a:latin typeface="IBM Plex Sans JP" pitchFamily="34" charset="0"/>
                <a:ea typeface="IBM Plex Sans JP" pitchFamily="34" charset="-122"/>
                <a:cs typeface="IBM Plex Sans JP" pitchFamily="34" charset="-120"/>
              </a:rPr>
              <a:t>読み方　</a:t>
            </a:r>
            <a:pPr indent="0" marL="0">
              <a:lnSpc>
                <a:spcPct val="140000"/>
              </a:lnSpc>
              <a:buNone/>
            </a:pPr>
            <a:r>
              <a:rPr lang="en-US" sz="1000" dirty="0">
                <a:solidFill>
                  <a:srgbClr val="6A6A6A"/>
                </a:solidFill>
                <a:latin typeface="IBM Plex Sans JP" pitchFamily="34" charset="0"/>
                <a:ea typeface="IBM Plex Sans JP" pitchFamily="34" charset="-122"/>
                <a:cs typeface="IBM Plex Sans JP" pitchFamily="34" charset="-120"/>
              </a:rPr>
              <a:t>人口の少ない県ほど「県まるごと」が安く買えます。月額100万円以下で県を押さえられるのは上位4県です。県全体が広すぎる場合は、次頁の市単位プランをご覧ください。</a:t>
            </a:r>
            <a:endParaRPr lang="en-US" sz="1000" dirty="0"/>
          </a:p>
        </p:txBody>
      </p:sp>
      <p:pic>
        <p:nvPicPr>
          <p:cNvPr id="10" name="Image 0" descr="/private/tmp/claude-501/-Users-hirokishirakawa/61df7724-8533-4661-9a58-fa513da8dcb2/scratchpad/deck/assets/logo-black.png">    </p:cNvPr>
          <p:cNvPicPr>
            <a:picLocks noChangeAspect="1"/>
          </p:cNvPicPr>
          <p:nvPr/>
        </p:nvPicPr>
        <p:blipFill>
          <a:blip r:embed="rId1"/>
          <a:stretch>
            <a:fillRect/>
          </a:stretch>
        </p:blipFill>
        <p:spPr>
          <a:xfrm>
            <a:off x="685800" y="6291072"/>
            <a:ext cx="868680" cy="128484"/>
          </a:xfrm>
          <a:prstGeom prst="rect">
            <a:avLst/>
          </a:prstGeom>
        </p:spPr>
      </p:pic>
      <p:sp>
        <p:nvSpPr>
          <p:cNvPr id="11" name="Text 6"/>
          <p:cNvSpPr/>
          <p:nvPr/>
        </p:nvSpPr>
        <p:spPr>
          <a:xfrm>
            <a:off x="1828800" y="6291072"/>
            <a:ext cx="5486400" cy="182880"/>
          </a:xfrm>
          <a:prstGeom prst="rect">
            <a:avLst/>
          </a:prstGeom>
          <a:noFill/>
          <a:ln/>
        </p:spPr>
        <p:txBody>
          <a:bodyPr wrap="square" lIns="0" tIns="0" rIns="0" bIns="0" rtlCol="0" anchor="t"/>
          <a:lstStyle/>
          <a:p>
            <a:pPr indent="0" marL="0">
              <a:buNone/>
            </a:pPr>
            <a:r>
              <a:rPr lang="en-US" sz="800" spc="100" kern="0" dirty="0">
                <a:solidFill>
                  <a:srgbClr val="6A6A6A"/>
                </a:solidFill>
                <a:latin typeface="IBM Plex Sans JP" pitchFamily="34" charset="0"/>
                <a:ea typeface="IBM Plex Sans JP" pitchFamily="34" charset="-122"/>
                <a:cs typeface="IBM Plex Sans JP" pitchFamily="34" charset="-120"/>
              </a:rPr>
              <a:t>Ad Arch Co., Ltd.　／　TVer Advertising Division</a:t>
            </a:r>
            <a:endParaRPr lang="en-US" sz="800" dirty="0"/>
          </a:p>
        </p:txBody>
      </p:sp>
      <p:sp>
        <p:nvSpPr>
          <p:cNvPr id="12" name="Text 7"/>
          <p:cNvSpPr/>
          <p:nvPr/>
        </p:nvSpPr>
        <p:spPr>
          <a:xfrm>
            <a:off x="7848295" y="6291072"/>
            <a:ext cx="3657600" cy="182880"/>
          </a:xfrm>
          <a:prstGeom prst="rect">
            <a:avLst/>
          </a:prstGeom>
          <a:noFill/>
          <a:ln/>
        </p:spPr>
        <p:txBody>
          <a:bodyPr wrap="square" lIns="0" tIns="0" rIns="0" bIns="0" rtlCol="0" anchor="t"/>
          <a:lstStyle/>
          <a:p>
            <a:pPr algn="r" indent="0" marL="0">
              <a:buNone/>
            </a:pPr>
            <a:r>
              <a:rPr lang="en-US" sz="800" spc="150" kern="0" dirty="0">
                <a:solidFill>
                  <a:srgbClr val="6A6A6A"/>
                </a:solidFill>
                <a:latin typeface="IBM Plex Sans JP" pitchFamily="34" charset="0"/>
                <a:ea typeface="IBM Plex Sans JP" pitchFamily="34" charset="-122"/>
                <a:cs typeface="IBM Plex Sans JP" pitchFamily="34" charset="-120"/>
              </a:rPr>
              <a:t>07 / 19　　CONFIDENTIAL</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5508"/>
            <a:ext cx="384048" cy="27432"/>
          </a:xfrm>
          <a:prstGeom prst="rect">
            <a:avLst/>
          </a:prstGeom>
          <a:solidFill>
            <a:srgbClr val="F19834"/>
          </a:solidFill>
          <a:ln w="12700">
            <a:solidFill>
              <a:srgbClr val="F19834"/>
            </a:solidFill>
            <a:prstDash val="solid"/>
          </a:ln>
        </p:spPr>
      </p:sp>
      <p:sp>
        <p:nvSpPr>
          <p:cNvPr id="3" name="Text 1"/>
          <p:cNvSpPr/>
          <p:nvPr/>
        </p:nvSpPr>
        <p:spPr>
          <a:xfrm>
            <a:off x="1188720" y="566928"/>
            <a:ext cx="6400800" cy="201168"/>
          </a:xfrm>
          <a:prstGeom prst="rect">
            <a:avLst/>
          </a:prstGeom>
          <a:noFill/>
          <a:ln/>
        </p:spPr>
        <p:txBody>
          <a:bodyPr wrap="square" lIns="0" tIns="0" rIns="0" bIns="0" rtlCol="0" anchor="t"/>
          <a:lstStyle/>
          <a:p>
            <a:pPr indent="0" marL="0">
              <a:buNone/>
            </a:pPr>
            <a:r>
              <a:rPr lang="en-US" sz="900" spc="300" kern="0" dirty="0">
                <a:solidFill>
                  <a:srgbClr val="6A6A6A"/>
                </a:solidFill>
                <a:latin typeface="IBM Plex Sans JP" pitchFamily="34" charset="0"/>
                <a:ea typeface="IBM Plex Sans JP" pitchFamily="34" charset="-122"/>
                <a:cs typeface="IBM Plex Sans JP" pitchFamily="34" charset="-120"/>
              </a:rPr>
              <a:t>05 ／ PREFECTURE PLANS</a:t>
            </a:r>
            <a:endParaRPr lang="en-US" sz="900" dirty="0"/>
          </a:p>
        </p:txBody>
      </p:sp>
      <p:sp>
        <p:nvSpPr>
          <p:cNvPr id="4" name="Text 2"/>
          <p:cNvSpPr/>
          <p:nvPr/>
        </p:nvSpPr>
        <p:spPr>
          <a:xfrm>
            <a:off x="685800" y="896112"/>
            <a:ext cx="10820095" cy="822960"/>
          </a:xfrm>
          <a:prstGeom prst="rect">
            <a:avLst/>
          </a:prstGeom>
          <a:noFill/>
          <a:ln/>
        </p:spPr>
        <p:txBody>
          <a:bodyPr wrap="square" lIns="0" tIns="0" rIns="0" bIns="0" rtlCol="0" anchor="t"/>
          <a:lstStyle/>
          <a:p>
            <a:pPr indent="0" marL="0">
              <a:lnSpc>
                <a:spcPct val="125000"/>
              </a:lnSpc>
              <a:buNone/>
            </a:pPr>
            <a:r>
              <a:rPr lang="en-US" sz="2600" b="1" dirty="0">
                <a:solidFill>
                  <a:srgbClr val="111111"/>
                </a:solidFill>
                <a:latin typeface="IBM Plex Sans JP" pitchFamily="34" charset="0"/>
                <a:ea typeface="IBM Plex Sans JP" pitchFamily="34" charset="-122"/>
                <a:cs typeface="IBM Plex Sans JP" pitchFamily="34" charset="-120"/>
              </a:rPr>
              <a:t>県別「網羅プラン」定価表</a:t>
            </a:r>
            <a:endParaRPr lang="en-US" sz="2600" dirty="0"/>
          </a:p>
        </p:txBody>
      </p:sp>
      <p:sp>
        <p:nvSpPr>
          <p:cNvPr id="5" name="Text 3"/>
          <p:cNvSpPr/>
          <p:nvPr/>
        </p:nvSpPr>
        <p:spPr>
          <a:xfrm>
            <a:off x="685800" y="1572768"/>
            <a:ext cx="10820095" cy="365760"/>
          </a:xfrm>
          <a:prstGeom prst="rect">
            <a:avLst/>
          </a:prstGeom>
          <a:noFill/>
          <a:ln/>
        </p:spPr>
        <p:txBody>
          <a:bodyPr wrap="square" lIns="0" tIns="0" rIns="0" bIns="0" rtlCol="0" anchor="t"/>
          <a:lstStyle/>
          <a:p>
            <a:pPr indent="0" marL="0">
              <a:buNone/>
            </a:pPr>
            <a:r>
              <a:rPr lang="en-US" sz="1200" dirty="0">
                <a:solidFill>
                  <a:srgbClr val="6A6A6A"/>
                </a:solidFill>
                <a:latin typeface="IBM Plex Sans JP" pitchFamily="34" charset="0"/>
                <a:ea typeface="IBM Plex Sans JP" pitchFamily="34" charset="-122"/>
                <a:cs typeface="IBM Plex Sans JP" pitchFamily="34" charset="-120"/>
              </a:rPr>
              <a:t>15秒CM（1再生 ¥6.6）／ 県内TVer視聴者の3人に1人へ平均約5回到達 ／ 17〜32位</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85800" y="2103120"/>
          <a:ext cx="5166360" cy="914400"/>
        </p:xfrm>
        <a:graphic>
          <a:graphicData uri="http://schemas.openxmlformats.org/drawingml/2006/table">
            <a:tbl>
              <a:tblPr/>
              <a:tblGrid>
                <a:gridCol w="411480"/>
                <a:gridCol w="1188720"/>
                <a:gridCol w="1097280"/>
                <a:gridCol w="1234440"/>
                <a:gridCol w="1234440"/>
              </a:tblGrid>
              <a:tr h="283464">
                <a:tc>
                  <a:txBody>
                    <a:bodyPr/>
                    <a:lstStyle/>
                    <a:p>
                      <a:pPr algn="ctr" indent="0" marL="0">
                        <a:buNone/>
                      </a:pP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l" indent="0" marL="0">
                        <a:buNone/>
                      </a:pPr>
                      <a:r>
                        <a:rPr lang="en-US" sz="800" dirty="0">
                          <a:solidFill>
                            <a:srgbClr val="6A6A6A"/>
                          </a:solidFill>
                          <a:latin typeface="IBM Plex Sans JP" pitchFamily="34" charset="0"/>
                          <a:ea typeface="IBM Plex Sans JP" pitchFamily="34" charset="-122"/>
                          <a:cs typeface="IBM Plex Sans JP" pitchFamily="34" charset="-120"/>
                        </a:rPr>
                        <a:t>都道府県</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県内視聴者</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月額 媒体費</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3ヶ月 総額</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17</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石川県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38.6万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¥1,590,000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¥4,760,000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18</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長崎県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40.6万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¥1,670,000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¥5,010,000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19</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山口県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41.7万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¥1,720,000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¥5,150,000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20</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愛媛県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42.3万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¥1,740,000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¥5,220,000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21</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奈良県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43.7万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¥1,800,000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¥5,390,000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22</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鹿児島県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49.5万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¥2,040,000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¥6,120,000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23</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滋賀県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51.0万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¥2,100,000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¥6,300,000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24</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沖縄県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53.4万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¥2,200,000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¥6,590,000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339535" y="2103120"/>
          <a:ext cx="5166360" cy="914400"/>
        </p:xfrm>
        <a:graphic>
          <a:graphicData uri="http://schemas.openxmlformats.org/drawingml/2006/table">
            <a:tbl>
              <a:tblPr/>
              <a:tblGrid>
                <a:gridCol w="411480"/>
                <a:gridCol w="1188720"/>
                <a:gridCol w="1097280"/>
                <a:gridCol w="1234440"/>
                <a:gridCol w="1234440"/>
              </a:tblGrid>
              <a:tr h="283464">
                <a:tc>
                  <a:txBody>
                    <a:bodyPr/>
                    <a:lstStyle/>
                    <a:p>
                      <a:pPr algn="ctr" indent="0" marL="0">
                        <a:buNone/>
                      </a:pP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l" indent="0" marL="0">
                        <a:buNone/>
                      </a:pPr>
                      <a:r>
                        <a:rPr lang="en-US" sz="800" dirty="0">
                          <a:solidFill>
                            <a:srgbClr val="6A6A6A"/>
                          </a:solidFill>
                          <a:latin typeface="IBM Plex Sans JP" pitchFamily="34" charset="0"/>
                          <a:ea typeface="IBM Plex Sans JP" pitchFamily="34" charset="-122"/>
                          <a:cs typeface="IBM Plex Sans JP" pitchFamily="34" charset="-120"/>
                        </a:rPr>
                        <a:t>都道府県</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県内視聴者</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月額 媒体費</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3ヶ月 総額</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25</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熊本県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56.4万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¥2,320,000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¥6,970,000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26</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福島県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58.9万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¥2,430,000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¥7,280,000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27</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三重県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60.0万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¥2,470,000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¥7,410,000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28</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岡山県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63.4万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¥2,590,000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¥7,770,000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29</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岐阜県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66.4万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¥2,700,000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¥8,090,000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30</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群馬県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66.6万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¥2,700,000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¥8,110,000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31</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栃木県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67.1万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¥2,720,000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¥8,160,000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32</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長野県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67.4万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¥2,730,000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¥8,190,000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bl>
          </a:graphicData>
        </a:graphic>
      </p:graphicFrame>
      <p:sp>
        <p:nvSpPr>
          <p:cNvPr id="8" name="Shape 4"/>
          <p:cNvSpPr/>
          <p:nvPr/>
        </p:nvSpPr>
        <p:spPr>
          <a:xfrm>
            <a:off x="685800" y="5120640"/>
            <a:ext cx="10820095" cy="640080"/>
          </a:xfrm>
          <a:prstGeom prst="rect">
            <a:avLst/>
          </a:prstGeom>
          <a:solidFill>
            <a:srgbClr val="F7F6F4"/>
          </a:solidFill>
          <a:ln w="12700">
            <a:solidFill>
              <a:srgbClr val="F7F6F4"/>
            </a:solidFill>
            <a:prstDash val="solid"/>
          </a:ln>
        </p:spPr>
      </p:sp>
      <p:sp>
        <p:nvSpPr>
          <p:cNvPr id="9" name="Text 5"/>
          <p:cNvSpPr/>
          <p:nvPr/>
        </p:nvSpPr>
        <p:spPr>
          <a:xfrm>
            <a:off x="960120" y="5120640"/>
            <a:ext cx="10271455" cy="640080"/>
          </a:xfrm>
          <a:prstGeom prst="rect">
            <a:avLst/>
          </a:prstGeom>
          <a:noFill/>
          <a:ln/>
        </p:spPr>
        <p:txBody>
          <a:bodyPr wrap="square" lIns="0" tIns="0" rIns="0" bIns="0" rtlCol="0" anchor="ctr"/>
          <a:lstStyle/>
          <a:p>
            <a:pPr indent="0" marL="0">
              <a:lnSpc>
                <a:spcPct val="140000"/>
              </a:lnSpc>
              <a:buNone/>
            </a:pPr>
            <a:r>
              <a:rPr lang="en-US" sz="1000" b="1" dirty="0">
                <a:solidFill>
                  <a:srgbClr val="111111"/>
                </a:solidFill>
                <a:latin typeface="IBM Plex Sans JP" pitchFamily="34" charset="0"/>
                <a:ea typeface="IBM Plex Sans JP" pitchFamily="34" charset="-122"/>
                <a:cs typeface="IBM Plex Sans JP" pitchFamily="34" charset="-120"/>
              </a:rPr>
              <a:t>読み方　</a:t>
            </a:r>
            <a:pPr indent="0" marL="0">
              <a:lnSpc>
                <a:spcPct val="140000"/>
              </a:lnSpc>
              <a:buNone/>
            </a:pPr>
            <a:r>
              <a:rPr lang="en-US" sz="1000" dirty="0">
                <a:solidFill>
                  <a:srgbClr val="6A6A6A"/>
                </a:solidFill>
                <a:latin typeface="IBM Plex Sans JP" pitchFamily="34" charset="0"/>
                <a:ea typeface="IBM Plex Sans JP" pitchFamily="34" charset="-122"/>
                <a:cs typeface="IBM Plex Sans JP" pitchFamily="34" charset="-120"/>
              </a:rPr>
              <a:t>この帯は月額100〜200万円台です。商圏が県内の一部に限られる場合は、市単位の商圏網羅プラン（次頁）が適します。</a:t>
            </a:r>
            <a:endParaRPr lang="en-US" sz="1000" dirty="0"/>
          </a:p>
        </p:txBody>
      </p:sp>
      <p:pic>
        <p:nvPicPr>
          <p:cNvPr id="10" name="Image 0" descr="/private/tmp/claude-501/-Users-hirokishirakawa/61df7724-8533-4661-9a58-fa513da8dcb2/scratchpad/deck/assets/logo-black.png">    </p:cNvPr>
          <p:cNvPicPr>
            <a:picLocks noChangeAspect="1"/>
          </p:cNvPicPr>
          <p:nvPr/>
        </p:nvPicPr>
        <p:blipFill>
          <a:blip r:embed="rId1"/>
          <a:stretch>
            <a:fillRect/>
          </a:stretch>
        </p:blipFill>
        <p:spPr>
          <a:xfrm>
            <a:off x="685800" y="6291072"/>
            <a:ext cx="868680" cy="128484"/>
          </a:xfrm>
          <a:prstGeom prst="rect">
            <a:avLst/>
          </a:prstGeom>
        </p:spPr>
      </p:pic>
      <p:sp>
        <p:nvSpPr>
          <p:cNvPr id="11" name="Text 6"/>
          <p:cNvSpPr/>
          <p:nvPr/>
        </p:nvSpPr>
        <p:spPr>
          <a:xfrm>
            <a:off x="1828800" y="6291072"/>
            <a:ext cx="5486400" cy="182880"/>
          </a:xfrm>
          <a:prstGeom prst="rect">
            <a:avLst/>
          </a:prstGeom>
          <a:noFill/>
          <a:ln/>
        </p:spPr>
        <p:txBody>
          <a:bodyPr wrap="square" lIns="0" tIns="0" rIns="0" bIns="0" rtlCol="0" anchor="t"/>
          <a:lstStyle/>
          <a:p>
            <a:pPr indent="0" marL="0">
              <a:buNone/>
            </a:pPr>
            <a:r>
              <a:rPr lang="en-US" sz="800" spc="100" kern="0" dirty="0">
                <a:solidFill>
                  <a:srgbClr val="6A6A6A"/>
                </a:solidFill>
                <a:latin typeface="IBM Plex Sans JP" pitchFamily="34" charset="0"/>
                <a:ea typeface="IBM Plex Sans JP" pitchFamily="34" charset="-122"/>
                <a:cs typeface="IBM Plex Sans JP" pitchFamily="34" charset="-120"/>
              </a:rPr>
              <a:t>Ad Arch Co., Ltd.　／　TVer Advertising Division</a:t>
            </a:r>
            <a:endParaRPr lang="en-US" sz="800" dirty="0"/>
          </a:p>
        </p:txBody>
      </p:sp>
      <p:sp>
        <p:nvSpPr>
          <p:cNvPr id="12" name="Text 7"/>
          <p:cNvSpPr/>
          <p:nvPr/>
        </p:nvSpPr>
        <p:spPr>
          <a:xfrm>
            <a:off x="7848295" y="6291072"/>
            <a:ext cx="3657600" cy="182880"/>
          </a:xfrm>
          <a:prstGeom prst="rect">
            <a:avLst/>
          </a:prstGeom>
          <a:noFill/>
          <a:ln/>
        </p:spPr>
        <p:txBody>
          <a:bodyPr wrap="square" lIns="0" tIns="0" rIns="0" bIns="0" rtlCol="0" anchor="t"/>
          <a:lstStyle/>
          <a:p>
            <a:pPr algn="r" indent="0" marL="0">
              <a:buNone/>
            </a:pPr>
            <a:r>
              <a:rPr lang="en-US" sz="800" spc="150" kern="0" dirty="0">
                <a:solidFill>
                  <a:srgbClr val="6A6A6A"/>
                </a:solidFill>
                <a:latin typeface="IBM Plex Sans JP" pitchFamily="34" charset="0"/>
                <a:ea typeface="IBM Plex Sans JP" pitchFamily="34" charset="-122"/>
                <a:cs typeface="IBM Plex Sans JP" pitchFamily="34" charset="-120"/>
              </a:rPr>
              <a:t>08 / 19　　CONFIDENTIAL</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5508"/>
            <a:ext cx="384048" cy="27432"/>
          </a:xfrm>
          <a:prstGeom prst="rect">
            <a:avLst/>
          </a:prstGeom>
          <a:solidFill>
            <a:srgbClr val="F19834"/>
          </a:solidFill>
          <a:ln w="12700">
            <a:solidFill>
              <a:srgbClr val="F19834"/>
            </a:solidFill>
            <a:prstDash val="solid"/>
          </a:ln>
        </p:spPr>
      </p:sp>
      <p:sp>
        <p:nvSpPr>
          <p:cNvPr id="3" name="Text 1"/>
          <p:cNvSpPr/>
          <p:nvPr/>
        </p:nvSpPr>
        <p:spPr>
          <a:xfrm>
            <a:off x="1188720" y="566928"/>
            <a:ext cx="6400800" cy="201168"/>
          </a:xfrm>
          <a:prstGeom prst="rect">
            <a:avLst/>
          </a:prstGeom>
          <a:noFill/>
          <a:ln/>
        </p:spPr>
        <p:txBody>
          <a:bodyPr wrap="square" lIns="0" tIns="0" rIns="0" bIns="0" rtlCol="0" anchor="t"/>
          <a:lstStyle/>
          <a:p>
            <a:pPr indent="0" marL="0">
              <a:buNone/>
            </a:pPr>
            <a:r>
              <a:rPr lang="en-US" sz="900" spc="300" kern="0" dirty="0">
                <a:solidFill>
                  <a:srgbClr val="6A6A6A"/>
                </a:solidFill>
                <a:latin typeface="IBM Plex Sans JP" pitchFamily="34" charset="0"/>
                <a:ea typeface="IBM Plex Sans JP" pitchFamily="34" charset="-122"/>
                <a:cs typeface="IBM Plex Sans JP" pitchFamily="34" charset="-120"/>
              </a:rPr>
              <a:t>05 ／ PREFECTURE PLANS</a:t>
            </a:r>
            <a:endParaRPr lang="en-US" sz="900" dirty="0"/>
          </a:p>
        </p:txBody>
      </p:sp>
      <p:sp>
        <p:nvSpPr>
          <p:cNvPr id="4" name="Text 2"/>
          <p:cNvSpPr/>
          <p:nvPr/>
        </p:nvSpPr>
        <p:spPr>
          <a:xfrm>
            <a:off x="685800" y="896112"/>
            <a:ext cx="10820095" cy="822960"/>
          </a:xfrm>
          <a:prstGeom prst="rect">
            <a:avLst/>
          </a:prstGeom>
          <a:noFill/>
          <a:ln/>
        </p:spPr>
        <p:txBody>
          <a:bodyPr wrap="square" lIns="0" tIns="0" rIns="0" bIns="0" rtlCol="0" anchor="t"/>
          <a:lstStyle/>
          <a:p>
            <a:pPr indent="0" marL="0">
              <a:lnSpc>
                <a:spcPct val="125000"/>
              </a:lnSpc>
              <a:buNone/>
            </a:pPr>
            <a:r>
              <a:rPr lang="en-US" sz="2600" b="1" dirty="0">
                <a:solidFill>
                  <a:srgbClr val="111111"/>
                </a:solidFill>
                <a:latin typeface="IBM Plex Sans JP" pitchFamily="34" charset="0"/>
                <a:ea typeface="IBM Plex Sans JP" pitchFamily="34" charset="-122"/>
                <a:cs typeface="IBM Plex Sans JP" pitchFamily="34" charset="-120"/>
              </a:rPr>
              <a:t>県別「網羅プラン」定価表</a:t>
            </a:r>
            <a:endParaRPr lang="en-US" sz="2600" dirty="0"/>
          </a:p>
        </p:txBody>
      </p:sp>
      <p:sp>
        <p:nvSpPr>
          <p:cNvPr id="5" name="Text 3"/>
          <p:cNvSpPr/>
          <p:nvPr/>
        </p:nvSpPr>
        <p:spPr>
          <a:xfrm>
            <a:off x="685800" y="1572768"/>
            <a:ext cx="10820095" cy="365760"/>
          </a:xfrm>
          <a:prstGeom prst="rect">
            <a:avLst/>
          </a:prstGeom>
          <a:noFill/>
          <a:ln/>
        </p:spPr>
        <p:txBody>
          <a:bodyPr wrap="square" lIns="0" tIns="0" rIns="0" bIns="0" rtlCol="0" anchor="t"/>
          <a:lstStyle/>
          <a:p>
            <a:pPr indent="0" marL="0">
              <a:buNone/>
            </a:pPr>
            <a:r>
              <a:rPr lang="en-US" sz="1200" dirty="0">
                <a:solidFill>
                  <a:srgbClr val="6A6A6A"/>
                </a:solidFill>
                <a:latin typeface="IBM Plex Sans JP" pitchFamily="34" charset="0"/>
                <a:ea typeface="IBM Plex Sans JP" pitchFamily="34" charset="-122"/>
                <a:cs typeface="IBM Plex Sans JP" pitchFamily="34" charset="-120"/>
              </a:rPr>
              <a:t>15秒CM（1再生 ¥6.6）／ 県内TVer視聴者の3人に1人へ平均約5回到達 ／ 33〜47位</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 y="2103120"/>
          <a:ext cx="5166360" cy="914400"/>
        </p:xfrm>
        <a:graphic>
          <a:graphicData uri="http://schemas.openxmlformats.org/drawingml/2006/table">
            <a:tbl>
              <a:tblPr/>
              <a:tblGrid>
                <a:gridCol w="411480"/>
                <a:gridCol w="1188720"/>
                <a:gridCol w="1097280"/>
                <a:gridCol w="1234440"/>
                <a:gridCol w="1234440"/>
              </a:tblGrid>
              <a:tr h="283464">
                <a:tc>
                  <a:txBody>
                    <a:bodyPr/>
                    <a:lstStyle/>
                    <a:p>
                      <a:pPr algn="ctr" indent="0" marL="0">
                        <a:buNone/>
                      </a:pP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l" indent="0" marL="0">
                        <a:buNone/>
                      </a:pPr>
                      <a:r>
                        <a:rPr lang="en-US" sz="800" dirty="0">
                          <a:solidFill>
                            <a:srgbClr val="6A6A6A"/>
                          </a:solidFill>
                          <a:latin typeface="IBM Plex Sans JP" pitchFamily="34" charset="0"/>
                          <a:ea typeface="IBM Plex Sans JP" pitchFamily="34" charset="-122"/>
                          <a:cs typeface="IBM Plex Sans JP" pitchFamily="34" charset="-120"/>
                        </a:rPr>
                        <a:t>都道府県</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県内視聴者</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月額 媒体費</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3ヶ月 総額</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33</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新潟県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70.5万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¥2,840,000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¥8,510,000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34</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宮城県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81.2万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¥3,190,000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¥9,580,000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35</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京都府</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91.1万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¥3,500,000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¥10,500,000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36</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広島県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95.1万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¥3,620,000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¥10,870,000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37</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茨城県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99.2万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¥3,740,000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¥11,230,000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38</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静岡県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123.4万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¥4,390,000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¥13,180,000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39</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北海道</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173.9万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¥5,430,000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¥16,280,000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40</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福岡県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182.1万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¥5,590,000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¥16,760,000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bl>
          </a:graphicData>
        </a:graphic>
      </p:graphicFrame>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339535" y="2103120"/>
          <a:ext cx="5166360" cy="914400"/>
        </p:xfrm>
        <a:graphic>
          <a:graphicData uri="http://schemas.openxmlformats.org/drawingml/2006/table">
            <a:tbl>
              <a:tblPr/>
              <a:tblGrid>
                <a:gridCol w="411480"/>
                <a:gridCol w="1188720"/>
                <a:gridCol w="1097280"/>
                <a:gridCol w="1234440"/>
                <a:gridCol w="1234440"/>
              </a:tblGrid>
              <a:tr h="283464">
                <a:tc>
                  <a:txBody>
                    <a:bodyPr/>
                    <a:lstStyle/>
                    <a:p>
                      <a:pPr algn="ctr" indent="0" marL="0">
                        <a:buNone/>
                      </a:pP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l" indent="0" marL="0">
                        <a:buNone/>
                      </a:pPr>
                      <a:r>
                        <a:rPr lang="en-US" sz="800" dirty="0">
                          <a:solidFill>
                            <a:srgbClr val="6A6A6A"/>
                          </a:solidFill>
                          <a:latin typeface="IBM Plex Sans JP" pitchFamily="34" charset="0"/>
                          <a:ea typeface="IBM Plex Sans JP" pitchFamily="34" charset="-122"/>
                          <a:cs typeface="IBM Plex Sans JP" pitchFamily="34" charset="-120"/>
                        </a:rPr>
                        <a:t>都道府県</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県内視聴者</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月額 媒体費</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3ヶ月 総額</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41</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兵庫県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188.7万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¥5,790,000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¥17,360,000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42</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千葉県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230.6万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¥7,070,000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¥21,220,000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43</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埼玉県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272.8万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¥8,370,000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¥25,100,000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44</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愛知県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280.5万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¥8,600,000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¥25,800,000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45</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大阪府</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325.6万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¥9,990,000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¥29,960,000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46</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神奈川県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352.7万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¥10,820,000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¥32,450,000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83464">
                <a:tc>
                  <a:txBody>
                    <a:bodyPr/>
                    <a:lstStyle/>
                    <a:p>
                      <a:pPr algn="ctr" indent="0" marL="0">
                        <a:buNone/>
                      </a:pPr>
                      <a:r>
                        <a:rPr lang="en-US" sz="800" dirty="0">
                          <a:solidFill>
                            <a:srgbClr val="6A6A6A"/>
                          </a:solidFill>
                          <a:latin typeface="IBM Plex Sans JP" pitchFamily="34" charset="0"/>
                          <a:ea typeface="IBM Plex Sans JP" pitchFamily="34" charset="-122"/>
                          <a:cs typeface="IBM Plex Sans JP" pitchFamily="34" charset="-120"/>
                        </a:rPr>
                        <a:t>47</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東京都</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574.1万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¥17,610,000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¥52,820,000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bl>
          </a:graphicData>
        </a:graphic>
      </p:graphicFrame>
      <p:sp>
        <p:nvSpPr>
          <p:cNvPr id="8" name="Shape 4"/>
          <p:cNvSpPr/>
          <p:nvPr/>
        </p:nvSpPr>
        <p:spPr>
          <a:xfrm>
            <a:off x="685800" y="5120640"/>
            <a:ext cx="10820095" cy="640080"/>
          </a:xfrm>
          <a:prstGeom prst="rect">
            <a:avLst/>
          </a:prstGeom>
          <a:solidFill>
            <a:srgbClr val="F7F6F4"/>
          </a:solidFill>
          <a:ln w="12700">
            <a:solidFill>
              <a:srgbClr val="F7F6F4"/>
            </a:solidFill>
            <a:prstDash val="solid"/>
          </a:ln>
        </p:spPr>
      </p:sp>
      <p:sp>
        <p:nvSpPr>
          <p:cNvPr id="9" name="Text 5"/>
          <p:cNvSpPr/>
          <p:nvPr/>
        </p:nvSpPr>
        <p:spPr>
          <a:xfrm>
            <a:off x="960120" y="5120640"/>
            <a:ext cx="10271455" cy="640080"/>
          </a:xfrm>
          <a:prstGeom prst="rect">
            <a:avLst/>
          </a:prstGeom>
          <a:noFill/>
          <a:ln/>
        </p:spPr>
        <p:txBody>
          <a:bodyPr wrap="square" lIns="0" tIns="0" rIns="0" bIns="0" rtlCol="0" anchor="ctr"/>
          <a:lstStyle/>
          <a:p>
            <a:pPr indent="0" marL="0">
              <a:lnSpc>
                <a:spcPct val="140000"/>
              </a:lnSpc>
              <a:buNone/>
            </a:pPr>
            <a:r>
              <a:rPr lang="en-US" sz="1000" b="1" dirty="0">
                <a:solidFill>
                  <a:srgbClr val="111111"/>
                </a:solidFill>
                <a:latin typeface="IBM Plex Sans JP" pitchFamily="34" charset="0"/>
                <a:ea typeface="IBM Plex Sans JP" pitchFamily="34" charset="-122"/>
                <a:cs typeface="IBM Plex Sans JP" pitchFamily="34" charset="-120"/>
              </a:rPr>
              <a:t>読み方　</a:t>
            </a:r>
            <a:pPr indent="0" marL="0">
              <a:lnSpc>
                <a:spcPct val="140000"/>
              </a:lnSpc>
              <a:buNone/>
            </a:pPr>
            <a:r>
              <a:rPr lang="en-US" sz="1000" dirty="0">
                <a:solidFill>
                  <a:srgbClr val="6A6A6A"/>
                </a:solidFill>
                <a:latin typeface="IBM Plex Sans JP" pitchFamily="34" charset="0"/>
                <a:ea typeface="IBM Plex Sans JP" pitchFamily="34" charset="-122"/>
                <a:cs typeface="IBM Plex Sans JP" pitchFamily="34" charset="-120"/>
              </a:rPr>
              <a:t>都市部は県単位の網羅に大きな予算を要します。市区町村単位の商圏網羅、または標準プランが現実的です。</a:t>
            </a:r>
            <a:endParaRPr lang="en-US" sz="1000" dirty="0"/>
          </a:p>
        </p:txBody>
      </p:sp>
      <p:pic>
        <p:nvPicPr>
          <p:cNvPr id="10" name="Image 0" descr="/private/tmp/claude-501/-Users-hirokishirakawa/61df7724-8533-4661-9a58-fa513da8dcb2/scratchpad/deck/assets/logo-black.png">    </p:cNvPr>
          <p:cNvPicPr>
            <a:picLocks noChangeAspect="1"/>
          </p:cNvPicPr>
          <p:nvPr/>
        </p:nvPicPr>
        <p:blipFill>
          <a:blip r:embed="rId1"/>
          <a:stretch>
            <a:fillRect/>
          </a:stretch>
        </p:blipFill>
        <p:spPr>
          <a:xfrm>
            <a:off x="685800" y="6291072"/>
            <a:ext cx="868680" cy="128484"/>
          </a:xfrm>
          <a:prstGeom prst="rect">
            <a:avLst/>
          </a:prstGeom>
        </p:spPr>
      </p:pic>
      <p:sp>
        <p:nvSpPr>
          <p:cNvPr id="11" name="Text 6"/>
          <p:cNvSpPr/>
          <p:nvPr/>
        </p:nvSpPr>
        <p:spPr>
          <a:xfrm>
            <a:off x="1828800" y="6291072"/>
            <a:ext cx="5486400" cy="182880"/>
          </a:xfrm>
          <a:prstGeom prst="rect">
            <a:avLst/>
          </a:prstGeom>
          <a:noFill/>
          <a:ln/>
        </p:spPr>
        <p:txBody>
          <a:bodyPr wrap="square" lIns="0" tIns="0" rIns="0" bIns="0" rtlCol="0" anchor="t"/>
          <a:lstStyle/>
          <a:p>
            <a:pPr indent="0" marL="0">
              <a:buNone/>
            </a:pPr>
            <a:r>
              <a:rPr lang="en-US" sz="800" spc="100" kern="0" dirty="0">
                <a:solidFill>
                  <a:srgbClr val="6A6A6A"/>
                </a:solidFill>
                <a:latin typeface="IBM Plex Sans JP" pitchFamily="34" charset="0"/>
                <a:ea typeface="IBM Plex Sans JP" pitchFamily="34" charset="-122"/>
                <a:cs typeface="IBM Plex Sans JP" pitchFamily="34" charset="-120"/>
              </a:rPr>
              <a:t>Ad Arch Co., Ltd.　／　TVer Advertising Division</a:t>
            </a:r>
            <a:endParaRPr lang="en-US" sz="800" dirty="0"/>
          </a:p>
        </p:txBody>
      </p:sp>
      <p:sp>
        <p:nvSpPr>
          <p:cNvPr id="12" name="Text 7"/>
          <p:cNvSpPr/>
          <p:nvPr/>
        </p:nvSpPr>
        <p:spPr>
          <a:xfrm>
            <a:off x="7848295" y="6291072"/>
            <a:ext cx="3657600" cy="182880"/>
          </a:xfrm>
          <a:prstGeom prst="rect">
            <a:avLst/>
          </a:prstGeom>
          <a:noFill/>
          <a:ln/>
        </p:spPr>
        <p:txBody>
          <a:bodyPr wrap="square" lIns="0" tIns="0" rIns="0" bIns="0" rtlCol="0" anchor="t"/>
          <a:lstStyle/>
          <a:p>
            <a:pPr algn="r" indent="0" marL="0">
              <a:buNone/>
            </a:pPr>
            <a:r>
              <a:rPr lang="en-US" sz="800" spc="150" kern="0" dirty="0">
                <a:solidFill>
                  <a:srgbClr val="6A6A6A"/>
                </a:solidFill>
                <a:latin typeface="IBM Plex Sans JP" pitchFamily="34" charset="0"/>
                <a:ea typeface="IBM Plex Sans JP" pitchFamily="34" charset="-122"/>
                <a:cs typeface="IBM Plex Sans JP" pitchFamily="34" charset="-120"/>
              </a:rPr>
              <a:t>09 / 19　　CONFIDENTIAL</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5508"/>
            <a:ext cx="384048" cy="27432"/>
          </a:xfrm>
          <a:prstGeom prst="rect">
            <a:avLst/>
          </a:prstGeom>
          <a:solidFill>
            <a:srgbClr val="F19834"/>
          </a:solidFill>
          <a:ln w="12700">
            <a:solidFill>
              <a:srgbClr val="F19834"/>
            </a:solidFill>
            <a:prstDash val="solid"/>
          </a:ln>
        </p:spPr>
      </p:sp>
      <p:sp>
        <p:nvSpPr>
          <p:cNvPr id="3" name="Text 1"/>
          <p:cNvSpPr/>
          <p:nvPr/>
        </p:nvSpPr>
        <p:spPr>
          <a:xfrm>
            <a:off x="1188720" y="566928"/>
            <a:ext cx="6400800" cy="201168"/>
          </a:xfrm>
          <a:prstGeom prst="rect">
            <a:avLst/>
          </a:prstGeom>
          <a:noFill/>
          <a:ln/>
        </p:spPr>
        <p:txBody>
          <a:bodyPr wrap="square" lIns="0" tIns="0" rIns="0" bIns="0" rtlCol="0" anchor="t"/>
          <a:lstStyle/>
          <a:p>
            <a:pPr indent="0" marL="0">
              <a:buNone/>
            </a:pPr>
            <a:r>
              <a:rPr lang="en-US" sz="900" spc="300" kern="0" dirty="0">
                <a:solidFill>
                  <a:srgbClr val="6A6A6A"/>
                </a:solidFill>
                <a:latin typeface="IBM Plex Sans JP" pitchFamily="34" charset="0"/>
                <a:ea typeface="IBM Plex Sans JP" pitchFamily="34" charset="-122"/>
                <a:cs typeface="IBM Plex Sans JP" pitchFamily="34" charset="-120"/>
              </a:rPr>
              <a:t>06 ／ CITY PLANS</a:t>
            </a:r>
            <a:endParaRPr lang="en-US" sz="900" dirty="0"/>
          </a:p>
        </p:txBody>
      </p:sp>
      <p:sp>
        <p:nvSpPr>
          <p:cNvPr id="4" name="Text 2"/>
          <p:cNvSpPr/>
          <p:nvPr/>
        </p:nvSpPr>
        <p:spPr>
          <a:xfrm>
            <a:off x="685800" y="896112"/>
            <a:ext cx="10820095" cy="822960"/>
          </a:xfrm>
          <a:prstGeom prst="rect">
            <a:avLst/>
          </a:prstGeom>
          <a:noFill/>
          <a:ln/>
        </p:spPr>
        <p:txBody>
          <a:bodyPr wrap="square" lIns="0" tIns="0" rIns="0" bIns="0" rtlCol="0" anchor="t"/>
          <a:lstStyle/>
          <a:p>
            <a:pPr indent="0" marL="0">
              <a:lnSpc>
                <a:spcPct val="125000"/>
              </a:lnSpc>
              <a:buNone/>
            </a:pPr>
            <a:r>
              <a:rPr lang="en-US" sz="2600" b="1" dirty="0">
                <a:solidFill>
                  <a:srgbClr val="111111"/>
                </a:solidFill>
                <a:latin typeface="IBM Plex Sans JP" pitchFamily="34" charset="0"/>
                <a:ea typeface="IBM Plex Sans JP" pitchFamily="34" charset="-122"/>
                <a:cs typeface="IBM Plex Sans JP" pitchFamily="34" charset="-120"/>
              </a:rPr>
              <a:t>市別「商圏網羅プラン」定価表</a:t>
            </a:r>
            <a:endParaRPr lang="en-US" sz="2600" dirty="0"/>
          </a:p>
        </p:txBody>
      </p:sp>
      <p:sp>
        <p:nvSpPr>
          <p:cNvPr id="5" name="Text 3"/>
          <p:cNvSpPr/>
          <p:nvPr/>
        </p:nvSpPr>
        <p:spPr>
          <a:xfrm>
            <a:off x="685800" y="1572768"/>
            <a:ext cx="10820095" cy="365760"/>
          </a:xfrm>
          <a:prstGeom prst="rect">
            <a:avLst/>
          </a:prstGeom>
          <a:noFill/>
          <a:ln/>
        </p:spPr>
        <p:txBody>
          <a:bodyPr wrap="square" lIns="0" tIns="0" rIns="0" bIns="0" rtlCol="0" anchor="t"/>
          <a:lstStyle/>
          <a:p>
            <a:pPr indent="0" marL="0">
              <a:buNone/>
            </a:pPr>
            <a:r>
              <a:rPr lang="en-US" sz="1200" dirty="0">
                <a:solidFill>
                  <a:srgbClr val="6A6A6A"/>
                </a:solidFill>
                <a:latin typeface="IBM Plex Sans JP" pitchFamily="34" charset="0"/>
                <a:ea typeface="IBM Plex Sans JP" pitchFamily="34" charset="-122"/>
                <a:cs typeface="IBM Plex Sans JP" pitchFamily="34" charset="-120"/>
              </a:rPr>
              <a:t>15秒CM（1再生 ¥6.6）／ 市内視聴者の3人に1人へ平均約5回到達 ／ 標準3ヶ月</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5800" y="2103120"/>
          <a:ext cx="6583680" cy="914400"/>
        </p:xfrm>
        <a:graphic>
          <a:graphicData uri="http://schemas.openxmlformats.org/drawingml/2006/table">
            <a:tbl>
              <a:tblPr/>
              <a:tblGrid>
                <a:gridCol w="1280160"/>
                <a:gridCol w="822960"/>
                <a:gridCol w="1051560"/>
                <a:gridCol w="1051560"/>
                <a:gridCol w="1188720"/>
                <a:gridCol w="1188720"/>
              </a:tblGrid>
              <a:tr h="274320">
                <a:tc>
                  <a:txBody>
                    <a:bodyPr/>
                    <a:lstStyle/>
                    <a:p>
                      <a:pPr algn="l" indent="0" marL="0">
                        <a:buNone/>
                      </a:pPr>
                      <a:r>
                        <a:rPr lang="en-US" sz="800" dirty="0">
                          <a:solidFill>
                            <a:srgbClr val="6A6A6A"/>
                          </a:solidFill>
                          <a:latin typeface="IBM Plex Sans JP" pitchFamily="34" charset="0"/>
                          <a:ea typeface="IBM Plex Sans JP" pitchFamily="34" charset="-122"/>
                          <a:cs typeface="IBM Plex Sans JP" pitchFamily="34" charset="-120"/>
                        </a:rPr>
                        <a:t>市の人口</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該当</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市内視聴者</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到達人数</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月額 媒体費</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3ヶ月 総額</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r>
              <a:tr h="274320">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3万人未満</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128市</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0.8万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0.3万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¥30,000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¥100,000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74320">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3万〜5万人</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175市</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1.4万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0.5万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¥60,000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¥170,000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74320">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5万〜10万人</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235市</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2.5万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0.8万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¥100,000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¥310,000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74320">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10万〜20万人</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145市</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4.9万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1.6万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¥200,000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¥610,000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74320">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20万〜30万人</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48市</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8.7万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2.9万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¥360,000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¥1,075,000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74320">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30万〜50万人</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49市</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13.8万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4.6万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¥570,000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¥1,710,000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74320">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50万〜100万人</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24市</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24.2万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8.1万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¥995,000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¥2,985,000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74320">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100万人以上</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11市</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57.5万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19.2万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¥2,370,000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¥7,100,000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bl>
          </a:graphicData>
        </a:graphic>
      </p:graphicFrame>
      <p:sp>
        <p:nvSpPr>
          <p:cNvPr id="7" name="Text 4"/>
          <p:cNvSpPr/>
          <p:nvPr/>
        </p:nvSpPr>
        <p:spPr>
          <a:xfrm>
            <a:off x="7726680" y="2103120"/>
            <a:ext cx="3779215" cy="228600"/>
          </a:xfrm>
          <a:prstGeom prst="rect">
            <a:avLst/>
          </a:prstGeom>
          <a:noFill/>
          <a:ln/>
        </p:spPr>
        <p:txBody>
          <a:bodyPr wrap="square" lIns="0" tIns="0" rIns="0" bIns="0" rtlCol="0" anchor="t"/>
          <a:lstStyle/>
          <a:p>
            <a:pPr indent="0" marL="0">
              <a:buNone/>
            </a:pPr>
            <a:r>
              <a:rPr lang="en-US" sz="900" b="1" spc="200" kern="0" dirty="0">
                <a:solidFill>
                  <a:srgbClr val="D97F18"/>
                </a:solidFill>
                <a:latin typeface="IBM Plex Sans JP" pitchFamily="34" charset="0"/>
                <a:ea typeface="IBM Plex Sans JP" pitchFamily="34" charset="-122"/>
                <a:cs typeface="IBM Plex Sans JP" pitchFamily="34" charset="-120"/>
              </a:rPr>
              <a:t>実在する市の例</a:t>
            </a:r>
            <a:endParaRPr lang="en-US" sz="900" dirty="0"/>
          </a:p>
        </p:txBody>
      </p:sp>
      <p:sp>
        <p:nvSpPr>
          <p:cNvPr id="8" name="Shape 5"/>
          <p:cNvSpPr/>
          <p:nvPr/>
        </p:nvSpPr>
        <p:spPr>
          <a:xfrm>
            <a:off x="7726680" y="2395728"/>
            <a:ext cx="3779215" cy="0"/>
          </a:xfrm>
          <a:prstGeom prst="line">
            <a:avLst/>
          </a:prstGeom>
          <a:noFill/>
          <a:ln w="6350">
            <a:solidFill>
              <a:srgbClr val="E6E4E0"/>
            </a:solidFill>
            <a:prstDash val="solid"/>
          </a:ln>
        </p:spPr>
      </p:sp>
      <p:sp>
        <p:nvSpPr>
          <p:cNvPr id="9" name="Text 6"/>
          <p:cNvSpPr/>
          <p:nvPr/>
        </p:nvSpPr>
        <p:spPr>
          <a:xfrm>
            <a:off x="7726680" y="2459736"/>
            <a:ext cx="2377440" cy="228600"/>
          </a:xfrm>
          <a:prstGeom prst="rect">
            <a:avLst/>
          </a:prstGeom>
          <a:noFill/>
          <a:ln/>
        </p:spPr>
        <p:txBody>
          <a:bodyPr wrap="square" lIns="0" tIns="0" rIns="0" bIns="0" rtlCol="0" anchor="t"/>
          <a:lstStyle/>
          <a:p>
            <a:pPr indent="0" marL="0">
              <a:buNone/>
            </a:pPr>
            <a:r>
              <a:rPr lang="en-US" sz="1100" b="1" dirty="0">
                <a:solidFill>
                  <a:srgbClr val="111111"/>
                </a:solidFill>
                <a:latin typeface="IBM Plex Sans JP" pitchFamily="34" charset="0"/>
                <a:ea typeface="IBM Plex Sans JP" pitchFamily="34" charset="-122"/>
                <a:cs typeface="IBM Plex Sans JP" pitchFamily="34" charset="-120"/>
              </a:rPr>
              <a:t>かすみがうら市</a:t>
            </a:r>
            <a:endParaRPr lang="en-US" sz="1100" dirty="0"/>
          </a:p>
        </p:txBody>
      </p:sp>
      <p:sp>
        <p:nvSpPr>
          <p:cNvPr id="10" name="Text 7"/>
          <p:cNvSpPr/>
          <p:nvPr/>
        </p:nvSpPr>
        <p:spPr>
          <a:xfrm>
            <a:off x="7726680" y="2642616"/>
            <a:ext cx="2377440" cy="182880"/>
          </a:xfrm>
          <a:prstGeom prst="rect">
            <a:avLst/>
          </a:prstGeom>
          <a:noFill/>
          <a:ln/>
        </p:spPr>
        <p:txBody>
          <a:bodyPr wrap="square" lIns="0" tIns="0" rIns="0" bIns="0" rtlCol="0" anchor="t"/>
          <a:lstStyle/>
          <a:p>
            <a:pPr indent="0" marL="0">
              <a:buNone/>
            </a:pPr>
            <a:r>
              <a:rPr lang="en-US" sz="750" dirty="0">
                <a:solidFill>
                  <a:srgbClr val="6A6A6A"/>
                </a:solidFill>
                <a:latin typeface="IBM Plex Sans JP" pitchFamily="34" charset="0"/>
                <a:ea typeface="IBM Plex Sans JP" pitchFamily="34" charset="-122"/>
                <a:cs typeface="IBM Plex Sans JP" pitchFamily="34" charset="-120"/>
              </a:rPr>
              <a:t>茨城県　39,893人</a:t>
            </a:r>
            <a:endParaRPr lang="en-US" sz="750" dirty="0"/>
          </a:p>
        </p:txBody>
      </p:sp>
      <p:sp>
        <p:nvSpPr>
          <p:cNvPr id="11" name="Text 8"/>
          <p:cNvSpPr/>
          <p:nvPr/>
        </p:nvSpPr>
        <p:spPr>
          <a:xfrm>
            <a:off x="9921240" y="2459736"/>
            <a:ext cx="1584655" cy="274320"/>
          </a:xfrm>
          <a:prstGeom prst="rect">
            <a:avLst/>
          </a:prstGeom>
          <a:noFill/>
          <a:ln/>
        </p:spPr>
        <p:txBody>
          <a:bodyPr wrap="square" lIns="0" tIns="0" rIns="0" bIns="0" rtlCol="0" anchor="t"/>
          <a:lstStyle/>
          <a:p>
            <a:pPr algn="r" indent="0" marL="0">
              <a:buNone/>
            </a:pPr>
            <a:r>
              <a:rPr lang="en-US" sz="1200" b="1" dirty="0">
                <a:solidFill>
                  <a:srgbClr val="111111"/>
                </a:solidFill>
                <a:latin typeface="IBM Plex Sans JP" pitchFamily="34" charset="0"/>
                <a:ea typeface="IBM Plex Sans JP" pitchFamily="34" charset="-122"/>
                <a:cs typeface="IBM Plex Sans JP" pitchFamily="34" charset="-120"/>
              </a:rPr>
              <a:t>¥60,000</a:t>
            </a:r>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 ／月</a:t>
            </a:r>
            <a:endParaRPr lang="en-US" sz="1200" dirty="0"/>
          </a:p>
        </p:txBody>
      </p:sp>
      <p:sp>
        <p:nvSpPr>
          <p:cNvPr id="12" name="Shape 9"/>
          <p:cNvSpPr/>
          <p:nvPr/>
        </p:nvSpPr>
        <p:spPr>
          <a:xfrm>
            <a:off x="7726680" y="2798064"/>
            <a:ext cx="3779215" cy="0"/>
          </a:xfrm>
          <a:prstGeom prst="line">
            <a:avLst/>
          </a:prstGeom>
          <a:noFill/>
          <a:ln w="6350">
            <a:solidFill>
              <a:srgbClr val="E6E4E0"/>
            </a:solidFill>
            <a:prstDash val="solid"/>
          </a:ln>
        </p:spPr>
      </p:sp>
      <p:sp>
        <p:nvSpPr>
          <p:cNvPr id="13" name="Text 10"/>
          <p:cNvSpPr/>
          <p:nvPr/>
        </p:nvSpPr>
        <p:spPr>
          <a:xfrm>
            <a:off x="7726680" y="2862072"/>
            <a:ext cx="2377440" cy="228600"/>
          </a:xfrm>
          <a:prstGeom prst="rect">
            <a:avLst/>
          </a:prstGeom>
          <a:noFill/>
          <a:ln/>
        </p:spPr>
        <p:txBody>
          <a:bodyPr wrap="square" lIns="0" tIns="0" rIns="0" bIns="0" rtlCol="0" anchor="t"/>
          <a:lstStyle/>
          <a:p>
            <a:pPr indent="0" marL="0">
              <a:buNone/>
            </a:pPr>
            <a:r>
              <a:rPr lang="en-US" sz="1100" b="1" dirty="0">
                <a:solidFill>
                  <a:srgbClr val="111111"/>
                </a:solidFill>
                <a:latin typeface="IBM Plex Sans JP" pitchFamily="34" charset="0"/>
                <a:ea typeface="IBM Plex Sans JP" pitchFamily="34" charset="-122"/>
                <a:cs typeface="IBM Plex Sans JP" pitchFamily="34" charset="-120"/>
              </a:rPr>
              <a:t>宇和島市</a:t>
            </a:r>
            <a:endParaRPr lang="en-US" sz="1100" dirty="0"/>
          </a:p>
        </p:txBody>
      </p:sp>
      <p:sp>
        <p:nvSpPr>
          <p:cNvPr id="14" name="Text 11"/>
          <p:cNvSpPr/>
          <p:nvPr/>
        </p:nvSpPr>
        <p:spPr>
          <a:xfrm>
            <a:off x="7726680" y="3044952"/>
            <a:ext cx="2377440" cy="182880"/>
          </a:xfrm>
          <a:prstGeom prst="rect">
            <a:avLst/>
          </a:prstGeom>
          <a:noFill/>
          <a:ln/>
        </p:spPr>
        <p:txBody>
          <a:bodyPr wrap="square" lIns="0" tIns="0" rIns="0" bIns="0" rtlCol="0" anchor="t"/>
          <a:lstStyle/>
          <a:p>
            <a:pPr indent="0" marL="0">
              <a:buNone/>
            </a:pPr>
            <a:r>
              <a:rPr lang="en-US" sz="750" dirty="0">
                <a:solidFill>
                  <a:srgbClr val="6A6A6A"/>
                </a:solidFill>
                <a:latin typeface="IBM Plex Sans JP" pitchFamily="34" charset="0"/>
                <a:ea typeface="IBM Plex Sans JP" pitchFamily="34" charset="-122"/>
                <a:cs typeface="IBM Plex Sans JP" pitchFamily="34" charset="-120"/>
              </a:rPr>
              <a:t>愛媛県　66,981人</a:t>
            </a:r>
            <a:endParaRPr lang="en-US" sz="750" dirty="0"/>
          </a:p>
        </p:txBody>
      </p:sp>
      <p:sp>
        <p:nvSpPr>
          <p:cNvPr id="15" name="Text 12"/>
          <p:cNvSpPr/>
          <p:nvPr/>
        </p:nvSpPr>
        <p:spPr>
          <a:xfrm>
            <a:off x="9921240" y="2862072"/>
            <a:ext cx="1584655" cy="274320"/>
          </a:xfrm>
          <a:prstGeom prst="rect">
            <a:avLst/>
          </a:prstGeom>
          <a:noFill/>
          <a:ln/>
        </p:spPr>
        <p:txBody>
          <a:bodyPr wrap="square" lIns="0" tIns="0" rIns="0" bIns="0" rtlCol="0" anchor="t"/>
          <a:lstStyle/>
          <a:p>
            <a:pPr algn="r" indent="0" marL="0">
              <a:buNone/>
            </a:pPr>
            <a:r>
              <a:rPr lang="en-US" sz="1200" b="1" dirty="0">
                <a:solidFill>
                  <a:srgbClr val="111111"/>
                </a:solidFill>
                <a:latin typeface="IBM Plex Sans JP" pitchFamily="34" charset="0"/>
                <a:ea typeface="IBM Plex Sans JP" pitchFamily="34" charset="-122"/>
                <a:cs typeface="IBM Plex Sans JP" pitchFamily="34" charset="-120"/>
              </a:rPr>
              <a:t>¥90,000</a:t>
            </a:r>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 ／月</a:t>
            </a:r>
            <a:endParaRPr lang="en-US" sz="1200" dirty="0"/>
          </a:p>
        </p:txBody>
      </p:sp>
      <p:sp>
        <p:nvSpPr>
          <p:cNvPr id="16" name="Shape 13"/>
          <p:cNvSpPr/>
          <p:nvPr/>
        </p:nvSpPr>
        <p:spPr>
          <a:xfrm>
            <a:off x="7726680" y="3200400"/>
            <a:ext cx="3779215" cy="0"/>
          </a:xfrm>
          <a:prstGeom prst="line">
            <a:avLst/>
          </a:prstGeom>
          <a:noFill/>
          <a:ln w="6350">
            <a:solidFill>
              <a:srgbClr val="E6E4E0"/>
            </a:solidFill>
            <a:prstDash val="solid"/>
          </a:ln>
        </p:spPr>
      </p:sp>
      <p:sp>
        <p:nvSpPr>
          <p:cNvPr id="17" name="Text 14"/>
          <p:cNvSpPr/>
          <p:nvPr/>
        </p:nvSpPr>
        <p:spPr>
          <a:xfrm>
            <a:off x="7726680" y="3264408"/>
            <a:ext cx="2377440" cy="228600"/>
          </a:xfrm>
          <a:prstGeom prst="rect">
            <a:avLst/>
          </a:prstGeom>
          <a:noFill/>
          <a:ln/>
        </p:spPr>
        <p:txBody>
          <a:bodyPr wrap="square" lIns="0" tIns="0" rIns="0" bIns="0" rtlCol="0" anchor="t"/>
          <a:lstStyle/>
          <a:p>
            <a:pPr indent="0" marL="0">
              <a:buNone/>
            </a:pPr>
            <a:r>
              <a:rPr lang="en-US" sz="1100" b="1" dirty="0">
                <a:solidFill>
                  <a:srgbClr val="111111"/>
                </a:solidFill>
                <a:latin typeface="IBM Plex Sans JP" pitchFamily="34" charset="0"/>
                <a:ea typeface="IBM Plex Sans JP" pitchFamily="34" charset="-122"/>
                <a:cs typeface="IBM Plex Sans JP" pitchFamily="34" charset="-120"/>
              </a:rPr>
              <a:t>唐津市</a:t>
            </a:r>
            <a:endParaRPr lang="en-US" sz="1100" dirty="0"/>
          </a:p>
        </p:txBody>
      </p:sp>
      <p:sp>
        <p:nvSpPr>
          <p:cNvPr id="18" name="Text 15"/>
          <p:cNvSpPr/>
          <p:nvPr/>
        </p:nvSpPr>
        <p:spPr>
          <a:xfrm>
            <a:off x="7726680" y="3447288"/>
            <a:ext cx="2377440" cy="182880"/>
          </a:xfrm>
          <a:prstGeom prst="rect">
            <a:avLst/>
          </a:prstGeom>
          <a:noFill/>
          <a:ln/>
        </p:spPr>
        <p:txBody>
          <a:bodyPr wrap="square" lIns="0" tIns="0" rIns="0" bIns="0" rtlCol="0" anchor="t"/>
          <a:lstStyle/>
          <a:p>
            <a:pPr indent="0" marL="0">
              <a:buNone/>
            </a:pPr>
            <a:r>
              <a:rPr lang="en-US" sz="750" dirty="0">
                <a:solidFill>
                  <a:srgbClr val="6A6A6A"/>
                </a:solidFill>
                <a:latin typeface="IBM Plex Sans JP" pitchFamily="34" charset="0"/>
                <a:ea typeface="IBM Plex Sans JP" pitchFamily="34" charset="-122"/>
                <a:cs typeface="IBM Plex Sans JP" pitchFamily="34" charset="-120"/>
              </a:rPr>
              <a:t>佐賀県　113,890人</a:t>
            </a:r>
            <a:endParaRPr lang="en-US" sz="750" dirty="0"/>
          </a:p>
        </p:txBody>
      </p:sp>
      <p:sp>
        <p:nvSpPr>
          <p:cNvPr id="19" name="Text 16"/>
          <p:cNvSpPr/>
          <p:nvPr/>
        </p:nvSpPr>
        <p:spPr>
          <a:xfrm>
            <a:off x="9921240" y="3264408"/>
            <a:ext cx="1584655" cy="274320"/>
          </a:xfrm>
          <a:prstGeom prst="rect">
            <a:avLst/>
          </a:prstGeom>
          <a:noFill/>
          <a:ln/>
        </p:spPr>
        <p:txBody>
          <a:bodyPr wrap="square" lIns="0" tIns="0" rIns="0" bIns="0" rtlCol="0" anchor="t"/>
          <a:lstStyle/>
          <a:p>
            <a:pPr algn="r" indent="0" marL="0">
              <a:buNone/>
            </a:pPr>
            <a:r>
              <a:rPr lang="en-US" sz="1200" b="1" dirty="0">
                <a:solidFill>
                  <a:srgbClr val="111111"/>
                </a:solidFill>
                <a:latin typeface="IBM Plex Sans JP" pitchFamily="34" charset="0"/>
                <a:ea typeface="IBM Plex Sans JP" pitchFamily="34" charset="-122"/>
                <a:cs typeface="IBM Plex Sans JP" pitchFamily="34" charset="-120"/>
              </a:rPr>
              <a:t>¥160,000</a:t>
            </a:r>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 ／月</a:t>
            </a:r>
            <a:endParaRPr lang="en-US" sz="1200" dirty="0"/>
          </a:p>
        </p:txBody>
      </p:sp>
      <p:sp>
        <p:nvSpPr>
          <p:cNvPr id="20" name="Shape 17"/>
          <p:cNvSpPr/>
          <p:nvPr/>
        </p:nvSpPr>
        <p:spPr>
          <a:xfrm>
            <a:off x="7726680" y="3602736"/>
            <a:ext cx="3779215" cy="0"/>
          </a:xfrm>
          <a:prstGeom prst="line">
            <a:avLst/>
          </a:prstGeom>
          <a:noFill/>
          <a:ln w="6350">
            <a:solidFill>
              <a:srgbClr val="E6E4E0"/>
            </a:solidFill>
            <a:prstDash val="solid"/>
          </a:ln>
        </p:spPr>
      </p:sp>
      <p:sp>
        <p:nvSpPr>
          <p:cNvPr id="21" name="Text 18"/>
          <p:cNvSpPr/>
          <p:nvPr/>
        </p:nvSpPr>
        <p:spPr>
          <a:xfrm>
            <a:off x="7726680" y="3666744"/>
            <a:ext cx="2377440" cy="228600"/>
          </a:xfrm>
          <a:prstGeom prst="rect">
            <a:avLst/>
          </a:prstGeom>
          <a:noFill/>
          <a:ln/>
        </p:spPr>
        <p:txBody>
          <a:bodyPr wrap="square" lIns="0" tIns="0" rIns="0" bIns="0" rtlCol="0" anchor="t"/>
          <a:lstStyle/>
          <a:p>
            <a:pPr indent="0" marL="0">
              <a:buNone/>
            </a:pPr>
            <a:r>
              <a:rPr lang="en-US" sz="1100" b="1" dirty="0">
                <a:solidFill>
                  <a:srgbClr val="111111"/>
                </a:solidFill>
                <a:latin typeface="IBM Plex Sans JP" pitchFamily="34" charset="0"/>
                <a:ea typeface="IBM Plex Sans JP" pitchFamily="34" charset="-122"/>
                <a:cs typeface="IBM Plex Sans JP" pitchFamily="34" charset="-120"/>
              </a:rPr>
              <a:t>帯広市</a:t>
            </a:r>
            <a:endParaRPr lang="en-US" sz="1100" dirty="0"/>
          </a:p>
        </p:txBody>
      </p:sp>
      <p:sp>
        <p:nvSpPr>
          <p:cNvPr id="22" name="Text 19"/>
          <p:cNvSpPr/>
          <p:nvPr/>
        </p:nvSpPr>
        <p:spPr>
          <a:xfrm>
            <a:off x="7726680" y="3849624"/>
            <a:ext cx="2377440" cy="182880"/>
          </a:xfrm>
          <a:prstGeom prst="rect">
            <a:avLst/>
          </a:prstGeom>
          <a:noFill/>
          <a:ln/>
        </p:spPr>
        <p:txBody>
          <a:bodyPr wrap="square" lIns="0" tIns="0" rIns="0" bIns="0" rtlCol="0" anchor="t"/>
          <a:lstStyle/>
          <a:p>
            <a:pPr indent="0" marL="0">
              <a:buNone/>
            </a:pPr>
            <a:r>
              <a:rPr lang="en-US" sz="750" dirty="0">
                <a:solidFill>
                  <a:srgbClr val="6A6A6A"/>
                </a:solidFill>
                <a:latin typeface="IBM Plex Sans JP" pitchFamily="34" charset="0"/>
                <a:ea typeface="IBM Plex Sans JP" pitchFamily="34" charset="-122"/>
                <a:cs typeface="IBM Plex Sans JP" pitchFamily="34" charset="-120"/>
              </a:rPr>
              <a:t>北海道　160,810人</a:t>
            </a:r>
            <a:endParaRPr lang="en-US" sz="750" dirty="0"/>
          </a:p>
        </p:txBody>
      </p:sp>
      <p:sp>
        <p:nvSpPr>
          <p:cNvPr id="23" name="Text 20"/>
          <p:cNvSpPr/>
          <p:nvPr/>
        </p:nvSpPr>
        <p:spPr>
          <a:xfrm>
            <a:off x="9921240" y="3666744"/>
            <a:ext cx="1584655" cy="274320"/>
          </a:xfrm>
          <a:prstGeom prst="rect">
            <a:avLst/>
          </a:prstGeom>
          <a:noFill/>
          <a:ln/>
        </p:spPr>
        <p:txBody>
          <a:bodyPr wrap="square" lIns="0" tIns="0" rIns="0" bIns="0" rtlCol="0" anchor="t"/>
          <a:lstStyle/>
          <a:p>
            <a:pPr algn="r" indent="0" marL="0">
              <a:buNone/>
            </a:pPr>
            <a:r>
              <a:rPr lang="en-US" sz="1200" b="1" dirty="0">
                <a:solidFill>
                  <a:srgbClr val="111111"/>
                </a:solidFill>
                <a:latin typeface="IBM Plex Sans JP" pitchFamily="34" charset="0"/>
                <a:ea typeface="IBM Plex Sans JP" pitchFamily="34" charset="-122"/>
                <a:cs typeface="IBM Plex Sans JP" pitchFamily="34" charset="-120"/>
              </a:rPr>
              <a:t>¥230,000</a:t>
            </a:r>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 ／月</a:t>
            </a:r>
            <a:endParaRPr lang="en-US" sz="1200" dirty="0"/>
          </a:p>
        </p:txBody>
      </p:sp>
      <p:sp>
        <p:nvSpPr>
          <p:cNvPr id="24" name="Shape 21"/>
          <p:cNvSpPr/>
          <p:nvPr/>
        </p:nvSpPr>
        <p:spPr>
          <a:xfrm>
            <a:off x="7726680" y="4005072"/>
            <a:ext cx="3779215" cy="0"/>
          </a:xfrm>
          <a:prstGeom prst="line">
            <a:avLst/>
          </a:prstGeom>
          <a:noFill/>
          <a:ln w="6350">
            <a:solidFill>
              <a:srgbClr val="E6E4E0"/>
            </a:solidFill>
            <a:prstDash val="solid"/>
          </a:ln>
        </p:spPr>
      </p:sp>
      <p:sp>
        <p:nvSpPr>
          <p:cNvPr id="25" name="Text 22"/>
          <p:cNvSpPr/>
          <p:nvPr/>
        </p:nvSpPr>
        <p:spPr>
          <a:xfrm>
            <a:off x="7726680" y="4069080"/>
            <a:ext cx="2377440" cy="228600"/>
          </a:xfrm>
          <a:prstGeom prst="rect">
            <a:avLst/>
          </a:prstGeom>
          <a:noFill/>
          <a:ln/>
        </p:spPr>
        <p:txBody>
          <a:bodyPr wrap="square" lIns="0" tIns="0" rIns="0" bIns="0" rtlCol="0" anchor="t"/>
          <a:lstStyle/>
          <a:p>
            <a:pPr indent="0" marL="0">
              <a:buNone/>
            </a:pPr>
            <a:r>
              <a:rPr lang="en-US" sz="1100" b="1" dirty="0">
                <a:solidFill>
                  <a:srgbClr val="111111"/>
                </a:solidFill>
                <a:latin typeface="IBM Plex Sans JP" pitchFamily="34" charset="0"/>
                <a:ea typeface="IBM Plex Sans JP" pitchFamily="34" charset="-122"/>
                <a:cs typeface="IBM Plex Sans JP" pitchFamily="34" charset="-120"/>
              </a:rPr>
              <a:t>加古川市</a:t>
            </a:r>
            <a:endParaRPr lang="en-US" sz="1100" dirty="0"/>
          </a:p>
        </p:txBody>
      </p:sp>
      <p:sp>
        <p:nvSpPr>
          <p:cNvPr id="26" name="Text 23"/>
          <p:cNvSpPr/>
          <p:nvPr/>
        </p:nvSpPr>
        <p:spPr>
          <a:xfrm>
            <a:off x="7726680" y="4251960"/>
            <a:ext cx="2377440" cy="182880"/>
          </a:xfrm>
          <a:prstGeom prst="rect">
            <a:avLst/>
          </a:prstGeom>
          <a:noFill/>
          <a:ln/>
        </p:spPr>
        <p:txBody>
          <a:bodyPr wrap="square" lIns="0" tIns="0" rIns="0" bIns="0" rtlCol="0" anchor="t"/>
          <a:lstStyle/>
          <a:p>
            <a:pPr indent="0" marL="0">
              <a:buNone/>
            </a:pPr>
            <a:r>
              <a:rPr lang="en-US" sz="750" dirty="0">
                <a:solidFill>
                  <a:srgbClr val="6A6A6A"/>
                </a:solidFill>
                <a:latin typeface="IBM Plex Sans JP" pitchFamily="34" charset="0"/>
                <a:ea typeface="IBM Plex Sans JP" pitchFamily="34" charset="-122"/>
                <a:cs typeface="IBM Plex Sans JP" pitchFamily="34" charset="-120"/>
              </a:rPr>
              <a:t>兵庫県　257,203人</a:t>
            </a:r>
            <a:endParaRPr lang="en-US" sz="750" dirty="0"/>
          </a:p>
        </p:txBody>
      </p:sp>
      <p:sp>
        <p:nvSpPr>
          <p:cNvPr id="27" name="Text 24"/>
          <p:cNvSpPr/>
          <p:nvPr/>
        </p:nvSpPr>
        <p:spPr>
          <a:xfrm>
            <a:off x="9921240" y="4069080"/>
            <a:ext cx="1584655" cy="274320"/>
          </a:xfrm>
          <a:prstGeom prst="rect">
            <a:avLst/>
          </a:prstGeom>
          <a:noFill/>
          <a:ln/>
        </p:spPr>
        <p:txBody>
          <a:bodyPr wrap="square" lIns="0" tIns="0" rIns="0" bIns="0" rtlCol="0" anchor="t"/>
          <a:lstStyle/>
          <a:p>
            <a:pPr algn="r" indent="0" marL="0">
              <a:buNone/>
            </a:pPr>
            <a:r>
              <a:rPr lang="en-US" sz="1200" b="1" dirty="0">
                <a:solidFill>
                  <a:srgbClr val="111111"/>
                </a:solidFill>
                <a:latin typeface="IBM Plex Sans JP" pitchFamily="34" charset="0"/>
                <a:ea typeface="IBM Plex Sans JP" pitchFamily="34" charset="-122"/>
                <a:cs typeface="IBM Plex Sans JP" pitchFamily="34" charset="-120"/>
              </a:rPr>
              <a:t>¥370,000</a:t>
            </a:r>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 ／月</a:t>
            </a:r>
            <a:endParaRPr lang="en-US" sz="1200" dirty="0"/>
          </a:p>
        </p:txBody>
      </p:sp>
      <p:sp>
        <p:nvSpPr>
          <p:cNvPr id="28" name="Shape 25"/>
          <p:cNvSpPr/>
          <p:nvPr/>
        </p:nvSpPr>
        <p:spPr>
          <a:xfrm>
            <a:off x="7726680" y="4407408"/>
            <a:ext cx="3779215" cy="0"/>
          </a:xfrm>
          <a:prstGeom prst="line">
            <a:avLst/>
          </a:prstGeom>
          <a:noFill/>
          <a:ln w="6350">
            <a:solidFill>
              <a:srgbClr val="E6E4E0"/>
            </a:solidFill>
            <a:prstDash val="solid"/>
          </a:ln>
        </p:spPr>
      </p:sp>
      <p:sp>
        <p:nvSpPr>
          <p:cNvPr id="29" name="Text 26"/>
          <p:cNvSpPr/>
          <p:nvPr/>
        </p:nvSpPr>
        <p:spPr>
          <a:xfrm>
            <a:off x="7726680" y="4471416"/>
            <a:ext cx="2377440" cy="228600"/>
          </a:xfrm>
          <a:prstGeom prst="rect">
            <a:avLst/>
          </a:prstGeom>
          <a:noFill/>
          <a:ln/>
        </p:spPr>
        <p:txBody>
          <a:bodyPr wrap="square" lIns="0" tIns="0" rIns="0" bIns="0" rtlCol="0" anchor="t"/>
          <a:lstStyle/>
          <a:p>
            <a:pPr indent="0" marL="0">
              <a:buNone/>
            </a:pPr>
            <a:r>
              <a:rPr lang="en-US" sz="1100" b="1" dirty="0">
                <a:solidFill>
                  <a:srgbClr val="111111"/>
                </a:solidFill>
                <a:latin typeface="IBM Plex Sans JP" pitchFamily="34" charset="0"/>
                <a:ea typeface="IBM Plex Sans JP" pitchFamily="34" charset="-122"/>
                <a:cs typeface="IBM Plex Sans JP" pitchFamily="34" charset="-120"/>
              </a:rPr>
              <a:t>姫路市</a:t>
            </a:r>
            <a:endParaRPr lang="en-US" sz="1100" dirty="0"/>
          </a:p>
        </p:txBody>
      </p:sp>
      <p:sp>
        <p:nvSpPr>
          <p:cNvPr id="30" name="Text 27"/>
          <p:cNvSpPr/>
          <p:nvPr/>
        </p:nvSpPr>
        <p:spPr>
          <a:xfrm>
            <a:off x="7726680" y="4654296"/>
            <a:ext cx="2377440" cy="182880"/>
          </a:xfrm>
          <a:prstGeom prst="rect">
            <a:avLst/>
          </a:prstGeom>
          <a:noFill/>
          <a:ln/>
        </p:spPr>
        <p:txBody>
          <a:bodyPr wrap="square" lIns="0" tIns="0" rIns="0" bIns="0" rtlCol="0" anchor="t"/>
          <a:lstStyle/>
          <a:p>
            <a:pPr indent="0" marL="0">
              <a:buNone/>
            </a:pPr>
            <a:r>
              <a:rPr lang="en-US" sz="750" dirty="0">
                <a:solidFill>
                  <a:srgbClr val="6A6A6A"/>
                </a:solidFill>
                <a:latin typeface="IBM Plex Sans JP" pitchFamily="34" charset="0"/>
                <a:ea typeface="IBM Plex Sans JP" pitchFamily="34" charset="-122"/>
                <a:cs typeface="IBM Plex Sans JP" pitchFamily="34" charset="-120"/>
              </a:rPr>
              <a:t>兵庫県　523,181人</a:t>
            </a:r>
            <a:endParaRPr lang="en-US" sz="750" dirty="0"/>
          </a:p>
        </p:txBody>
      </p:sp>
      <p:sp>
        <p:nvSpPr>
          <p:cNvPr id="31" name="Text 28"/>
          <p:cNvSpPr/>
          <p:nvPr/>
        </p:nvSpPr>
        <p:spPr>
          <a:xfrm>
            <a:off x="9921240" y="4471416"/>
            <a:ext cx="1584655" cy="274320"/>
          </a:xfrm>
          <a:prstGeom prst="rect">
            <a:avLst/>
          </a:prstGeom>
          <a:noFill/>
          <a:ln/>
        </p:spPr>
        <p:txBody>
          <a:bodyPr wrap="square" lIns="0" tIns="0" rIns="0" bIns="0" rtlCol="0" anchor="t"/>
          <a:lstStyle/>
          <a:p>
            <a:pPr algn="r" indent="0" marL="0">
              <a:buNone/>
            </a:pPr>
            <a:r>
              <a:rPr lang="en-US" sz="1200" b="1" dirty="0">
                <a:solidFill>
                  <a:srgbClr val="111111"/>
                </a:solidFill>
                <a:latin typeface="IBM Plex Sans JP" pitchFamily="34" charset="0"/>
                <a:ea typeface="IBM Plex Sans JP" pitchFamily="34" charset="-122"/>
                <a:cs typeface="IBM Plex Sans JP" pitchFamily="34" charset="-120"/>
              </a:rPr>
              <a:t>¥760,000</a:t>
            </a:r>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 ／月</a:t>
            </a:r>
            <a:endParaRPr lang="en-US" sz="1200" dirty="0"/>
          </a:p>
        </p:txBody>
      </p:sp>
      <p:sp>
        <p:nvSpPr>
          <p:cNvPr id="32" name="Shape 29"/>
          <p:cNvSpPr/>
          <p:nvPr/>
        </p:nvSpPr>
        <p:spPr>
          <a:xfrm>
            <a:off x="685800" y="5074920"/>
            <a:ext cx="10820095" cy="731520"/>
          </a:xfrm>
          <a:prstGeom prst="rect">
            <a:avLst/>
          </a:prstGeom>
          <a:solidFill>
            <a:srgbClr val="F7F6F4"/>
          </a:solidFill>
          <a:ln w="12700">
            <a:solidFill>
              <a:srgbClr val="F7F6F4"/>
            </a:solidFill>
            <a:prstDash val="solid"/>
          </a:ln>
        </p:spPr>
      </p:sp>
      <p:sp>
        <p:nvSpPr>
          <p:cNvPr id="33" name="Text 30"/>
          <p:cNvSpPr/>
          <p:nvPr/>
        </p:nvSpPr>
        <p:spPr>
          <a:xfrm>
            <a:off x="960120" y="5074920"/>
            <a:ext cx="10271455" cy="731520"/>
          </a:xfrm>
          <a:prstGeom prst="rect">
            <a:avLst/>
          </a:prstGeom>
          <a:noFill/>
          <a:ln/>
        </p:spPr>
        <p:txBody>
          <a:bodyPr wrap="square" lIns="0" tIns="0" rIns="0" bIns="0" rtlCol="0" anchor="ctr"/>
          <a:lstStyle/>
          <a:p>
            <a:pPr indent="0" marL="0">
              <a:lnSpc>
                <a:spcPct val="140000"/>
              </a:lnSpc>
              <a:buNone/>
            </a:pPr>
            <a:r>
              <a:rPr lang="en-US" sz="1000" b="1" dirty="0">
                <a:solidFill>
                  <a:srgbClr val="111111"/>
                </a:solidFill>
                <a:latin typeface="IBM Plex Sans JP" pitchFamily="34" charset="0"/>
                <a:ea typeface="IBM Plex Sans JP" pitchFamily="34" charset="-122"/>
                <a:cs typeface="IBM Plex Sans JP" pitchFamily="34" charset="-120"/>
              </a:rPr>
              <a:t>読み方　</a:t>
            </a:r>
            <a:pPr indent="0" marL="0">
              <a:lnSpc>
                <a:spcPct val="140000"/>
              </a:lnSpc>
              <a:buNone/>
            </a:pPr>
            <a:r>
              <a:rPr lang="en-US" sz="1000" dirty="0">
                <a:solidFill>
                  <a:srgbClr val="6A6A6A"/>
                </a:solidFill>
                <a:latin typeface="IBM Plex Sans JP" pitchFamily="34" charset="0"/>
                <a:ea typeface="IBM Plex Sans JP" pitchFamily="34" charset="-122"/>
                <a:cs typeface="IBM Plex Sans JP" pitchFamily="34" charset="-120"/>
              </a:rPr>
              <a:t>全国815市（東京23区を含む）のうち、月額50万円以下で市まるごと押さえられるのが743市、100万円以下が793市です。町村を含む1918市区町村すべて、同じ計算でその場でお出しできます。目安が標準プラン（スターター ¥500,000／月）を下回る規模の商圏は、期間を延ばすか隣接市を含めてご提案します。</a:t>
            </a:r>
            <a:endParaRPr lang="en-US" sz="1000" dirty="0"/>
          </a:p>
        </p:txBody>
      </p:sp>
      <p:pic>
        <p:nvPicPr>
          <p:cNvPr id="34" name="Image 0" descr="/private/tmp/claude-501/-Users-hirokishirakawa/61df7724-8533-4661-9a58-fa513da8dcb2/scratchpad/deck/assets/logo-black.png">    </p:cNvPr>
          <p:cNvPicPr>
            <a:picLocks noChangeAspect="1"/>
          </p:cNvPicPr>
          <p:nvPr/>
        </p:nvPicPr>
        <p:blipFill>
          <a:blip r:embed="rId1"/>
          <a:stretch>
            <a:fillRect/>
          </a:stretch>
        </p:blipFill>
        <p:spPr>
          <a:xfrm>
            <a:off x="685800" y="6291072"/>
            <a:ext cx="868680" cy="128484"/>
          </a:xfrm>
          <a:prstGeom prst="rect">
            <a:avLst/>
          </a:prstGeom>
        </p:spPr>
      </p:pic>
      <p:sp>
        <p:nvSpPr>
          <p:cNvPr id="35" name="Text 31"/>
          <p:cNvSpPr/>
          <p:nvPr/>
        </p:nvSpPr>
        <p:spPr>
          <a:xfrm>
            <a:off x="1828800" y="6291072"/>
            <a:ext cx="5486400" cy="182880"/>
          </a:xfrm>
          <a:prstGeom prst="rect">
            <a:avLst/>
          </a:prstGeom>
          <a:noFill/>
          <a:ln/>
        </p:spPr>
        <p:txBody>
          <a:bodyPr wrap="square" lIns="0" tIns="0" rIns="0" bIns="0" rtlCol="0" anchor="t"/>
          <a:lstStyle/>
          <a:p>
            <a:pPr indent="0" marL="0">
              <a:buNone/>
            </a:pPr>
            <a:r>
              <a:rPr lang="en-US" sz="800" spc="100" kern="0" dirty="0">
                <a:solidFill>
                  <a:srgbClr val="6A6A6A"/>
                </a:solidFill>
                <a:latin typeface="IBM Plex Sans JP" pitchFamily="34" charset="0"/>
                <a:ea typeface="IBM Plex Sans JP" pitchFamily="34" charset="-122"/>
                <a:cs typeface="IBM Plex Sans JP" pitchFamily="34" charset="-120"/>
              </a:rPr>
              <a:t>Ad Arch Co., Ltd.　／　TVer Advertising Division</a:t>
            </a:r>
            <a:endParaRPr lang="en-US" sz="800" dirty="0"/>
          </a:p>
        </p:txBody>
      </p:sp>
      <p:sp>
        <p:nvSpPr>
          <p:cNvPr id="36" name="Text 32"/>
          <p:cNvSpPr/>
          <p:nvPr/>
        </p:nvSpPr>
        <p:spPr>
          <a:xfrm>
            <a:off x="7848295" y="6291072"/>
            <a:ext cx="3657600" cy="182880"/>
          </a:xfrm>
          <a:prstGeom prst="rect">
            <a:avLst/>
          </a:prstGeom>
          <a:noFill/>
          <a:ln/>
        </p:spPr>
        <p:txBody>
          <a:bodyPr wrap="square" lIns="0" tIns="0" rIns="0" bIns="0" rtlCol="0" anchor="t"/>
          <a:lstStyle/>
          <a:p>
            <a:pPr algn="r" indent="0" marL="0">
              <a:buNone/>
            </a:pPr>
            <a:r>
              <a:rPr lang="en-US" sz="800" spc="150" kern="0" dirty="0">
                <a:solidFill>
                  <a:srgbClr val="6A6A6A"/>
                </a:solidFill>
                <a:latin typeface="IBM Plex Sans JP" pitchFamily="34" charset="0"/>
                <a:ea typeface="IBM Plex Sans JP" pitchFamily="34" charset="-122"/>
                <a:cs typeface="IBM Plex Sans JP" pitchFamily="34" charset="-120"/>
              </a:rPr>
              <a:t>10 / 19　　CONFIDENTIAL</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5508"/>
            <a:ext cx="384048" cy="27432"/>
          </a:xfrm>
          <a:prstGeom prst="rect">
            <a:avLst/>
          </a:prstGeom>
          <a:solidFill>
            <a:srgbClr val="F19834"/>
          </a:solidFill>
          <a:ln w="12700">
            <a:solidFill>
              <a:srgbClr val="F19834"/>
            </a:solidFill>
            <a:prstDash val="solid"/>
          </a:ln>
        </p:spPr>
      </p:sp>
      <p:sp>
        <p:nvSpPr>
          <p:cNvPr id="3" name="Text 1"/>
          <p:cNvSpPr/>
          <p:nvPr/>
        </p:nvSpPr>
        <p:spPr>
          <a:xfrm>
            <a:off x="1188720" y="566928"/>
            <a:ext cx="6400800" cy="201168"/>
          </a:xfrm>
          <a:prstGeom prst="rect">
            <a:avLst/>
          </a:prstGeom>
          <a:noFill/>
          <a:ln/>
        </p:spPr>
        <p:txBody>
          <a:bodyPr wrap="square" lIns="0" tIns="0" rIns="0" bIns="0" rtlCol="0" anchor="t"/>
          <a:lstStyle/>
          <a:p>
            <a:pPr indent="0" marL="0">
              <a:buNone/>
            </a:pPr>
            <a:r>
              <a:rPr lang="en-US" sz="900" spc="300" kern="0" dirty="0">
                <a:solidFill>
                  <a:srgbClr val="6A6A6A"/>
                </a:solidFill>
                <a:latin typeface="IBM Plex Sans JP" pitchFamily="34" charset="0"/>
                <a:ea typeface="IBM Plex Sans JP" pitchFamily="34" charset="-122"/>
                <a:cs typeface="IBM Plex Sans JP" pitchFamily="34" charset="-120"/>
              </a:rPr>
              <a:t>07 ／ OTHER PLANS</a:t>
            </a:r>
            <a:endParaRPr lang="en-US" sz="900" dirty="0"/>
          </a:p>
        </p:txBody>
      </p:sp>
      <p:sp>
        <p:nvSpPr>
          <p:cNvPr id="4" name="Text 2"/>
          <p:cNvSpPr/>
          <p:nvPr/>
        </p:nvSpPr>
        <p:spPr>
          <a:xfrm>
            <a:off x="685800" y="896112"/>
            <a:ext cx="10820095" cy="822960"/>
          </a:xfrm>
          <a:prstGeom prst="rect">
            <a:avLst/>
          </a:prstGeom>
          <a:noFill/>
          <a:ln/>
        </p:spPr>
        <p:txBody>
          <a:bodyPr wrap="square" lIns="0" tIns="0" rIns="0" bIns="0" rtlCol="0" anchor="t"/>
          <a:lstStyle/>
          <a:p>
            <a:pPr indent="0" marL="0">
              <a:lnSpc>
                <a:spcPct val="125000"/>
              </a:lnSpc>
              <a:buNone/>
            </a:pPr>
            <a:r>
              <a:rPr lang="en-US" sz="2600" b="1" dirty="0">
                <a:solidFill>
                  <a:srgbClr val="111111"/>
                </a:solidFill>
                <a:latin typeface="IBM Plex Sans JP" pitchFamily="34" charset="0"/>
                <a:ea typeface="IBM Plex Sans JP" pitchFamily="34" charset="-122"/>
                <a:cs typeface="IBM Plex Sans JP" pitchFamily="34" charset="-120"/>
              </a:rPr>
              <a:t>3つの標準プラン</a:t>
            </a:r>
            <a:endParaRPr lang="en-US" sz="2600" dirty="0"/>
          </a:p>
        </p:txBody>
      </p:sp>
      <p:sp>
        <p:nvSpPr>
          <p:cNvPr id="5" name="Text 3"/>
          <p:cNvSpPr/>
          <p:nvPr/>
        </p:nvSpPr>
        <p:spPr>
          <a:xfrm>
            <a:off x="685800" y="1572768"/>
            <a:ext cx="10820095" cy="365760"/>
          </a:xfrm>
          <a:prstGeom prst="rect">
            <a:avLst/>
          </a:prstGeom>
          <a:noFill/>
          <a:ln/>
        </p:spPr>
        <p:txBody>
          <a:bodyPr wrap="square" lIns="0" tIns="0" rIns="0" bIns="0" rtlCol="0" anchor="t"/>
          <a:lstStyle/>
          <a:p>
            <a:pPr indent="0" marL="0">
              <a:buNone/>
            </a:pPr>
            <a:r>
              <a:rPr lang="en-US" sz="1200" dirty="0">
                <a:solidFill>
                  <a:srgbClr val="6A6A6A"/>
                </a:solidFill>
                <a:latin typeface="IBM Plex Sans JP" pitchFamily="34" charset="0"/>
                <a:ea typeface="IBM Plex Sans JP" pitchFamily="34" charset="-122"/>
                <a:cs typeface="IBM Plex Sans JP" pitchFamily="34" charset="-120"/>
              </a:rPr>
              <a:t>エリアを絞らずに始める場合は、この3つからお選びいただけます。15秒CM。</a:t>
            </a:r>
            <a:endParaRPr lang="en-US" sz="1200" dirty="0"/>
          </a:p>
        </p:txBody>
      </p:sp>
      <p:sp>
        <p:nvSpPr>
          <p:cNvPr id="6" name="Shape 4"/>
          <p:cNvSpPr/>
          <p:nvPr/>
        </p:nvSpPr>
        <p:spPr>
          <a:xfrm>
            <a:off x="685800" y="2148840"/>
            <a:ext cx="3337560" cy="0"/>
          </a:xfrm>
          <a:prstGeom prst="line">
            <a:avLst/>
          </a:prstGeom>
          <a:noFill/>
          <a:ln w="9525">
            <a:solidFill>
              <a:srgbClr val="E6E4E0"/>
            </a:solidFill>
            <a:prstDash val="solid"/>
          </a:ln>
        </p:spPr>
      </p:sp>
      <p:sp>
        <p:nvSpPr>
          <p:cNvPr id="7" name="Text 5"/>
          <p:cNvSpPr/>
          <p:nvPr/>
        </p:nvSpPr>
        <p:spPr>
          <a:xfrm>
            <a:off x="685800" y="2377440"/>
            <a:ext cx="2331720" cy="320040"/>
          </a:xfrm>
          <a:prstGeom prst="rect">
            <a:avLst/>
          </a:prstGeom>
          <a:noFill/>
          <a:ln/>
        </p:spPr>
        <p:txBody>
          <a:bodyPr wrap="square" lIns="0" tIns="0" rIns="0" bIns="0" rtlCol="0" anchor="t"/>
          <a:lstStyle/>
          <a:p>
            <a:pPr indent="0" marL="0">
              <a:buNone/>
            </a:pPr>
            <a:r>
              <a:rPr lang="en-US" sz="1700" b="1" dirty="0">
                <a:solidFill>
                  <a:srgbClr val="111111"/>
                </a:solidFill>
                <a:latin typeface="IBM Plex Sans JP" pitchFamily="34" charset="0"/>
                <a:ea typeface="IBM Plex Sans JP" pitchFamily="34" charset="-122"/>
                <a:cs typeface="IBM Plex Sans JP" pitchFamily="34" charset="-120"/>
              </a:rPr>
              <a:t>スターター</a:t>
            </a:r>
            <a:endParaRPr lang="en-US" sz="1700" dirty="0"/>
          </a:p>
        </p:txBody>
      </p:sp>
      <p:sp>
        <p:nvSpPr>
          <p:cNvPr id="8" name="Text 6"/>
          <p:cNvSpPr/>
          <p:nvPr/>
        </p:nvSpPr>
        <p:spPr>
          <a:xfrm>
            <a:off x="685800" y="2715768"/>
            <a:ext cx="3337560" cy="228600"/>
          </a:xfrm>
          <a:prstGeom prst="rect">
            <a:avLst/>
          </a:prstGeom>
          <a:noFill/>
          <a:ln/>
        </p:spPr>
        <p:txBody>
          <a:bodyPr wrap="square" lIns="0" tIns="0" rIns="0" bIns="0" rtlCol="0" anchor="t"/>
          <a:lstStyle/>
          <a:p>
            <a:pPr indent="0" marL="0">
              <a:buNone/>
            </a:pPr>
            <a:r>
              <a:rPr lang="en-US" sz="950" dirty="0">
                <a:solidFill>
                  <a:srgbClr val="6A6A6A"/>
                </a:solidFill>
                <a:latin typeface="IBM Plex Sans JP" pitchFamily="34" charset="0"/>
                <a:ea typeface="IBM Plex Sans JP" pitchFamily="34" charset="-122"/>
                <a:cs typeface="IBM Plex Sans JP" pitchFamily="34" charset="-120"/>
              </a:rPr>
              <a:t>まず試す</a:t>
            </a:r>
            <a:endParaRPr lang="en-US" sz="950" dirty="0"/>
          </a:p>
        </p:txBody>
      </p:sp>
      <p:sp>
        <p:nvSpPr>
          <p:cNvPr id="9" name="Text 7"/>
          <p:cNvSpPr/>
          <p:nvPr/>
        </p:nvSpPr>
        <p:spPr>
          <a:xfrm>
            <a:off x="685800" y="3017520"/>
            <a:ext cx="3337560" cy="411480"/>
          </a:xfrm>
          <a:prstGeom prst="rect">
            <a:avLst/>
          </a:prstGeom>
          <a:noFill/>
          <a:ln/>
        </p:spPr>
        <p:txBody>
          <a:bodyPr wrap="square" lIns="0" tIns="0" rIns="0" bIns="0" rtlCol="0" anchor="b"/>
          <a:lstStyle/>
          <a:p>
            <a:pPr indent="0" marL="0">
              <a:buNone/>
            </a:pPr>
            <a:r>
              <a:rPr lang="en-US" sz="2200" b="1" dirty="0">
                <a:solidFill>
                  <a:srgbClr val="111111"/>
                </a:solidFill>
                <a:latin typeface="IBM Plex Sans JP" pitchFamily="34" charset="0"/>
                <a:ea typeface="IBM Plex Sans JP" pitchFamily="34" charset="-122"/>
                <a:cs typeface="IBM Plex Sans JP" pitchFamily="34" charset="-120"/>
              </a:rPr>
              <a:t>¥500,000</a:t>
            </a:r>
            <a:pPr indent="0" marL="0">
              <a:buNone/>
            </a:pPr>
            <a:r>
              <a:rPr lang="en-US" sz="850" dirty="0">
                <a:solidFill>
                  <a:srgbClr val="6A6A6A"/>
                </a:solidFill>
                <a:latin typeface="IBM Plex Sans JP" pitchFamily="34" charset="0"/>
                <a:ea typeface="IBM Plex Sans JP" pitchFamily="34" charset="-122"/>
                <a:cs typeface="IBM Plex Sans JP" pitchFamily="34" charset="-120"/>
              </a:rPr>
              <a:t>　／月・媒体費</a:t>
            </a:r>
            <a:endParaRPr lang="en-US" sz="2200" dirty="0"/>
          </a:p>
        </p:txBody>
      </p:sp>
      <p:sp>
        <p:nvSpPr>
          <p:cNvPr id="10" name="Text 8"/>
          <p:cNvSpPr/>
          <p:nvPr/>
        </p:nvSpPr>
        <p:spPr>
          <a:xfrm>
            <a:off x="685800" y="3474720"/>
            <a:ext cx="3337560" cy="228600"/>
          </a:xfrm>
          <a:prstGeom prst="rect">
            <a:avLst/>
          </a:prstGeom>
          <a:noFill/>
          <a:ln/>
        </p:spPr>
        <p:txBody>
          <a:bodyPr wrap="square" lIns="0" tIns="0" rIns="0" bIns="0" rtlCol="0" anchor="t"/>
          <a:lstStyle/>
          <a:p>
            <a:pPr indent="0" marL="0">
              <a:buNone/>
            </a:pPr>
            <a:r>
              <a:rPr lang="en-US" sz="950" b="1" dirty="0">
                <a:solidFill>
                  <a:srgbClr val="D97F18"/>
                </a:solidFill>
                <a:latin typeface="IBM Plex Sans JP" pitchFamily="34" charset="0"/>
                <a:ea typeface="IBM Plex Sans JP" pitchFamily="34" charset="-122"/>
                <a:cs typeface="IBM Plex Sans JP" pitchFamily="34" charset="-120"/>
              </a:rPr>
              <a:t>月あたり 約13,495人に到達</a:t>
            </a:r>
            <a:endParaRPr lang="en-US" sz="950" dirty="0"/>
          </a:p>
        </p:txBody>
      </p:sp>
      <p:sp>
        <p:nvSpPr>
          <p:cNvPr id="11" name="Shape 9"/>
          <p:cNvSpPr/>
          <p:nvPr/>
        </p:nvSpPr>
        <p:spPr>
          <a:xfrm>
            <a:off x="685800" y="3794760"/>
            <a:ext cx="3337560" cy="0"/>
          </a:xfrm>
          <a:prstGeom prst="line">
            <a:avLst/>
          </a:prstGeom>
          <a:noFill/>
          <a:ln w="6350">
            <a:solidFill>
              <a:srgbClr val="E6E4E0"/>
            </a:solidFill>
            <a:prstDash val="solid"/>
          </a:ln>
        </p:spPr>
      </p:sp>
      <p:sp>
        <p:nvSpPr>
          <p:cNvPr id="12" name="Text 10"/>
          <p:cNvSpPr/>
          <p:nvPr/>
        </p:nvSpPr>
        <p:spPr>
          <a:xfrm>
            <a:off x="685800" y="3904488"/>
            <a:ext cx="3337560" cy="1005840"/>
          </a:xfrm>
          <a:prstGeom prst="rect">
            <a:avLst/>
          </a:prstGeom>
          <a:noFill/>
          <a:ln/>
        </p:spPr>
        <p:txBody>
          <a:bodyPr wrap="square" lIns="0" tIns="0" rIns="0" bIns="0" rtlCol="0" anchor="t"/>
          <a:lstStyle/>
          <a:p>
            <a:pPr indent="0" marL="0">
              <a:lnSpc>
                <a:spcPct val="155000"/>
              </a:lnSpc>
              <a:buNone/>
            </a:pPr>
            <a:r>
              <a:rPr lang="en-US" sz="950" dirty="0">
                <a:solidFill>
                  <a:srgbClr val="6A6A6A"/>
                </a:solidFill>
                <a:latin typeface="IBM Plex Sans JP" pitchFamily="34" charset="0"/>
                <a:ea typeface="IBM Plex Sans JP" pitchFamily="34" charset="-122"/>
                <a:cs typeface="IBM Plex Sans JP" pitchFamily="34" charset="-120"/>
              </a:rPr>
              <a:t>推奨期間　1ヶ月</a:t>
            </a:r>
            <a:endParaRPr lang="en-US" sz="950" dirty="0"/>
          </a:p>
          <a:p>
            <a:pPr indent="0" marL="0">
              <a:lnSpc>
                <a:spcPct val="155000"/>
              </a:lnSpc>
              <a:buNone/>
            </a:pPr>
            <a:r>
              <a:rPr lang="en-US" sz="950" dirty="0">
                <a:solidFill>
                  <a:srgbClr val="6A6A6A"/>
                </a:solidFill>
                <a:latin typeface="IBM Plex Sans JP" pitchFamily="34" charset="0"/>
                <a:ea typeface="IBM Plex Sans JP" pitchFamily="34" charset="-122"/>
                <a:cs typeface="IBM Plex Sans JP" pitchFamily="34" charset="-120"/>
              </a:rPr>
              <a:t>CM制作　既存素材の再編集（¥350,000〜）</a:t>
            </a:r>
            <a:endParaRPr lang="en-US" sz="950" dirty="0"/>
          </a:p>
          <a:p>
            <a:pPr indent="0" marL="0">
              <a:lnSpc>
                <a:spcPct val="155000"/>
              </a:lnSpc>
              <a:buNone/>
            </a:pPr>
            <a:r>
              <a:rPr lang="en-US" sz="950" dirty="0">
                <a:solidFill>
                  <a:srgbClr val="6A6A6A"/>
                </a:solidFill>
                <a:latin typeface="IBM Plex Sans JP" pitchFamily="34" charset="0"/>
                <a:ea typeface="IBM Plex Sans JP" pitchFamily="34" charset="-122"/>
                <a:cs typeface="IBM Plex Sans JP" pitchFamily="34" charset="-120"/>
              </a:rPr>
              <a:t>配信エリア　市区町村1つ</a:t>
            </a:r>
            <a:endParaRPr lang="en-US" sz="950" dirty="0"/>
          </a:p>
          <a:p>
            <a:pPr indent="0" marL="0">
              <a:lnSpc>
                <a:spcPct val="155000"/>
              </a:lnSpc>
              <a:buNone/>
            </a:pPr>
            <a:r>
              <a:rPr lang="en-US" sz="950" dirty="0">
                <a:solidFill>
                  <a:srgbClr val="6A6A6A"/>
                </a:solidFill>
                <a:latin typeface="IBM Plex Sans JP" pitchFamily="34" charset="0"/>
                <a:ea typeface="IBM Plex Sans JP" pitchFamily="34" charset="-122"/>
                <a:cs typeface="IBM Plex Sans JP" pitchFamily="34" charset="-120"/>
              </a:rPr>
              <a:t>レポート　配信終了時</a:t>
            </a:r>
            <a:endParaRPr lang="en-US" sz="950" dirty="0"/>
          </a:p>
        </p:txBody>
      </p:sp>
      <p:sp>
        <p:nvSpPr>
          <p:cNvPr id="13" name="Shape 11"/>
          <p:cNvSpPr/>
          <p:nvPr/>
        </p:nvSpPr>
        <p:spPr>
          <a:xfrm>
            <a:off x="685800" y="4937760"/>
            <a:ext cx="3337560" cy="0"/>
          </a:xfrm>
          <a:prstGeom prst="line">
            <a:avLst/>
          </a:prstGeom>
          <a:noFill/>
          <a:ln w="6350">
            <a:solidFill>
              <a:srgbClr val="E6E4E0"/>
            </a:solidFill>
            <a:prstDash val="solid"/>
          </a:ln>
        </p:spPr>
      </p:sp>
      <p:sp>
        <p:nvSpPr>
          <p:cNvPr id="14" name="Text 12"/>
          <p:cNvSpPr/>
          <p:nvPr/>
        </p:nvSpPr>
        <p:spPr>
          <a:xfrm>
            <a:off x="685800" y="5029200"/>
            <a:ext cx="3337560" cy="201168"/>
          </a:xfrm>
          <a:prstGeom prst="rect">
            <a:avLst/>
          </a:prstGeom>
          <a:noFill/>
          <a:ln/>
        </p:spPr>
        <p:txBody>
          <a:bodyPr wrap="square" lIns="0" tIns="0" rIns="0" bIns="0" rtlCol="0" anchor="t"/>
          <a:lstStyle/>
          <a:p>
            <a:pPr indent="0" marL="0">
              <a:buNone/>
            </a:pPr>
            <a:r>
              <a:rPr lang="en-US" sz="800" spc="100" kern="0" dirty="0">
                <a:solidFill>
                  <a:srgbClr val="6A6A6A"/>
                </a:solidFill>
                <a:latin typeface="IBM Plex Sans JP" pitchFamily="34" charset="0"/>
                <a:ea typeface="IBM Plex Sans JP" pitchFamily="34" charset="-122"/>
                <a:cs typeface="IBM Plex Sans JP" pitchFamily="34" charset="-120"/>
              </a:rPr>
              <a:t>商圏カバー率の目安（市単位）</a:t>
            </a:r>
            <a:endParaRPr lang="en-US" sz="800" dirty="0"/>
          </a:p>
        </p:txBody>
      </p:sp>
      <p:sp>
        <p:nvSpPr>
          <p:cNvPr id="15" name="Text 13"/>
          <p:cNvSpPr/>
          <p:nvPr/>
        </p:nvSpPr>
        <p:spPr>
          <a:xfrm>
            <a:off x="685800" y="5276088"/>
            <a:ext cx="1828800" cy="228600"/>
          </a:xfrm>
          <a:prstGeom prst="rect">
            <a:avLst/>
          </a:prstGeom>
          <a:noFill/>
          <a:ln/>
        </p:spPr>
        <p:txBody>
          <a:bodyPr wrap="square" lIns="0" tIns="0" rIns="0" bIns="0" rtlCol="0" anchor="t"/>
          <a:lstStyle/>
          <a:p>
            <a:pPr indent="0" marL="0">
              <a:buNone/>
            </a:pPr>
            <a:r>
              <a:rPr lang="en-US" sz="1000" dirty="0">
                <a:solidFill>
                  <a:srgbClr val="6A6A6A"/>
                </a:solidFill>
                <a:latin typeface="IBM Plex Sans JP" pitchFamily="34" charset="0"/>
                <a:ea typeface="IBM Plex Sans JP" pitchFamily="34" charset="-122"/>
                <a:cs typeface="IBM Plex Sans JP" pitchFamily="34" charset="-120"/>
              </a:rPr>
              <a:t>鳥取市</a:t>
            </a:r>
            <a:endParaRPr lang="en-US" sz="1000" dirty="0"/>
          </a:p>
        </p:txBody>
      </p:sp>
      <p:sp>
        <p:nvSpPr>
          <p:cNvPr id="16" name="Text 14"/>
          <p:cNvSpPr/>
          <p:nvPr/>
        </p:nvSpPr>
        <p:spPr>
          <a:xfrm>
            <a:off x="2926080" y="5276088"/>
            <a:ext cx="1097280" cy="228600"/>
          </a:xfrm>
          <a:prstGeom prst="rect">
            <a:avLst/>
          </a:prstGeom>
          <a:noFill/>
          <a:ln/>
        </p:spPr>
        <p:txBody>
          <a:bodyPr wrap="square" lIns="0" tIns="0" rIns="0" bIns="0" rtlCol="0" anchor="t"/>
          <a:lstStyle/>
          <a:p>
            <a:pPr algn="r" indent="0" marL="0">
              <a:buNone/>
            </a:pPr>
            <a:r>
              <a:rPr lang="en-US" sz="1100" b="1" dirty="0">
                <a:solidFill>
                  <a:srgbClr val="111111"/>
                </a:solidFill>
                <a:latin typeface="IBM Plex Sans JP" pitchFamily="34" charset="0"/>
                <a:ea typeface="IBM Plex Sans JP" pitchFamily="34" charset="-122"/>
                <a:cs typeface="IBM Plex Sans JP" pitchFamily="34" charset="-120"/>
              </a:rPr>
              <a:t>22.8%</a:t>
            </a:r>
            <a:endParaRPr lang="en-US" sz="1100" dirty="0"/>
          </a:p>
        </p:txBody>
      </p:sp>
      <p:sp>
        <p:nvSpPr>
          <p:cNvPr id="17" name="Text 15"/>
          <p:cNvSpPr/>
          <p:nvPr/>
        </p:nvSpPr>
        <p:spPr>
          <a:xfrm>
            <a:off x="685800" y="5532120"/>
            <a:ext cx="1828800" cy="228600"/>
          </a:xfrm>
          <a:prstGeom prst="rect">
            <a:avLst/>
          </a:prstGeom>
          <a:noFill/>
          <a:ln/>
        </p:spPr>
        <p:txBody>
          <a:bodyPr wrap="square" lIns="0" tIns="0" rIns="0" bIns="0" rtlCol="0" anchor="t"/>
          <a:lstStyle/>
          <a:p>
            <a:pPr indent="0" marL="0">
              <a:buNone/>
            </a:pPr>
            <a:r>
              <a:rPr lang="en-US" sz="1000" dirty="0">
                <a:solidFill>
                  <a:srgbClr val="6A6A6A"/>
                </a:solidFill>
                <a:latin typeface="IBM Plex Sans JP" pitchFamily="34" charset="0"/>
                <a:ea typeface="IBM Plex Sans JP" pitchFamily="34" charset="-122"/>
                <a:cs typeface="IBM Plex Sans JP" pitchFamily="34" charset="-120"/>
              </a:rPr>
              <a:t>高松市</a:t>
            </a:r>
            <a:endParaRPr lang="en-US" sz="1000" dirty="0"/>
          </a:p>
        </p:txBody>
      </p:sp>
      <p:sp>
        <p:nvSpPr>
          <p:cNvPr id="18" name="Text 16"/>
          <p:cNvSpPr/>
          <p:nvPr/>
        </p:nvSpPr>
        <p:spPr>
          <a:xfrm>
            <a:off x="2926080" y="5532120"/>
            <a:ext cx="1097280" cy="228600"/>
          </a:xfrm>
          <a:prstGeom prst="rect">
            <a:avLst/>
          </a:prstGeom>
          <a:noFill/>
          <a:ln/>
        </p:spPr>
        <p:txBody>
          <a:bodyPr wrap="square" lIns="0" tIns="0" rIns="0" bIns="0" rtlCol="0" anchor="t"/>
          <a:lstStyle/>
          <a:p>
            <a:pPr algn="r" indent="0" marL="0">
              <a:buNone/>
            </a:pPr>
            <a:r>
              <a:rPr lang="en-US" sz="1100" b="1" dirty="0">
                <a:solidFill>
                  <a:srgbClr val="111111"/>
                </a:solidFill>
                <a:latin typeface="IBM Plex Sans JP" pitchFamily="34" charset="0"/>
                <a:ea typeface="IBM Plex Sans JP" pitchFamily="34" charset="-122"/>
                <a:cs typeface="IBM Plex Sans JP" pitchFamily="34" charset="-120"/>
              </a:rPr>
              <a:t>9.5%</a:t>
            </a:r>
            <a:endParaRPr lang="en-US" sz="1100" dirty="0"/>
          </a:p>
        </p:txBody>
      </p:sp>
      <p:sp>
        <p:nvSpPr>
          <p:cNvPr id="19" name="Shape 17"/>
          <p:cNvSpPr/>
          <p:nvPr/>
        </p:nvSpPr>
        <p:spPr>
          <a:xfrm>
            <a:off x="4427068" y="2148840"/>
            <a:ext cx="3337560" cy="0"/>
          </a:xfrm>
          <a:prstGeom prst="line">
            <a:avLst/>
          </a:prstGeom>
          <a:noFill/>
          <a:ln w="15875">
            <a:solidFill>
              <a:srgbClr val="111111"/>
            </a:solidFill>
            <a:prstDash val="solid"/>
          </a:ln>
        </p:spPr>
      </p:sp>
      <p:sp>
        <p:nvSpPr>
          <p:cNvPr id="20" name="Shape 18"/>
          <p:cNvSpPr/>
          <p:nvPr/>
        </p:nvSpPr>
        <p:spPr>
          <a:xfrm>
            <a:off x="6850228" y="2331720"/>
            <a:ext cx="914400" cy="237744"/>
          </a:xfrm>
          <a:prstGeom prst="roundRect">
            <a:avLst>
              <a:gd name="adj" fmla="val 15385"/>
            </a:avLst>
          </a:prstGeom>
          <a:solidFill>
            <a:srgbClr val="F19834"/>
          </a:solidFill>
          <a:ln w="12700">
            <a:solidFill>
              <a:srgbClr val="F19834"/>
            </a:solidFill>
            <a:prstDash val="solid"/>
          </a:ln>
        </p:spPr>
      </p:sp>
      <p:sp>
        <p:nvSpPr>
          <p:cNvPr id="21" name="Text 19"/>
          <p:cNvSpPr/>
          <p:nvPr/>
        </p:nvSpPr>
        <p:spPr>
          <a:xfrm>
            <a:off x="6850228" y="2331720"/>
            <a:ext cx="914400" cy="237744"/>
          </a:xfrm>
          <a:prstGeom prst="rect">
            <a:avLst/>
          </a:prstGeom>
          <a:noFill/>
          <a:ln/>
        </p:spPr>
        <p:txBody>
          <a:bodyPr wrap="square" lIns="0" tIns="0" rIns="0" bIns="0" rtlCol="0" anchor="ctr"/>
          <a:lstStyle/>
          <a:p>
            <a:pPr algn="ctr" indent="0" marL="0">
              <a:buNone/>
            </a:pPr>
            <a:r>
              <a:rPr lang="en-US" sz="800" b="1" dirty="0">
                <a:solidFill>
                  <a:srgbClr val="111111"/>
                </a:solidFill>
                <a:latin typeface="IBM Plex Sans JP" pitchFamily="34" charset="0"/>
                <a:ea typeface="IBM Plex Sans JP" pitchFamily="34" charset="-122"/>
                <a:cs typeface="IBM Plex Sans JP" pitchFamily="34" charset="-120"/>
              </a:rPr>
              <a:t>推奨</a:t>
            </a:r>
            <a:endParaRPr lang="en-US" sz="800" dirty="0"/>
          </a:p>
        </p:txBody>
      </p:sp>
      <p:sp>
        <p:nvSpPr>
          <p:cNvPr id="22" name="Text 20"/>
          <p:cNvSpPr/>
          <p:nvPr/>
        </p:nvSpPr>
        <p:spPr>
          <a:xfrm>
            <a:off x="4427068" y="2377440"/>
            <a:ext cx="2331720" cy="320040"/>
          </a:xfrm>
          <a:prstGeom prst="rect">
            <a:avLst/>
          </a:prstGeom>
          <a:noFill/>
          <a:ln/>
        </p:spPr>
        <p:txBody>
          <a:bodyPr wrap="square" lIns="0" tIns="0" rIns="0" bIns="0" rtlCol="0" anchor="t"/>
          <a:lstStyle/>
          <a:p>
            <a:pPr indent="0" marL="0">
              <a:buNone/>
            </a:pPr>
            <a:r>
              <a:rPr lang="en-US" sz="1700" b="1" dirty="0">
                <a:solidFill>
                  <a:srgbClr val="111111"/>
                </a:solidFill>
                <a:latin typeface="IBM Plex Sans JP" pitchFamily="34" charset="0"/>
                <a:ea typeface="IBM Plex Sans JP" pitchFamily="34" charset="-122"/>
                <a:cs typeface="IBM Plex Sans JP" pitchFamily="34" charset="-120"/>
              </a:rPr>
              <a:t>スタンダード</a:t>
            </a:r>
            <a:endParaRPr lang="en-US" sz="1700" dirty="0"/>
          </a:p>
        </p:txBody>
      </p:sp>
      <p:sp>
        <p:nvSpPr>
          <p:cNvPr id="23" name="Text 21"/>
          <p:cNvSpPr/>
          <p:nvPr/>
        </p:nvSpPr>
        <p:spPr>
          <a:xfrm>
            <a:off x="4427068" y="2715768"/>
            <a:ext cx="3337560" cy="228600"/>
          </a:xfrm>
          <a:prstGeom prst="rect">
            <a:avLst/>
          </a:prstGeom>
          <a:noFill/>
          <a:ln/>
        </p:spPr>
        <p:txBody>
          <a:bodyPr wrap="square" lIns="0" tIns="0" rIns="0" bIns="0" rtlCol="0" anchor="t"/>
          <a:lstStyle/>
          <a:p>
            <a:pPr indent="0" marL="0">
              <a:buNone/>
            </a:pPr>
            <a:r>
              <a:rPr lang="en-US" sz="950" dirty="0">
                <a:solidFill>
                  <a:srgbClr val="6A6A6A"/>
                </a:solidFill>
                <a:latin typeface="IBM Plex Sans JP" pitchFamily="34" charset="0"/>
                <a:ea typeface="IBM Plex Sans JP" pitchFamily="34" charset="-122"/>
                <a:cs typeface="IBM Plex Sans JP" pitchFamily="34" charset="-120"/>
              </a:rPr>
              <a:t>地域で認知を取る</a:t>
            </a:r>
            <a:endParaRPr lang="en-US" sz="950" dirty="0"/>
          </a:p>
        </p:txBody>
      </p:sp>
      <p:sp>
        <p:nvSpPr>
          <p:cNvPr id="24" name="Text 22"/>
          <p:cNvSpPr/>
          <p:nvPr/>
        </p:nvSpPr>
        <p:spPr>
          <a:xfrm>
            <a:off x="4427068" y="3017520"/>
            <a:ext cx="3337560" cy="411480"/>
          </a:xfrm>
          <a:prstGeom prst="rect">
            <a:avLst/>
          </a:prstGeom>
          <a:noFill/>
          <a:ln/>
        </p:spPr>
        <p:txBody>
          <a:bodyPr wrap="square" lIns="0" tIns="0" rIns="0" bIns="0" rtlCol="0" anchor="b"/>
          <a:lstStyle/>
          <a:p>
            <a:pPr indent="0" marL="0">
              <a:buNone/>
            </a:pPr>
            <a:r>
              <a:rPr lang="en-US" sz="2200" b="1" dirty="0">
                <a:solidFill>
                  <a:srgbClr val="111111"/>
                </a:solidFill>
                <a:latin typeface="IBM Plex Sans JP" pitchFamily="34" charset="0"/>
                <a:ea typeface="IBM Plex Sans JP" pitchFamily="34" charset="-122"/>
                <a:cs typeface="IBM Plex Sans JP" pitchFamily="34" charset="-120"/>
              </a:rPr>
              <a:t>¥1,000,000</a:t>
            </a:r>
            <a:pPr indent="0" marL="0">
              <a:buNone/>
            </a:pPr>
            <a:r>
              <a:rPr lang="en-US" sz="850" dirty="0">
                <a:solidFill>
                  <a:srgbClr val="6A6A6A"/>
                </a:solidFill>
                <a:latin typeface="IBM Plex Sans JP" pitchFamily="34" charset="0"/>
                <a:ea typeface="IBM Plex Sans JP" pitchFamily="34" charset="-122"/>
                <a:cs typeface="IBM Plex Sans JP" pitchFamily="34" charset="-120"/>
              </a:rPr>
              <a:t>　／月・媒体費</a:t>
            </a:r>
            <a:endParaRPr lang="en-US" sz="2200" dirty="0"/>
          </a:p>
        </p:txBody>
      </p:sp>
      <p:sp>
        <p:nvSpPr>
          <p:cNvPr id="25" name="Text 23"/>
          <p:cNvSpPr/>
          <p:nvPr/>
        </p:nvSpPr>
        <p:spPr>
          <a:xfrm>
            <a:off x="4427068" y="3474720"/>
            <a:ext cx="3337560" cy="228600"/>
          </a:xfrm>
          <a:prstGeom prst="rect">
            <a:avLst/>
          </a:prstGeom>
          <a:noFill/>
          <a:ln/>
        </p:spPr>
        <p:txBody>
          <a:bodyPr wrap="square" lIns="0" tIns="0" rIns="0" bIns="0" rtlCol="0" anchor="t"/>
          <a:lstStyle/>
          <a:p>
            <a:pPr indent="0" marL="0">
              <a:buNone/>
            </a:pPr>
            <a:r>
              <a:rPr lang="en-US" sz="950" b="1" dirty="0">
                <a:solidFill>
                  <a:srgbClr val="D97F18"/>
                </a:solidFill>
                <a:latin typeface="IBM Plex Sans JP" pitchFamily="34" charset="0"/>
                <a:ea typeface="IBM Plex Sans JP" pitchFamily="34" charset="-122"/>
                <a:cs typeface="IBM Plex Sans JP" pitchFamily="34" charset="-120"/>
              </a:rPr>
              <a:t>月あたり 約26,991人に到達</a:t>
            </a:r>
            <a:endParaRPr lang="en-US" sz="950" dirty="0"/>
          </a:p>
        </p:txBody>
      </p:sp>
      <p:sp>
        <p:nvSpPr>
          <p:cNvPr id="26" name="Shape 24"/>
          <p:cNvSpPr/>
          <p:nvPr/>
        </p:nvSpPr>
        <p:spPr>
          <a:xfrm>
            <a:off x="4427068" y="3794760"/>
            <a:ext cx="3337560" cy="0"/>
          </a:xfrm>
          <a:prstGeom prst="line">
            <a:avLst/>
          </a:prstGeom>
          <a:noFill/>
          <a:ln w="6350">
            <a:solidFill>
              <a:srgbClr val="E6E4E0"/>
            </a:solidFill>
            <a:prstDash val="solid"/>
          </a:ln>
        </p:spPr>
      </p:sp>
      <p:sp>
        <p:nvSpPr>
          <p:cNvPr id="27" name="Text 25"/>
          <p:cNvSpPr/>
          <p:nvPr/>
        </p:nvSpPr>
        <p:spPr>
          <a:xfrm>
            <a:off x="4427068" y="3904488"/>
            <a:ext cx="3337560" cy="1005840"/>
          </a:xfrm>
          <a:prstGeom prst="rect">
            <a:avLst/>
          </a:prstGeom>
          <a:noFill/>
          <a:ln/>
        </p:spPr>
        <p:txBody>
          <a:bodyPr wrap="square" lIns="0" tIns="0" rIns="0" bIns="0" rtlCol="0" anchor="t"/>
          <a:lstStyle/>
          <a:p>
            <a:pPr indent="0" marL="0">
              <a:lnSpc>
                <a:spcPct val="155000"/>
              </a:lnSpc>
              <a:buNone/>
            </a:pPr>
            <a:r>
              <a:rPr lang="en-US" sz="950" dirty="0">
                <a:solidFill>
                  <a:srgbClr val="6A6A6A"/>
                </a:solidFill>
                <a:latin typeface="IBM Plex Sans JP" pitchFamily="34" charset="0"/>
                <a:ea typeface="IBM Plex Sans JP" pitchFamily="34" charset="-122"/>
                <a:cs typeface="IBM Plex Sans JP" pitchFamily="34" charset="-120"/>
              </a:rPr>
              <a:t>推奨期間　3ヶ月</a:t>
            </a:r>
            <a:endParaRPr lang="en-US" sz="950" dirty="0"/>
          </a:p>
          <a:p>
            <a:pPr indent="0" marL="0">
              <a:lnSpc>
                <a:spcPct val="155000"/>
              </a:lnSpc>
              <a:buNone/>
            </a:pPr>
            <a:r>
              <a:rPr lang="en-US" sz="950" dirty="0">
                <a:solidFill>
                  <a:srgbClr val="6A6A6A"/>
                </a:solidFill>
                <a:latin typeface="IBM Plex Sans JP" pitchFamily="34" charset="0"/>
                <a:ea typeface="IBM Plex Sans JP" pitchFamily="34" charset="-122"/>
                <a:cs typeface="IBM Plex Sans JP" pitchFamily="34" charset="-120"/>
              </a:rPr>
              <a:t>CM制作　CM制作込み（¥600,000〜）</a:t>
            </a:r>
            <a:endParaRPr lang="en-US" sz="950" dirty="0"/>
          </a:p>
          <a:p>
            <a:pPr indent="0" marL="0">
              <a:lnSpc>
                <a:spcPct val="155000"/>
              </a:lnSpc>
              <a:buNone/>
            </a:pPr>
            <a:r>
              <a:rPr lang="en-US" sz="950" dirty="0">
                <a:solidFill>
                  <a:srgbClr val="6A6A6A"/>
                </a:solidFill>
                <a:latin typeface="IBM Plex Sans JP" pitchFamily="34" charset="0"/>
                <a:ea typeface="IBM Plex Sans JP" pitchFamily="34" charset="-122"/>
                <a:cs typeface="IBM Plex Sans JP" pitchFamily="34" charset="-120"/>
              </a:rPr>
              <a:t>配信エリア　県内 or 商圏カスタム</a:t>
            </a:r>
            <a:endParaRPr lang="en-US" sz="950" dirty="0"/>
          </a:p>
          <a:p>
            <a:pPr indent="0" marL="0">
              <a:lnSpc>
                <a:spcPct val="155000"/>
              </a:lnSpc>
              <a:buNone/>
            </a:pPr>
            <a:r>
              <a:rPr lang="en-US" sz="950" dirty="0">
                <a:solidFill>
                  <a:srgbClr val="6A6A6A"/>
                </a:solidFill>
                <a:latin typeface="IBM Plex Sans JP" pitchFamily="34" charset="0"/>
                <a:ea typeface="IBM Plex Sans JP" pitchFamily="34" charset="-122"/>
                <a:cs typeface="IBM Plex Sans JP" pitchFamily="34" charset="-120"/>
              </a:rPr>
              <a:t>レポート　中間＋終了時</a:t>
            </a:r>
            <a:endParaRPr lang="en-US" sz="950" dirty="0"/>
          </a:p>
        </p:txBody>
      </p:sp>
      <p:sp>
        <p:nvSpPr>
          <p:cNvPr id="28" name="Shape 26"/>
          <p:cNvSpPr/>
          <p:nvPr/>
        </p:nvSpPr>
        <p:spPr>
          <a:xfrm>
            <a:off x="4427068" y="4937760"/>
            <a:ext cx="3337560" cy="0"/>
          </a:xfrm>
          <a:prstGeom prst="line">
            <a:avLst/>
          </a:prstGeom>
          <a:noFill/>
          <a:ln w="6350">
            <a:solidFill>
              <a:srgbClr val="E6E4E0"/>
            </a:solidFill>
            <a:prstDash val="solid"/>
          </a:ln>
        </p:spPr>
      </p:sp>
      <p:sp>
        <p:nvSpPr>
          <p:cNvPr id="29" name="Text 27"/>
          <p:cNvSpPr/>
          <p:nvPr/>
        </p:nvSpPr>
        <p:spPr>
          <a:xfrm>
            <a:off x="4427068" y="5029200"/>
            <a:ext cx="3337560" cy="201168"/>
          </a:xfrm>
          <a:prstGeom prst="rect">
            <a:avLst/>
          </a:prstGeom>
          <a:noFill/>
          <a:ln/>
        </p:spPr>
        <p:txBody>
          <a:bodyPr wrap="square" lIns="0" tIns="0" rIns="0" bIns="0" rtlCol="0" anchor="t"/>
          <a:lstStyle/>
          <a:p>
            <a:pPr indent="0" marL="0">
              <a:buNone/>
            </a:pPr>
            <a:r>
              <a:rPr lang="en-US" sz="800" spc="100" kern="0" dirty="0">
                <a:solidFill>
                  <a:srgbClr val="6A6A6A"/>
                </a:solidFill>
                <a:latin typeface="IBM Plex Sans JP" pitchFamily="34" charset="0"/>
                <a:ea typeface="IBM Plex Sans JP" pitchFamily="34" charset="-122"/>
                <a:cs typeface="IBM Plex Sans JP" pitchFamily="34" charset="-120"/>
              </a:rPr>
              <a:t>商圏カバー率の目安（市単位）</a:t>
            </a:r>
            <a:endParaRPr lang="en-US" sz="800" dirty="0"/>
          </a:p>
        </p:txBody>
      </p:sp>
      <p:sp>
        <p:nvSpPr>
          <p:cNvPr id="30" name="Text 28"/>
          <p:cNvSpPr/>
          <p:nvPr/>
        </p:nvSpPr>
        <p:spPr>
          <a:xfrm>
            <a:off x="4427068" y="5276088"/>
            <a:ext cx="1828800" cy="228600"/>
          </a:xfrm>
          <a:prstGeom prst="rect">
            <a:avLst/>
          </a:prstGeom>
          <a:noFill/>
          <a:ln/>
        </p:spPr>
        <p:txBody>
          <a:bodyPr wrap="square" lIns="0" tIns="0" rIns="0" bIns="0" rtlCol="0" anchor="t"/>
          <a:lstStyle/>
          <a:p>
            <a:pPr indent="0" marL="0">
              <a:buNone/>
            </a:pPr>
            <a:r>
              <a:rPr lang="en-US" sz="1000" dirty="0">
                <a:solidFill>
                  <a:srgbClr val="6A6A6A"/>
                </a:solidFill>
                <a:latin typeface="IBM Plex Sans JP" pitchFamily="34" charset="0"/>
                <a:ea typeface="IBM Plex Sans JP" pitchFamily="34" charset="-122"/>
                <a:cs typeface="IBM Plex Sans JP" pitchFamily="34" charset="-120"/>
              </a:rPr>
              <a:t>鳥取市</a:t>
            </a:r>
            <a:endParaRPr lang="en-US" sz="1000" dirty="0"/>
          </a:p>
        </p:txBody>
      </p:sp>
      <p:sp>
        <p:nvSpPr>
          <p:cNvPr id="31" name="Text 29"/>
          <p:cNvSpPr/>
          <p:nvPr/>
        </p:nvSpPr>
        <p:spPr>
          <a:xfrm>
            <a:off x="6667348" y="5276088"/>
            <a:ext cx="1097280" cy="228600"/>
          </a:xfrm>
          <a:prstGeom prst="rect">
            <a:avLst/>
          </a:prstGeom>
          <a:noFill/>
          <a:ln/>
        </p:spPr>
        <p:txBody>
          <a:bodyPr wrap="square" lIns="0" tIns="0" rIns="0" bIns="0" rtlCol="0" anchor="t"/>
          <a:lstStyle/>
          <a:p>
            <a:pPr algn="r" indent="0" marL="0">
              <a:buNone/>
            </a:pPr>
            <a:r>
              <a:rPr lang="en-US" sz="1100" b="1" dirty="0">
                <a:solidFill>
                  <a:srgbClr val="111111"/>
                </a:solidFill>
                <a:latin typeface="IBM Plex Sans JP" pitchFamily="34" charset="0"/>
                <a:ea typeface="IBM Plex Sans JP" pitchFamily="34" charset="-122"/>
                <a:cs typeface="IBM Plex Sans JP" pitchFamily="34" charset="-120"/>
              </a:rPr>
              <a:t>45.6%</a:t>
            </a:r>
            <a:endParaRPr lang="en-US" sz="1100" dirty="0"/>
          </a:p>
        </p:txBody>
      </p:sp>
      <p:sp>
        <p:nvSpPr>
          <p:cNvPr id="32" name="Text 30"/>
          <p:cNvSpPr/>
          <p:nvPr/>
        </p:nvSpPr>
        <p:spPr>
          <a:xfrm>
            <a:off x="4427068" y="5532120"/>
            <a:ext cx="1828800" cy="228600"/>
          </a:xfrm>
          <a:prstGeom prst="rect">
            <a:avLst/>
          </a:prstGeom>
          <a:noFill/>
          <a:ln/>
        </p:spPr>
        <p:txBody>
          <a:bodyPr wrap="square" lIns="0" tIns="0" rIns="0" bIns="0" rtlCol="0" anchor="t"/>
          <a:lstStyle/>
          <a:p>
            <a:pPr indent="0" marL="0">
              <a:buNone/>
            </a:pPr>
            <a:r>
              <a:rPr lang="en-US" sz="1000" dirty="0">
                <a:solidFill>
                  <a:srgbClr val="6A6A6A"/>
                </a:solidFill>
                <a:latin typeface="IBM Plex Sans JP" pitchFamily="34" charset="0"/>
                <a:ea typeface="IBM Plex Sans JP" pitchFamily="34" charset="-122"/>
                <a:cs typeface="IBM Plex Sans JP" pitchFamily="34" charset="-120"/>
              </a:rPr>
              <a:t>高松市</a:t>
            </a:r>
            <a:endParaRPr lang="en-US" sz="1000" dirty="0"/>
          </a:p>
        </p:txBody>
      </p:sp>
      <p:sp>
        <p:nvSpPr>
          <p:cNvPr id="33" name="Text 31"/>
          <p:cNvSpPr/>
          <p:nvPr/>
        </p:nvSpPr>
        <p:spPr>
          <a:xfrm>
            <a:off x="6667348" y="5532120"/>
            <a:ext cx="1097280" cy="228600"/>
          </a:xfrm>
          <a:prstGeom prst="rect">
            <a:avLst/>
          </a:prstGeom>
          <a:noFill/>
          <a:ln/>
        </p:spPr>
        <p:txBody>
          <a:bodyPr wrap="square" lIns="0" tIns="0" rIns="0" bIns="0" rtlCol="0" anchor="t"/>
          <a:lstStyle/>
          <a:p>
            <a:pPr algn="r" indent="0" marL="0">
              <a:buNone/>
            </a:pPr>
            <a:r>
              <a:rPr lang="en-US" sz="1100" b="1" dirty="0">
                <a:solidFill>
                  <a:srgbClr val="111111"/>
                </a:solidFill>
                <a:latin typeface="IBM Plex Sans JP" pitchFamily="34" charset="0"/>
                <a:ea typeface="IBM Plex Sans JP" pitchFamily="34" charset="-122"/>
                <a:cs typeface="IBM Plex Sans JP" pitchFamily="34" charset="-120"/>
              </a:rPr>
              <a:t>19.1%</a:t>
            </a:r>
            <a:endParaRPr lang="en-US" sz="1100" dirty="0"/>
          </a:p>
        </p:txBody>
      </p:sp>
      <p:sp>
        <p:nvSpPr>
          <p:cNvPr id="34" name="Shape 32"/>
          <p:cNvSpPr/>
          <p:nvPr/>
        </p:nvSpPr>
        <p:spPr>
          <a:xfrm>
            <a:off x="8168335" y="2148840"/>
            <a:ext cx="3337560" cy="0"/>
          </a:xfrm>
          <a:prstGeom prst="line">
            <a:avLst/>
          </a:prstGeom>
          <a:noFill/>
          <a:ln w="9525">
            <a:solidFill>
              <a:srgbClr val="E6E4E0"/>
            </a:solidFill>
            <a:prstDash val="solid"/>
          </a:ln>
        </p:spPr>
      </p:sp>
      <p:sp>
        <p:nvSpPr>
          <p:cNvPr id="35" name="Text 33"/>
          <p:cNvSpPr/>
          <p:nvPr/>
        </p:nvSpPr>
        <p:spPr>
          <a:xfrm>
            <a:off x="8168335" y="2377440"/>
            <a:ext cx="2331720" cy="320040"/>
          </a:xfrm>
          <a:prstGeom prst="rect">
            <a:avLst/>
          </a:prstGeom>
          <a:noFill/>
          <a:ln/>
        </p:spPr>
        <p:txBody>
          <a:bodyPr wrap="square" lIns="0" tIns="0" rIns="0" bIns="0" rtlCol="0" anchor="t"/>
          <a:lstStyle/>
          <a:p>
            <a:pPr indent="0" marL="0">
              <a:buNone/>
            </a:pPr>
            <a:r>
              <a:rPr lang="en-US" sz="1700" b="1" dirty="0">
                <a:solidFill>
                  <a:srgbClr val="111111"/>
                </a:solidFill>
                <a:latin typeface="IBM Plex Sans JP" pitchFamily="34" charset="0"/>
                <a:ea typeface="IBM Plex Sans JP" pitchFamily="34" charset="-122"/>
                <a:cs typeface="IBM Plex Sans JP" pitchFamily="34" charset="-120"/>
              </a:rPr>
              <a:t>ドミナント</a:t>
            </a:r>
            <a:endParaRPr lang="en-US" sz="1700" dirty="0"/>
          </a:p>
        </p:txBody>
      </p:sp>
      <p:sp>
        <p:nvSpPr>
          <p:cNvPr id="36" name="Text 34"/>
          <p:cNvSpPr/>
          <p:nvPr/>
        </p:nvSpPr>
        <p:spPr>
          <a:xfrm>
            <a:off x="8168335" y="2715768"/>
            <a:ext cx="3337560" cy="228600"/>
          </a:xfrm>
          <a:prstGeom prst="rect">
            <a:avLst/>
          </a:prstGeom>
          <a:noFill/>
          <a:ln/>
        </p:spPr>
        <p:txBody>
          <a:bodyPr wrap="square" lIns="0" tIns="0" rIns="0" bIns="0" rtlCol="0" anchor="t"/>
          <a:lstStyle/>
          <a:p>
            <a:pPr indent="0" marL="0">
              <a:buNone/>
            </a:pPr>
            <a:r>
              <a:rPr lang="en-US" sz="950" dirty="0">
                <a:solidFill>
                  <a:srgbClr val="6A6A6A"/>
                </a:solidFill>
                <a:latin typeface="IBM Plex Sans JP" pitchFamily="34" charset="0"/>
                <a:ea typeface="IBM Plex Sans JP" pitchFamily="34" charset="-122"/>
                <a:cs typeface="IBM Plex Sans JP" pitchFamily="34" charset="-120"/>
              </a:rPr>
              <a:t>商圏で面を取る</a:t>
            </a:r>
            <a:endParaRPr lang="en-US" sz="950" dirty="0"/>
          </a:p>
        </p:txBody>
      </p:sp>
      <p:sp>
        <p:nvSpPr>
          <p:cNvPr id="37" name="Text 35"/>
          <p:cNvSpPr/>
          <p:nvPr/>
        </p:nvSpPr>
        <p:spPr>
          <a:xfrm>
            <a:off x="8168335" y="3017520"/>
            <a:ext cx="3337560" cy="411480"/>
          </a:xfrm>
          <a:prstGeom prst="rect">
            <a:avLst/>
          </a:prstGeom>
          <a:noFill/>
          <a:ln/>
        </p:spPr>
        <p:txBody>
          <a:bodyPr wrap="square" lIns="0" tIns="0" rIns="0" bIns="0" rtlCol="0" anchor="b"/>
          <a:lstStyle/>
          <a:p>
            <a:pPr indent="0" marL="0">
              <a:buNone/>
            </a:pPr>
            <a:r>
              <a:rPr lang="en-US" sz="2200" b="1" dirty="0">
                <a:solidFill>
                  <a:srgbClr val="111111"/>
                </a:solidFill>
                <a:latin typeface="IBM Plex Sans JP" pitchFamily="34" charset="0"/>
                <a:ea typeface="IBM Plex Sans JP" pitchFamily="34" charset="-122"/>
                <a:cs typeface="IBM Plex Sans JP" pitchFamily="34" charset="-120"/>
              </a:rPr>
              <a:t>¥2,000,000</a:t>
            </a:r>
            <a:pPr indent="0" marL="0">
              <a:buNone/>
            </a:pPr>
            <a:r>
              <a:rPr lang="en-US" sz="850" dirty="0">
                <a:solidFill>
                  <a:srgbClr val="6A6A6A"/>
                </a:solidFill>
                <a:latin typeface="IBM Plex Sans JP" pitchFamily="34" charset="0"/>
                <a:ea typeface="IBM Plex Sans JP" pitchFamily="34" charset="-122"/>
                <a:cs typeface="IBM Plex Sans JP" pitchFamily="34" charset="-120"/>
              </a:rPr>
              <a:t>　／月・媒体費</a:t>
            </a:r>
            <a:endParaRPr lang="en-US" sz="2200" dirty="0"/>
          </a:p>
        </p:txBody>
      </p:sp>
      <p:sp>
        <p:nvSpPr>
          <p:cNvPr id="38" name="Text 36"/>
          <p:cNvSpPr/>
          <p:nvPr/>
        </p:nvSpPr>
        <p:spPr>
          <a:xfrm>
            <a:off x="8168335" y="3474720"/>
            <a:ext cx="3337560" cy="228600"/>
          </a:xfrm>
          <a:prstGeom prst="rect">
            <a:avLst/>
          </a:prstGeom>
          <a:noFill/>
          <a:ln/>
        </p:spPr>
        <p:txBody>
          <a:bodyPr wrap="square" lIns="0" tIns="0" rIns="0" bIns="0" rtlCol="0" anchor="t"/>
          <a:lstStyle/>
          <a:p>
            <a:pPr indent="0" marL="0">
              <a:buNone/>
            </a:pPr>
            <a:r>
              <a:rPr lang="en-US" sz="950" b="1" dirty="0">
                <a:solidFill>
                  <a:srgbClr val="D97F18"/>
                </a:solidFill>
                <a:latin typeface="IBM Plex Sans JP" pitchFamily="34" charset="0"/>
                <a:ea typeface="IBM Plex Sans JP" pitchFamily="34" charset="-122"/>
                <a:cs typeface="IBM Plex Sans JP" pitchFamily="34" charset="-120"/>
              </a:rPr>
              <a:t>月あたり 約53,981人に到達</a:t>
            </a:r>
            <a:endParaRPr lang="en-US" sz="950" dirty="0"/>
          </a:p>
        </p:txBody>
      </p:sp>
      <p:sp>
        <p:nvSpPr>
          <p:cNvPr id="39" name="Shape 37"/>
          <p:cNvSpPr/>
          <p:nvPr/>
        </p:nvSpPr>
        <p:spPr>
          <a:xfrm>
            <a:off x="8168335" y="3794760"/>
            <a:ext cx="3337560" cy="0"/>
          </a:xfrm>
          <a:prstGeom prst="line">
            <a:avLst/>
          </a:prstGeom>
          <a:noFill/>
          <a:ln w="6350">
            <a:solidFill>
              <a:srgbClr val="E6E4E0"/>
            </a:solidFill>
            <a:prstDash val="solid"/>
          </a:ln>
        </p:spPr>
      </p:sp>
      <p:sp>
        <p:nvSpPr>
          <p:cNvPr id="40" name="Text 38"/>
          <p:cNvSpPr/>
          <p:nvPr/>
        </p:nvSpPr>
        <p:spPr>
          <a:xfrm>
            <a:off x="8168335" y="3904488"/>
            <a:ext cx="3337560" cy="1005840"/>
          </a:xfrm>
          <a:prstGeom prst="rect">
            <a:avLst/>
          </a:prstGeom>
          <a:noFill/>
          <a:ln/>
        </p:spPr>
        <p:txBody>
          <a:bodyPr wrap="square" lIns="0" tIns="0" rIns="0" bIns="0" rtlCol="0" anchor="t"/>
          <a:lstStyle/>
          <a:p>
            <a:pPr indent="0" marL="0">
              <a:lnSpc>
                <a:spcPct val="155000"/>
              </a:lnSpc>
              <a:buNone/>
            </a:pPr>
            <a:r>
              <a:rPr lang="en-US" sz="950" dirty="0">
                <a:solidFill>
                  <a:srgbClr val="6A6A6A"/>
                </a:solidFill>
                <a:latin typeface="IBM Plex Sans JP" pitchFamily="34" charset="0"/>
                <a:ea typeface="IBM Plex Sans JP" pitchFamily="34" charset="-122"/>
                <a:cs typeface="IBM Plex Sans JP" pitchFamily="34" charset="-120"/>
              </a:rPr>
              <a:t>推奨期間　3ヶ月</a:t>
            </a:r>
            <a:endParaRPr lang="en-US" sz="950" dirty="0"/>
          </a:p>
          <a:p>
            <a:pPr indent="0" marL="0">
              <a:lnSpc>
                <a:spcPct val="155000"/>
              </a:lnSpc>
              <a:buNone/>
            </a:pPr>
            <a:r>
              <a:rPr lang="en-US" sz="950" dirty="0">
                <a:solidFill>
                  <a:srgbClr val="6A6A6A"/>
                </a:solidFill>
                <a:latin typeface="IBM Plex Sans JP" pitchFamily="34" charset="0"/>
                <a:ea typeface="IBM Plex Sans JP" pitchFamily="34" charset="-122"/>
                <a:cs typeface="IBM Plex Sans JP" pitchFamily="34" charset="-120"/>
              </a:rPr>
              <a:t>CM制作　CM制作＋2パターン（¥900,000〜）</a:t>
            </a:r>
            <a:endParaRPr lang="en-US" sz="950" dirty="0"/>
          </a:p>
          <a:p>
            <a:pPr indent="0" marL="0">
              <a:lnSpc>
                <a:spcPct val="155000"/>
              </a:lnSpc>
              <a:buNone/>
            </a:pPr>
            <a:r>
              <a:rPr lang="en-US" sz="950" dirty="0">
                <a:solidFill>
                  <a:srgbClr val="6A6A6A"/>
                </a:solidFill>
                <a:latin typeface="IBM Plex Sans JP" pitchFamily="34" charset="0"/>
                <a:ea typeface="IBM Plex Sans JP" pitchFamily="34" charset="-122"/>
                <a:cs typeface="IBM Plex Sans JP" pitchFamily="34" charset="-120"/>
              </a:rPr>
              <a:t>配信エリア　県内 or 商圏カスタム</a:t>
            </a:r>
            <a:endParaRPr lang="en-US" sz="950" dirty="0"/>
          </a:p>
          <a:p>
            <a:pPr indent="0" marL="0">
              <a:lnSpc>
                <a:spcPct val="155000"/>
              </a:lnSpc>
              <a:buNone/>
            </a:pPr>
            <a:r>
              <a:rPr lang="en-US" sz="950" dirty="0">
                <a:solidFill>
                  <a:srgbClr val="6A6A6A"/>
                </a:solidFill>
                <a:latin typeface="IBM Plex Sans JP" pitchFamily="34" charset="0"/>
                <a:ea typeface="IBM Plex Sans JP" pitchFamily="34" charset="-122"/>
                <a:cs typeface="IBM Plex Sans JP" pitchFamily="34" charset="-120"/>
              </a:rPr>
              <a:t>レポート　月次＋終了時</a:t>
            </a:r>
            <a:endParaRPr lang="en-US" sz="950" dirty="0"/>
          </a:p>
        </p:txBody>
      </p:sp>
      <p:sp>
        <p:nvSpPr>
          <p:cNvPr id="41" name="Shape 39"/>
          <p:cNvSpPr/>
          <p:nvPr/>
        </p:nvSpPr>
        <p:spPr>
          <a:xfrm>
            <a:off x="8168335" y="4937760"/>
            <a:ext cx="3337560" cy="0"/>
          </a:xfrm>
          <a:prstGeom prst="line">
            <a:avLst/>
          </a:prstGeom>
          <a:noFill/>
          <a:ln w="6350">
            <a:solidFill>
              <a:srgbClr val="E6E4E0"/>
            </a:solidFill>
            <a:prstDash val="solid"/>
          </a:ln>
        </p:spPr>
      </p:sp>
      <p:sp>
        <p:nvSpPr>
          <p:cNvPr id="42" name="Text 40"/>
          <p:cNvSpPr/>
          <p:nvPr/>
        </p:nvSpPr>
        <p:spPr>
          <a:xfrm>
            <a:off x="8168335" y="5029200"/>
            <a:ext cx="3337560" cy="201168"/>
          </a:xfrm>
          <a:prstGeom prst="rect">
            <a:avLst/>
          </a:prstGeom>
          <a:noFill/>
          <a:ln/>
        </p:spPr>
        <p:txBody>
          <a:bodyPr wrap="square" lIns="0" tIns="0" rIns="0" bIns="0" rtlCol="0" anchor="t"/>
          <a:lstStyle/>
          <a:p>
            <a:pPr indent="0" marL="0">
              <a:buNone/>
            </a:pPr>
            <a:r>
              <a:rPr lang="en-US" sz="800" spc="100" kern="0" dirty="0">
                <a:solidFill>
                  <a:srgbClr val="6A6A6A"/>
                </a:solidFill>
                <a:latin typeface="IBM Plex Sans JP" pitchFamily="34" charset="0"/>
                <a:ea typeface="IBM Plex Sans JP" pitchFamily="34" charset="-122"/>
                <a:cs typeface="IBM Plex Sans JP" pitchFamily="34" charset="-120"/>
              </a:rPr>
              <a:t>商圏カバー率の目安（市単位）</a:t>
            </a:r>
            <a:endParaRPr lang="en-US" sz="800" dirty="0"/>
          </a:p>
        </p:txBody>
      </p:sp>
      <p:sp>
        <p:nvSpPr>
          <p:cNvPr id="43" name="Text 41"/>
          <p:cNvSpPr/>
          <p:nvPr/>
        </p:nvSpPr>
        <p:spPr>
          <a:xfrm>
            <a:off x="8168335" y="5276088"/>
            <a:ext cx="1828800" cy="228600"/>
          </a:xfrm>
          <a:prstGeom prst="rect">
            <a:avLst/>
          </a:prstGeom>
          <a:noFill/>
          <a:ln/>
        </p:spPr>
        <p:txBody>
          <a:bodyPr wrap="square" lIns="0" tIns="0" rIns="0" bIns="0" rtlCol="0" anchor="t"/>
          <a:lstStyle/>
          <a:p>
            <a:pPr indent="0" marL="0">
              <a:buNone/>
            </a:pPr>
            <a:r>
              <a:rPr lang="en-US" sz="1000" dirty="0">
                <a:solidFill>
                  <a:srgbClr val="6A6A6A"/>
                </a:solidFill>
                <a:latin typeface="IBM Plex Sans JP" pitchFamily="34" charset="0"/>
                <a:ea typeface="IBM Plex Sans JP" pitchFamily="34" charset="-122"/>
                <a:cs typeface="IBM Plex Sans JP" pitchFamily="34" charset="-120"/>
              </a:rPr>
              <a:t>鳥取市</a:t>
            </a:r>
            <a:endParaRPr lang="en-US" sz="1000" dirty="0"/>
          </a:p>
        </p:txBody>
      </p:sp>
      <p:sp>
        <p:nvSpPr>
          <p:cNvPr id="44" name="Text 42"/>
          <p:cNvSpPr/>
          <p:nvPr/>
        </p:nvSpPr>
        <p:spPr>
          <a:xfrm>
            <a:off x="10408615" y="5276088"/>
            <a:ext cx="1097280" cy="228600"/>
          </a:xfrm>
          <a:prstGeom prst="rect">
            <a:avLst/>
          </a:prstGeom>
          <a:noFill/>
          <a:ln/>
        </p:spPr>
        <p:txBody>
          <a:bodyPr wrap="square" lIns="0" tIns="0" rIns="0" bIns="0" rtlCol="0" anchor="t"/>
          <a:lstStyle/>
          <a:p>
            <a:pPr algn="r" indent="0" marL="0">
              <a:buNone/>
            </a:pPr>
            <a:r>
              <a:rPr lang="en-US" sz="1100" b="1" dirty="0">
                <a:solidFill>
                  <a:srgbClr val="111111"/>
                </a:solidFill>
                <a:latin typeface="IBM Plex Sans JP" pitchFamily="34" charset="0"/>
                <a:ea typeface="IBM Plex Sans JP" pitchFamily="34" charset="-122"/>
                <a:cs typeface="IBM Plex Sans JP" pitchFamily="34" charset="-120"/>
              </a:rPr>
              <a:t>91.3%</a:t>
            </a:r>
            <a:endParaRPr lang="en-US" sz="1100" dirty="0"/>
          </a:p>
        </p:txBody>
      </p:sp>
      <p:sp>
        <p:nvSpPr>
          <p:cNvPr id="45" name="Text 43"/>
          <p:cNvSpPr/>
          <p:nvPr/>
        </p:nvSpPr>
        <p:spPr>
          <a:xfrm>
            <a:off x="8168335" y="5532120"/>
            <a:ext cx="1828800" cy="228600"/>
          </a:xfrm>
          <a:prstGeom prst="rect">
            <a:avLst/>
          </a:prstGeom>
          <a:noFill/>
          <a:ln/>
        </p:spPr>
        <p:txBody>
          <a:bodyPr wrap="square" lIns="0" tIns="0" rIns="0" bIns="0" rtlCol="0" anchor="t"/>
          <a:lstStyle/>
          <a:p>
            <a:pPr indent="0" marL="0">
              <a:buNone/>
            </a:pPr>
            <a:r>
              <a:rPr lang="en-US" sz="1000" dirty="0">
                <a:solidFill>
                  <a:srgbClr val="6A6A6A"/>
                </a:solidFill>
                <a:latin typeface="IBM Plex Sans JP" pitchFamily="34" charset="0"/>
                <a:ea typeface="IBM Plex Sans JP" pitchFamily="34" charset="-122"/>
                <a:cs typeface="IBM Plex Sans JP" pitchFamily="34" charset="-120"/>
              </a:rPr>
              <a:t>高松市</a:t>
            </a:r>
            <a:endParaRPr lang="en-US" sz="1000" dirty="0"/>
          </a:p>
        </p:txBody>
      </p:sp>
      <p:sp>
        <p:nvSpPr>
          <p:cNvPr id="46" name="Text 44"/>
          <p:cNvSpPr/>
          <p:nvPr/>
        </p:nvSpPr>
        <p:spPr>
          <a:xfrm>
            <a:off x="10408615" y="5532120"/>
            <a:ext cx="1097280" cy="228600"/>
          </a:xfrm>
          <a:prstGeom prst="rect">
            <a:avLst/>
          </a:prstGeom>
          <a:noFill/>
          <a:ln/>
        </p:spPr>
        <p:txBody>
          <a:bodyPr wrap="square" lIns="0" tIns="0" rIns="0" bIns="0" rtlCol="0" anchor="t"/>
          <a:lstStyle/>
          <a:p>
            <a:pPr algn="r" indent="0" marL="0">
              <a:buNone/>
            </a:pPr>
            <a:r>
              <a:rPr lang="en-US" sz="1100" b="1" dirty="0">
                <a:solidFill>
                  <a:srgbClr val="111111"/>
                </a:solidFill>
                <a:latin typeface="IBM Plex Sans JP" pitchFamily="34" charset="0"/>
                <a:ea typeface="IBM Plex Sans JP" pitchFamily="34" charset="-122"/>
                <a:cs typeface="IBM Plex Sans JP" pitchFamily="34" charset="-120"/>
              </a:rPr>
              <a:t>38.2%</a:t>
            </a:r>
            <a:endParaRPr lang="en-US" sz="1100" dirty="0"/>
          </a:p>
        </p:txBody>
      </p:sp>
      <p:pic>
        <p:nvPicPr>
          <p:cNvPr id="47" name="Image 0" descr="/private/tmp/claude-501/-Users-hirokishirakawa/61df7724-8533-4661-9a58-fa513da8dcb2/scratchpad/deck/assets/logo-black.png">    </p:cNvPr>
          <p:cNvPicPr>
            <a:picLocks noChangeAspect="1"/>
          </p:cNvPicPr>
          <p:nvPr/>
        </p:nvPicPr>
        <p:blipFill>
          <a:blip r:embed="rId1"/>
          <a:stretch>
            <a:fillRect/>
          </a:stretch>
        </p:blipFill>
        <p:spPr>
          <a:xfrm>
            <a:off x="685800" y="6291072"/>
            <a:ext cx="868680" cy="128484"/>
          </a:xfrm>
          <a:prstGeom prst="rect">
            <a:avLst/>
          </a:prstGeom>
        </p:spPr>
      </p:pic>
      <p:sp>
        <p:nvSpPr>
          <p:cNvPr id="48" name="Text 45"/>
          <p:cNvSpPr/>
          <p:nvPr/>
        </p:nvSpPr>
        <p:spPr>
          <a:xfrm>
            <a:off x="1828800" y="6291072"/>
            <a:ext cx="5486400" cy="182880"/>
          </a:xfrm>
          <a:prstGeom prst="rect">
            <a:avLst/>
          </a:prstGeom>
          <a:noFill/>
          <a:ln/>
        </p:spPr>
        <p:txBody>
          <a:bodyPr wrap="square" lIns="0" tIns="0" rIns="0" bIns="0" rtlCol="0" anchor="t"/>
          <a:lstStyle/>
          <a:p>
            <a:pPr indent="0" marL="0">
              <a:buNone/>
            </a:pPr>
            <a:r>
              <a:rPr lang="en-US" sz="800" spc="100" kern="0" dirty="0">
                <a:solidFill>
                  <a:srgbClr val="6A6A6A"/>
                </a:solidFill>
                <a:latin typeface="IBM Plex Sans JP" pitchFamily="34" charset="0"/>
                <a:ea typeface="IBM Plex Sans JP" pitchFamily="34" charset="-122"/>
                <a:cs typeface="IBM Plex Sans JP" pitchFamily="34" charset="-120"/>
              </a:rPr>
              <a:t>Ad Arch Co., Ltd.　／　TVer Advertising Division</a:t>
            </a:r>
            <a:endParaRPr lang="en-US" sz="800" dirty="0"/>
          </a:p>
        </p:txBody>
      </p:sp>
      <p:sp>
        <p:nvSpPr>
          <p:cNvPr id="49" name="Text 46"/>
          <p:cNvSpPr/>
          <p:nvPr/>
        </p:nvSpPr>
        <p:spPr>
          <a:xfrm>
            <a:off x="7848295" y="6291072"/>
            <a:ext cx="3657600" cy="182880"/>
          </a:xfrm>
          <a:prstGeom prst="rect">
            <a:avLst/>
          </a:prstGeom>
          <a:noFill/>
          <a:ln/>
        </p:spPr>
        <p:txBody>
          <a:bodyPr wrap="square" lIns="0" tIns="0" rIns="0" bIns="0" rtlCol="0" anchor="t"/>
          <a:lstStyle/>
          <a:p>
            <a:pPr algn="r" indent="0" marL="0">
              <a:buNone/>
            </a:pPr>
            <a:r>
              <a:rPr lang="en-US" sz="800" spc="150" kern="0" dirty="0">
                <a:solidFill>
                  <a:srgbClr val="6A6A6A"/>
                </a:solidFill>
                <a:latin typeface="IBM Plex Sans JP" pitchFamily="34" charset="0"/>
                <a:ea typeface="IBM Plex Sans JP" pitchFamily="34" charset="-122"/>
                <a:cs typeface="IBM Plex Sans JP" pitchFamily="34" charset="-120"/>
              </a:rPr>
              <a:t>11 / 19　　CONFIDENTIAL</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5508"/>
            <a:ext cx="384048" cy="27432"/>
          </a:xfrm>
          <a:prstGeom prst="rect">
            <a:avLst/>
          </a:prstGeom>
          <a:solidFill>
            <a:srgbClr val="F19834"/>
          </a:solidFill>
          <a:ln w="12700">
            <a:solidFill>
              <a:srgbClr val="F19834"/>
            </a:solidFill>
            <a:prstDash val="solid"/>
          </a:ln>
        </p:spPr>
      </p:sp>
      <p:sp>
        <p:nvSpPr>
          <p:cNvPr id="3" name="Text 1"/>
          <p:cNvSpPr/>
          <p:nvPr/>
        </p:nvSpPr>
        <p:spPr>
          <a:xfrm>
            <a:off x="1188720" y="566928"/>
            <a:ext cx="6400800" cy="201168"/>
          </a:xfrm>
          <a:prstGeom prst="rect">
            <a:avLst/>
          </a:prstGeom>
          <a:noFill/>
          <a:ln/>
        </p:spPr>
        <p:txBody>
          <a:bodyPr wrap="square" lIns="0" tIns="0" rIns="0" bIns="0" rtlCol="0" anchor="t"/>
          <a:lstStyle/>
          <a:p>
            <a:pPr indent="0" marL="0">
              <a:buNone/>
            </a:pPr>
            <a:r>
              <a:rPr lang="en-US" sz="900" spc="300" kern="0" dirty="0">
                <a:solidFill>
                  <a:srgbClr val="6A6A6A"/>
                </a:solidFill>
                <a:latin typeface="IBM Plex Sans JP" pitchFamily="34" charset="0"/>
                <a:ea typeface="IBM Plex Sans JP" pitchFamily="34" charset="-122"/>
                <a:cs typeface="IBM Plex Sans JP" pitchFamily="34" charset="-120"/>
              </a:rPr>
              <a:t>07 ／ OTHER PLANS</a:t>
            </a:r>
            <a:endParaRPr lang="en-US" sz="900" dirty="0"/>
          </a:p>
        </p:txBody>
      </p:sp>
      <p:sp>
        <p:nvSpPr>
          <p:cNvPr id="4" name="Text 2"/>
          <p:cNvSpPr/>
          <p:nvPr/>
        </p:nvSpPr>
        <p:spPr>
          <a:xfrm>
            <a:off x="685800" y="896112"/>
            <a:ext cx="10820095" cy="822960"/>
          </a:xfrm>
          <a:prstGeom prst="rect">
            <a:avLst/>
          </a:prstGeom>
          <a:noFill/>
          <a:ln/>
        </p:spPr>
        <p:txBody>
          <a:bodyPr wrap="square" lIns="0" tIns="0" rIns="0" bIns="0" rtlCol="0" anchor="t"/>
          <a:lstStyle/>
          <a:p>
            <a:pPr indent="0" marL="0">
              <a:lnSpc>
                <a:spcPct val="125000"/>
              </a:lnSpc>
              <a:buNone/>
            </a:pPr>
            <a:r>
              <a:rPr lang="en-US" sz="2600" b="1" dirty="0">
                <a:solidFill>
                  <a:srgbClr val="111111"/>
                </a:solidFill>
                <a:latin typeface="IBM Plex Sans JP" pitchFamily="34" charset="0"/>
                <a:ea typeface="IBM Plex Sans JP" pitchFamily="34" charset="-122"/>
                <a:cs typeface="IBM Plex Sans JP" pitchFamily="34" charset="-120"/>
              </a:rPr>
              <a:t>圏域網羅プラン</a:t>
            </a:r>
            <a:endParaRPr lang="en-US" sz="2600" dirty="0"/>
          </a:p>
        </p:txBody>
      </p:sp>
      <p:sp>
        <p:nvSpPr>
          <p:cNvPr id="5" name="Text 3"/>
          <p:cNvSpPr/>
          <p:nvPr/>
        </p:nvSpPr>
        <p:spPr>
          <a:xfrm>
            <a:off x="685800" y="1572768"/>
            <a:ext cx="10820095" cy="365760"/>
          </a:xfrm>
          <a:prstGeom prst="rect">
            <a:avLst/>
          </a:prstGeom>
          <a:noFill/>
          <a:ln/>
        </p:spPr>
        <p:txBody>
          <a:bodyPr wrap="square" lIns="0" tIns="0" rIns="0" bIns="0" rtlCol="0" anchor="t"/>
          <a:lstStyle/>
          <a:p>
            <a:pPr indent="0" marL="0">
              <a:buNone/>
            </a:pPr>
            <a:r>
              <a:rPr lang="en-US" sz="1200" dirty="0">
                <a:solidFill>
                  <a:srgbClr val="6A6A6A"/>
                </a:solidFill>
                <a:latin typeface="IBM Plex Sans JP" pitchFamily="34" charset="0"/>
                <a:ea typeface="IBM Plex Sans JP" pitchFamily="34" charset="-122"/>
                <a:cs typeface="IBM Plex Sans JP" pitchFamily="34" charset="-120"/>
              </a:rPr>
              <a:t>複数県にまたがる商圏をお持ちの場合。県をまたぐと到達単価が下がり、効率が上がります。</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5800" y="2103120"/>
          <a:ext cx="10820095" cy="914400"/>
        </p:xfrm>
        <a:graphic>
          <a:graphicData uri="http://schemas.openxmlformats.org/drawingml/2006/table">
            <a:tbl>
              <a:tblPr/>
              <a:tblGrid>
                <a:gridCol w="1463040"/>
                <a:gridCol w="3840480"/>
                <a:gridCol w="1280160"/>
                <a:gridCol w="1280160"/>
                <a:gridCol w="1463040"/>
                <a:gridCol w="1490472"/>
              </a:tblGrid>
              <a:tr h="274320">
                <a:tc>
                  <a:txBody>
                    <a:bodyPr/>
                    <a:lstStyle/>
                    <a:p>
                      <a:pPr algn="l" indent="0" marL="0">
                        <a:buNone/>
                      </a:pPr>
                      <a:r>
                        <a:rPr lang="en-US" sz="800" dirty="0">
                          <a:solidFill>
                            <a:srgbClr val="6A6A6A"/>
                          </a:solidFill>
                          <a:latin typeface="IBM Plex Sans JP" pitchFamily="34" charset="0"/>
                          <a:ea typeface="IBM Plex Sans JP" pitchFamily="34" charset="-122"/>
                          <a:cs typeface="IBM Plex Sans JP" pitchFamily="34" charset="-120"/>
                        </a:rPr>
                        <a:t>圏域</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l" indent="0" marL="0">
                        <a:buNone/>
                      </a:pPr>
                      <a:r>
                        <a:rPr lang="en-US" sz="800" dirty="0">
                          <a:solidFill>
                            <a:srgbClr val="6A6A6A"/>
                          </a:solidFill>
                          <a:latin typeface="IBM Plex Sans JP" pitchFamily="34" charset="0"/>
                          <a:ea typeface="IBM Plex Sans JP" pitchFamily="34" charset="-122"/>
                          <a:cs typeface="IBM Plex Sans JP" pitchFamily="34" charset="-120"/>
                        </a:rPr>
                        <a:t>対象県</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圏内視聴者</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到達人数</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月額 媒体費</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3ヶ月 総額</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r>
              <a:tr h="274320">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山陰2県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900" dirty="0">
                          <a:solidFill>
                            <a:srgbClr val="6A6A6A"/>
                          </a:solidFill>
                          <a:latin typeface="IBM Plex Sans JP" pitchFamily="34" charset="0"/>
                          <a:ea typeface="IBM Plex Sans JP" pitchFamily="34" charset="-122"/>
                          <a:cs typeface="IBM Plex Sans JP" pitchFamily="34" charset="-120"/>
                        </a:rPr>
                        <a:t>鳥取・島根</a:t>
                      </a:r>
                      <a:endParaRPr lang="en-US" sz="9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38.2万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12.7万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¥1,570,000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¥4,720,000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74320">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北陸3県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900" dirty="0">
                          <a:solidFill>
                            <a:srgbClr val="6A6A6A"/>
                          </a:solidFill>
                          <a:latin typeface="IBM Plex Sans JP" pitchFamily="34" charset="0"/>
                          <a:ea typeface="IBM Plex Sans JP" pitchFamily="34" charset="-122"/>
                          <a:cs typeface="IBM Plex Sans JP" pitchFamily="34" charset="-120"/>
                        </a:rPr>
                        <a:t>富山・石川・福井</a:t>
                      </a:r>
                      <a:endParaRPr lang="en-US" sz="9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97.9万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32.6万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¥3,700,000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¥11,110,000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74320">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北東北3県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900" dirty="0">
                          <a:solidFill>
                            <a:srgbClr val="6A6A6A"/>
                          </a:solidFill>
                          <a:latin typeface="IBM Plex Sans JP" pitchFamily="34" charset="0"/>
                          <a:ea typeface="IBM Plex Sans JP" pitchFamily="34" charset="-122"/>
                          <a:cs typeface="IBM Plex Sans JP" pitchFamily="34" charset="-120"/>
                        </a:rPr>
                        <a:t>青森・岩手・秋田</a:t>
                      </a:r>
                      <a:endParaRPr lang="en-US" sz="9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104.3万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34.8万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¥3,890,000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¥11,670,000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74320">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四国4県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900" dirty="0">
                          <a:solidFill>
                            <a:srgbClr val="6A6A6A"/>
                          </a:solidFill>
                          <a:latin typeface="IBM Plex Sans JP" pitchFamily="34" charset="0"/>
                          <a:ea typeface="IBM Plex Sans JP" pitchFamily="34" charset="-122"/>
                          <a:cs typeface="IBM Plex Sans JP" pitchFamily="34" charset="-120"/>
                        </a:rPr>
                        <a:t>香川・徳島・愛媛・高知</a:t>
                      </a:r>
                      <a:endParaRPr lang="en-US" sz="9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116.8万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38.9万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¥4,230,000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¥12,680,000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74320">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南九州3県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900" dirty="0">
                          <a:solidFill>
                            <a:srgbClr val="6A6A6A"/>
                          </a:solidFill>
                          <a:latin typeface="IBM Plex Sans JP" pitchFamily="34" charset="0"/>
                          <a:ea typeface="IBM Plex Sans JP" pitchFamily="34" charset="-122"/>
                          <a:cs typeface="IBM Plex Sans JP" pitchFamily="34" charset="-120"/>
                        </a:rPr>
                        <a:t>熊本・宮崎・鹿児島</a:t>
                      </a:r>
                      <a:endParaRPr lang="en-US" sz="9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139.5万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46.5万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¥4,770,000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¥14,320,000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74320">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甲信越3県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900" dirty="0">
                          <a:solidFill>
                            <a:srgbClr val="6A6A6A"/>
                          </a:solidFill>
                          <a:latin typeface="IBM Plex Sans JP" pitchFamily="34" charset="0"/>
                          <a:ea typeface="IBM Plex Sans JP" pitchFamily="34" charset="-122"/>
                          <a:cs typeface="IBM Plex Sans JP" pitchFamily="34" charset="-120"/>
                        </a:rPr>
                        <a:t>山梨・長野・新潟</a:t>
                      </a:r>
                      <a:endParaRPr lang="en-US" sz="9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165.3万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55.1万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¥5,280,000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¥15,840,000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74320">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南東北3県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900" dirty="0">
                          <a:solidFill>
                            <a:srgbClr val="6A6A6A"/>
                          </a:solidFill>
                          <a:latin typeface="IBM Plex Sans JP" pitchFamily="34" charset="0"/>
                          <a:ea typeface="IBM Plex Sans JP" pitchFamily="34" charset="-122"/>
                          <a:cs typeface="IBM Plex Sans JP" pitchFamily="34" charset="-120"/>
                        </a:rPr>
                        <a:t>宮城・山形・福島</a:t>
                      </a:r>
                      <a:endParaRPr lang="en-US" sz="9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173.3万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57.8万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¥5,420,000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¥16,250,000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74320">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北関東3県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900" dirty="0">
                          <a:solidFill>
                            <a:srgbClr val="6A6A6A"/>
                          </a:solidFill>
                          <a:latin typeface="IBM Plex Sans JP" pitchFamily="34" charset="0"/>
                          <a:ea typeface="IBM Plex Sans JP" pitchFamily="34" charset="-122"/>
                          <a:cs typeface="IBM Plex Sans JP" pitchFamily="34" charset="-120"/>
                        </a:rPr>
                        <a:t>茨城・栃木・群馬</a:t>
                      </a:r>
                      <a:endParaRPr lang="en-US" sz="9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232.9万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77.6万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¥7,140,000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¥21,420,000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74320">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中国5県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900" dirty="0">
                          <a:solidFill>
                            <a:srgbClr val="6A6A6A"/>
                          </a:solidFill>
                          <a:latin typeface="IBM Plex Sans JP" pitchFamily="34" charset="0"/>
                          <a:ea typeface="IBM Plex Sans JP" pitchFamily="34" charset="-122"/>
                          <a:cs typeface="IBM Plex Sans JP" pitchFamily="34" charset="-120"/>
                        </a:rPr>
                        <a:t>鳥取・島根・岡山・広島・山口</a:t>
                      </a:r>
                      <a:endParaRPr lang="en-US" sz="9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238.4万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79.5万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¥7,310,000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¥21,930,000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274320">
                <a:tc>
                  <a:txBody>
                    <a:bodyPr/>
                    <a:lstStyle/>
                    <a:p>
                      <a:pPr algn="l" indent="0" marL="0">
                        <a:buNone/>
                      </a:pPr>
                      <a:r>
                        <a:rPr lang="en-US" sz="1000" dirty="0">
                          <a:solidFill>
                            <a:srgbClr val="111111"/>
                          </a:solidFill>
                          <a:latin typeface="IBM Plex Sans JP" pitchFamily="34" charset="0"/>
                          <a:ea typeface="IBM Plex Sans JP" pitchFamily="34" charset="-122"/>
                          <a:cs typeface="IBM Plex Sans JP" pitchFamily="34" charset="-120"/>
                        </a:rPr>
                        <a:t>九州7県</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900" dirty="0">
                          <a:solidFill>
                            <a:srgbClr val="6A6A6A"/>
                          </a:solidFill>
                          <a:latin typeface="IBM Plex Sans JP" pitchFamily="34" charset="0"/>
                          <a:ea typeface="IBM Plex Sans JP" pitchFamily="34" charset="-122"/>
                          <a:cs typeface="IBM Plex Sans JP" pitchFamily="34" charset="-120"/>
                        </a:rPr>
                        <a:t>福岡・佐賀・長崎・熊本・大分・宮崎・鹿児島</a:t>
                      </a:r>
                      <a:endParaRPr lang="en-US" sz="9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424.3万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141.4万</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b="1" dirty="0">
                          <a:solidFill>
                            <a:srgbClr val="111111"/>
                          </a:solidFill>
                          <a:latin typeface="IBM Plex Sans JP" pitchFamily="34" charset="0"/>
                          <a:ea typeface="IBM Plex Sans JP" pitchFamily="34" charset="-122"/>
                          <a:cs typeface="IBM Plex Sans JP" pitchFamily="34" charset="-120"/>
                        </a:rPr>
                        <a:t>¥13,010,000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00" dirty="0">
                          <a:solidFill>
                            <a:srgbClr val="111111"/>
                          </a:solidFill>
                          <a:latin typeface="IBM Plex Sans JP" pitchFamily="34" charset="0"/>
                          <a:ea typeface="IBM Plex Sans JP" pitchFamily="34" charset="-122"/>
                          <a:cs typeface="IBM Plex Sans JP" pitchFamily="34" charset="-120"/>
                        </a:rPr>
                        <a:t>¥39,030,000</a:t>
                      </a:r>
                      <a:endParaRPr lang="en-US" sz="10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bl>
          </a:graphicData>
        </a:graphic>
      </p:graphicFrame>
      <p:sp>
        <p:nvSpPr>
          <p:cNvPr id="7" name="Shape 4"/>
          <p:cNvSpPr/>
          <p:nvPr/>
        </p:nvSpPr>
        <p:spPr>
          <a:xfrm>
            <a:off x="685800" y="5257800"/>
            <a:ext cx="10820095" cy="548640"/>
          </a:xfrm>
          <a:prstGeom prst="rect">
            <a:avLst/>
          </a:prstGeom>
          <a:solidFill>
            <a:srgbClr val="F7F6F4"/>
          </a:solidFill>
          <a:ln w="12700">
            <a:solidFill>
              <a:srgbClr val="F7F6F4"/>
            </a:solidFill>
            <a:prstDash val="solid"/>
          </a:ln>
        </p:spPr>
      </p:sp>
      <p:sp>
        <p:nvSpPr>
          <p:cNvPr id="8" name="Text 5"/>
          <p:cNvSpPr/>
          <p:nvPr/>
        </p:nvSpPr>
        <p:spPr>
          <a:xfrm>
            <a:off x="960120" y="5257800"/>
            <a:ext cx="10271455" cy="548640"/>
          </a:xfrm>
          <a:prstGeom prst="rect">
            <a:avLst/>
          </a:prstGeom>
          <a:noFill/>
          <a:ln/>
        </p:spPr>
        <p:txBody>
          <a:bodyPr wrap="square" lIns="0" tIns="0" rIns="0" bIns="0" rtlCol="0" anchor="ctr"/>
          <a:lstStyle/>
          <a:p>
            <a:pPr indent="0" marL="0">
              <a:lnSpc>
                <a:spcPct val="140000"/>
              </a:lnSpc>
              <a:buNone/>
            </a:pPr>
            <a:r>
              <a:rPr lang="en-US" sz="1000" b="1" dirty="0">
                <a:solidFill>
                  <a:srgbClr val="111111"/>
                </a:solidFill>
                <a:latin typeface="IBM Plex Sans JP" pitchFamily="34" charset="0"/>
                <a:ea typeface="IBM Plex Sans JP" pitchFamily="34" charset="-122"/>
                <a:cs typeface="IBM Plex Sans JP" pitchFamily="34" charset="-120"/>
              </a:rPr>
              <a:t>ご参考　</a:t>
            </a:r>
            <a:pPr indent="0" marL="0">
              <a:lnSpc>
                <a:spcPct val="140000"/>
              </a:lnSpc>
              <a:buNone/>
            </a:pPr>
            <a:r>
              <a:rPr lang="en-US" sz="1000" dirty="0">
                <a:solidFill>
                  <a:srgbClr val="6A6A6A"/>
                </a:solidFill>
                <a:latin typeface="IBM Plex Sans JP" pitchFamily="34" charset="0"/>
                <a:ea typeface="IBM Plex Sans JP" pitchFamily="34" charset="-122"/>
                <a:cs typeface="IBM Plex Sans JP" pitchFamily="34" charset="-120"/>
              </a:rPr>
              <a:t>配信エリアは市区町村単位でも指定できます。「県全体は広すぎる」場合は商圏だけに絞ったプランをお作りします。</a:t>
            </a:r>
            <a:endParaRPr lang="en-US" sz="1000" dirty="0"/>
          </a:p>
        </p:txBody>
      </p:sp>
      <p:pic>
        <p:nvPicPr>
          <p:cNvPr id="9" name="Image 0" descr="/private/tmp/claude-501/-Users-hirokishirakawa/61df7724-8533-4661-9a58-fa513da8dcb2/scratchpad/deck/assets/logo-black.png">    </p:cNvPr>
          <p:cNvPicPr>
            <a:picLocks noChangeAspect="1"/>
          </p:cNvPicPr>
          <p:nvPr/>
        </p:nvPicPr>
        <p:blipFill>
          <a:blip r:embed="rId1"/>
          <a:stretch>
            <a:fillRect/>
          </a:stretch>
        </p:blipFill>
        <p:spPr>
          <a:xfrm>
            <a:off x="685800" y="6291072"/>
            <a:ext cx="868680" cy="128484"/>
          </a:xfrm>
          <a:prstGeom prst="rect">
            <a:avLst/>
          </a:prstGeom>
        </p:spPr>
      </p:pic>
      <p:sp>
        <p:nvSpPr>
          <p:cNvPr id="10" name="Text 6"/>
          <p:cNvSpPr/>
          <p:nvPr/>
        </p:nvSpPr>
        <p:spPr>
          <a:xfrm>
            <a:off x="1828800" y="6291072"/>
            <a:ext cx="5486400" cy="182880"/>
          </a:xfrm>
          <a:prstGeom prst="rect">
            <a:avLst/>
          </a:prstGeom>
          <a:noFill/>
          <a:ln/>
        </p:spPr>
        <p:txBody>
          <a:bodyPr wrap="square" lIns="0" tIns="0" rIns="0" bIns="0" rtlCol="0" anchor="t"/>
          <a:lstStyle/>
          <a:p>
            <a:pPr indent="0" marL="0">
              <a:buNone/>
            </a:pPr>
            <a:r>
              <a:rPr lang="en-US" sz="800" spc="100" kern="0" dirty="0">
                <a:solidFill>
                  <a:srgbClr val="6A6A6A"/>
                </a:solidFill>
                <a:latin typeface="IBM Plex Sans JP" pitchFamily="34" charset="0"/>
                <a:ea typeface="IBM Plex Sans JP" pitchFamily="34" charset="-122"/>
                <a:cs typeface="IBM Plex Sans JP" pitchFamily="34" charset="-120"/>
              </a:rPr>
              <a:t>Ad Arch Co., Ltd.　／　TVer Advertising Division</a:t>
            </a:r>
            <a:endParaRPr lang="en-US" sz="800" dirty="0"/>
          </a:p>
        </p:txBody>
      </p:sp>
      <p:sp>
        <p:nvSpPr>
          <p:cNvPr id="11" name="Text 7"/>
          <p:cNvSpPr/>
          <p:nvPr/>
        </p:nvSpPr>
        <p:spPr>
          <a:xfrm>
            <a:off x="7848295" y="6291072"/>
            <a:ext cx="3657600" cy="182880"/>
          </a:xfrm>
          <a:prstGeom prst="rect">
            <a:avLst/>
          </a:prstGeom>
          <a:noFill/>
          <a:ln/>
        </p:spPr>
        <p:txBody>
          <a:bodyPr wrap="square" lIns="0" tIns="0" rIns="0" bIns="0" rtlCol="0" anchor="t"/>
          <a:lstStyle/>
          <a:p>
            <a:pPr algn="r" indent="0" marL="0">
              <a:buNone/>
            </a:pPr>
            <a:r>
              <a:rPr lang="en-US" sz="800" spc="150" kern="0" dirty="0">
                <a:solidFill>
                  <a:srgbClr val="6A6A6A"/>
                </a:solidFill>
                <a:latin typeface="IBM Plex Sans JP" pitchFamily="34" charset="0"/>
                <a:ea typeface="IBM Plex Sans JP" pitchFamily="34" charset="-122"/>
                <a:cs typeface="IBM Plex Sans JP" pitchFamily="34" charset="-120"/>
              </a:rPr>
              <a:t>12 / 19　　CONFIDENTIAL</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5508"/>
            <a:ext cx="384048" cy="27432"/>
          </a:xfrm>
          <a:prstGeom prst="rect">
            <a:avLst/>
          </a:prstGeom>
          <a:solidFill>
            <a:srgbClr val="F19834"/>
          </a:solidFill>
          <a:ln w="12700">
            <a:solidFill>
              <a:srgbClr val="F19834"/>
            </a:solidFill>
            <a:prstDash val="solid"/>
          </a:ln>
        </p:spPr>
      </p:sp>
      <p:sp>
        <p:nvSpPr>
          <p:cNvPr id="3" name="Text 1"/>
          <p:cNvSpPr/>
          <p:nvPr/>
        </p:nvSpPr>
        <p:spPr>
          <a:xfrm>
            <a:off x="1188720" y="566928"/>
            <a:ext cx="6400800" cy="201168"/>
          </a:xfrm>
          <a:prstGeom prst="rect">
            <a:avLst/>
          </a:prstGeom>
          <a:noFill/>
          <a:ln/>
        </p:spPr>
        <p:txBody>
          <a:bodyPr wrap="square" lIns="0" tIns="0" rIns="0" bIns="0" rtlCol="0" anchor="t"/>
          <a:lstStyle/>
          <a:p>
            <a:pPr indent="0" marL="0">
              <a:buNone/>
            </a:pPr>
            <a:r>
              <a:rPr lang="en-US" sz="900" spc="300" kern="0" dirty="0">
                <a:solidFill>
                  <a:srgbClr val="6A6A6A"/>
                </a:solidFill>
                <a:latin typeface="IBM Plex Sans JP" pitchFamily="34" charset="0"/>
                <a:ea typeface="IBM Plex Sans JP" pitchFamily="34" charset="-122"/>
                <a:cs typeface="IBM Plex Sans JP" pitchFamily="34" charset="-120"/>
              </a:rPr>
              <a:t>08 ／ TOTAL PACKAGE</a:t>
            </a:r>
            <a:endParaRPr lang="en-US" sz="900" dirty="0"/>
          </a:p>
        </p:txBody>
      </p:sp>
      <p:sp>
        <p:nvSpPr>
          <p:cNvPr id="4" name="Text 2"/>
          <p:cNvSpPr/>
          <p:nvPr/>
        </p:nvSpPr>
        <p:spPr>
          <a:xfrm>
            <a:off x="685800" y="896112"/>
            <a:ext cx="10820095" cy="822960"/>
          </a:xfrm>
          <a:prstGeom prst="rect">
            <a:avLst/>
          </a:prstGeom>
          <a:noFill/>
          <a:ln/>
        </p:spPr>
        <p:txBody>
          <a:bodyPr wrap="square" lIns="0" tIns="0" rIns="0" bIns="0" rtlCol="0" anchor="t"/>
          <a:lstStyle/>
          <a:p>
            <a:pPr indent="0" marL="0">
              <a:lnSpc>
                <a:spcPct val="125000"/>
              </a:lnSpc>
              <a:buNone/>
            </a:pPr>
            <a:r>
              <a:rPr lang="en-US" sz="2600" b="1" dirty="0">
                <a:solidFill>
                  <a:srgbClr val="111111"/>
                </a:solidFill>
                <a:latin typeface="IBM Plex Sans JP" pitchFamily="34" charset="0"/>
                <a:ea typeface="IBM Plex Sans JP" pitchFamily="34" charset="-122"/>
                <a:cs typeface="IBM Plex Sans JP" pitchFamily="34" charset="-120"/>
              </a:rPr>
              <a:t>制作を含めた総額</a:t>
            </a:r>
            <a:endParaRPr lang="en-US" sz="2600" dirty="0"/>
          </a:p>
        </p:txBody>
      </p:sp>
      <p:sp>
        <p:nvSpPr>
          <p:cNvPr id="5" name="Text 3"/>
          <p:cNvSpPr/>
          <p:nvPr/>
        </p:nvSpPr>
        <p:spPr>
          <a:xfrm>
            <a:off x="685800" y="1572768"/>
            <a:ext cx="10820095" cy="365760"/>
          </a:xfrm>
          <a:prstGeom prst="rect">
            <a:avLst/>
          </a:prstGeom>
          <a:noFill/>
          <a:ln/>
        </p:spPr>
        <p:txBody>
          <a:bodyPr wrap="square" lIns="0" tIns="0" rIns="0" bIns="0" rtlCol="0" anchor="t"/>
          <a:lstStyle/>
          <a:p>
            <a:pPr indent="0" marL="0">
              <a:buNone/>
            </a:pPr>
            <a:r>
              <a:rPr lang="en-US" sz="1200" dirty="0">
                <a:solidFill>
                  <a:srgbClr val="6A6A6A"/>
                </a:solidFill>
                <a:latin typeface="IBM Plex Sans JP" pitchFamily="34" charset="0"/>
                <a:ea typeface="IBM Plex Sans JP" pitchFamily="34" charset="-122"/>
                <a:cs typeface="IBM Plex Sans JP" pitchFamily="34" charset="-120"/>
              </a:rPr>
              <a:t>例：高松市 商圏網羅プラン（3ヶ月）の場合。制作はグループの制作網が担当します。</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 y="2103120"/>
          <a:ext cx="10820095" cy="914400"/>
        </p:xfrm>
        <a:graphic>
          <a:graphicData uri="http://schemas.openxmlformats.org/drawingml/2006/table">
            <a:tbl>
              <a:tblPr/>
              <a:tblGrid>
                <a:gridCol w="2377440"/>
                <a:gridCol w="1463040"/>
                <a:gridCol w="1371600"/>
                <a:gridCol w="2377440"/>
                <a:gridCol w="3227832"/>
              </a:tblGrid>
              <a:tr h="384048">
                <a:tc>
                  <a:txBody>
                    <a:bodyPr/>
                    <a:lstStyle/>
                    <a:p>
                      <a:pPr algn="l" indent="0" marL="0">
                        <a:buNone/>
                      </a:pPr>
                      <a:r>
                        <a:rPr lang="en-US" sz="800" dirty="0">
                          <a:solidFill>
                            <a:srgbClr val="6A6A6A"/>
                          </a:solidFill>
                          <a:latin typeface="IBM Plex Sans JP" pitchFamily="34" charset="0"/>
                          <a:ea typeface="IBM Plex Sans JP" pitchFamily="34" charset="-122"/>
                          <a:cs typeface="IBM Plex Sans JP" pitchFamily="34" charset="-120"/>
                        </a:rPr>
                        <a:t>ご状況</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l" indent="0" marL="0">
                        <a:buNone/>
                      </a:pPr>
                      <a:r>
                        <a:rPr lang="en-US" sz="800" dirty="0">
                          <a:solidFill>
                            <a:srgbClr val="6A6A6A"/>
                          </a:solidFill>
                          <a:latin typeface="IBM Plex Sans JP" pitchFamily="34" charset="0"/>
                          <a:ea typeface="IBM Plex Sans JP" pitchFamily="34" charset="-122"/>
                          <a:cs typeface="IBM Plex Sans JP" pitchFamily="34" charset="-120"/>
                        </a:rPr>
                        <a:t>制作</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制作費</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r" indent="0" marL="0">
                        <a:buNone/>
                      </a:pPr>
                      <a:r>
                        <a:rPr lang="en-US" sz="800" dirty="0">
                          <a:solidFill>
                            <a:srgbClr val="6A6A6A"/>
                          </a:solidFill>
                          <a:latin typeface="IBM Plex Sans JP" pitchFamily="34" charset="0"/>
                          <a:ea typeface="IBM Plex Sans JP" pitchFamily="34" charset="-122"/>
                          <a:cs typeface="IBM Plex Sans JP" pitchFamily="34" charset="-120"/>
                        </a:rPr>
                        <a:t>3ヶ月 総額（媒体費＋制作費）</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c>
                  <a:txBody>
                    <a:bodyPr/>
                    <a:lstStyle/>
                    <a:p>
                      <a:pPr algn="l" indent="0" marL="0">
                        <a:buNone/>
                      </a:pPr>
                      <a:r>
                        <a:rPr lang="en-US" sz="800" dirty="0">
                          <a:solidFill>
                            <a:srgbClr val="6A6A6A"/>
                          </a:solidFill>
                          <a:latin typeface="IBM Plex Sans JP" pitchFamily="34" charset="0"/>
                          <a:ea typeface="IBM Plex Sans JP" pitchFamily="34" charset="-122"/>
                          <a:cs typeface="IBM Plex Sans JP" pitchFamily="34" charset="-120"/>
                        </a:rPr>
                        <a:t>内容</a:t>
                      </a:r>
                      <a:endParaRPr lang="en-US" sz="80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12700" cap="flat" cmpd="sng" algn="ctr">
                      <a:solidFill>
                        <a:srgbClr val="111111"/>
                      </a:solidFill>
                      <a:prstDash val="solid"/>
                      <a:round/>
                      <a:headEnd type="none" w="med" len="med"/>
                      <a:tailEnd type="none" w="med" len="med"/>
                    </a:lnB>
                  </a:tcPr>
                </a:tc>
              </a:tr>
              <a:tr h="384048">
                <a:tc>
                  <a:txBody>
                    <a:bodyPr/>
                    <a:lstStyle/>
                    <a:p>
                      <a:pPr algn="l" indent="0" marL="0">
                        <a:buNone/>
                      </a:pPr>
                      <a:r>
                        <a:rPr lang="en-US" sz="1050" dirty="0">
                          <a:solidFill>
                            <a:srgbClr val="111111"/>
                          </a:solidFill>
                          <a:latin typeface="IBM Plex Sans JP" pitchFamily="34" charset="0"/>
                          <a:ea typeface="IBM Plex Sans JP" pitchFamily="34" charset="-122"/>
                          <a:cs typeface="IBM Plex Sans JP" pitchFamily="34" charset="-120"/>
                        </a:rPr>
                        <a:t>CM素材をお持ちの場合</a:t>
                      </a:r>
                      <a:endParaRPr lang="en-US" sz="105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50" dirty="0">
                          <a:solidFill>
                            <a:srgbClr val="111111"/>
                          </a:solidFill>
                          <a:latin typeface="IBM Plex Sans JP" pitchFamily="34" charset="0"/>
                          <a:ea typeface="IBM Plex Sans JP" pitchFamily="34" charset="-122"/>
                          <a:cs typeface="IBM Plex Sans JP" pitchFamily="34" charset="-120"/>
                        </a:rPr>
                        <a:t>制作なし</a:t>
                      </a:r>
                      <a:endParaRPr lang="en-US" sz="105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50" dirty="0">
                          <a:solidFill>
                            <a:srgbClr val="111111"/>
                          </a:solidFill>
                          <a:latin typeface="IBM Plex Sans JP" pitchFamily="34" charset="0"/>
                          <a:ea typeface="IBM Plex Sans JP" pitchFamily="34" charset="-122"/>
                          <a:cs typeface="IBM Plex Sans JP" pitchFamily="34" charset="-120"/>
                        </a:rPr>
                        <a:t>—</a:t>
                      </a:r>
                      <a:endParaRPr lang="en-US" sz="105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50" b="1" dirty="0">
                          <a:solidFill>
                            <a:srgbClr val="111111"/>
                          </a:solidFill>
                          <a:latin typeface="IBM Plex Sans JP" pitchFamily="34" charset="0"/>
                          <a:ea typeface="IBM Plex Sans JP" pitchFamily="34" charset="-122"/>
                          <a:cs typeface="IBM Plex Sans JP" pitchFamily="34" charset="-120"/>
                        </a:rPr>
                        <a:t>¥1,740,000</a:t>
                      </a:r>
                      <a:endParaRPr lang="en-US" sz="105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950" dirty="0">
                          <a:solidFill>
                            <a:srgbClr val="6A6A6A"/>
                          </a:solidFill>
                          <a:latin typeface="IBM Plex Sans JP" pitchFamily="34" charset="0"/>
                          <a:ea typeface="IBM Plex Sans JP" pitchFamily="34" charset="-122"/>
                          <a:cs typeface="IBM Plex Sans JP" pitchFamily="34" charset="-120"/>
                        </a:rPr>
                        <a:t>既にあるCM・動画をそのまま使用</a:t>
                      </a:r>
                      <a:endParaRPr lang="en-US" sz="95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384048">
                <a:tc>
                  <a:txBody>
                    <a:bodyPr/>
                    <a:lstStyle/>
                    <a:p>
                      <a:pPr algn="l" indent="0" marL="0">
                        <a:buNone/>
                      </a:pPr>
                      <a:r>
                        <a:rPr lang="en-US" sz="1050" dirty="0">
                          <a:solidFill>
                            <a:srgbClr val="111111"/>
                          </a:solidFill>
                          <a:latin typeface="IBM Plex Sans JP" pitchFamily="34" charset="0"/>
                          <a:ea typeface="IBM Plex Sans JP" pitchFamily="34" charset="-122"/>
                          <a:cs typeface="IBM Plex Sans JP" pitchFamily="34" charset="-120"/>
                        </a:rPr>
                        <a:t>既存素材を活かす</a:t>
                      </a:r>
                      <a:endParaRPr lang="en-US" sz="105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50" dirty="0">
                          <a:solidFill>
                            <a:srgbClr val="111111"/>
                          </a:solidFill>
                          <a:latin typeface="IBM Plex Sans JP" pitchFamily="34" charset="0"/>
                          <a:ea typeface="IBM Plex Sans JP" pitchFamily="34" charset="-122"/>
                          <a:cs typeface="IBM Plex Sans JP" pitchFamily="34" charset="-120"/>
                        </a:rPr>
                        <a:t>簡易制作</a:t>
                      </a:r>
                      <a:endParaRPr lang="en-US" sz="105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50" dirty="0">
                          <a:solidFill>
                            <a:srgbClr val="111111"/>
                          </a:solidFill>
                          <a:latin typeface="IBM Plex Sans JP" pitchFamily="34" charset="0"/>
                          <a:ea typeface="IBM Plex Sans JP" pitchFamily="34" charset="-122"/>
                          <a:cs typeface="IBM Plex Sans JP" pitchFamily="34" charset="-120"/>
                        </a:rPr>
                        <a:t>¥350,000</a:t>
                      </a:r>
                      <a:endParaRPr lang="en-US" sz="105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50" b="1" dirty="0">
                          <a:solidFill>
                            <a:srgbClr val="111111"/>
                          </a:solidFill>
                          <a:latin typeface="IBM Plex Sans JP" pitchFamily="34" charset="0"/>
                          <a:ea typeface="IBM Plex Sans JP" pitchFamily="34" charset="-122"/>
                          <a:cs typeface="IBM Plex Sans JP" pitchFamily="34" charset="-120"/>
                        </a:rPr>
                        <a:t>¥2,090,000</a:t>
                      </a:r>
                      <a:endParaRPr lang="en-US" sz="105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950" dirty="0">
                          <a:solidFill>
                            <a:srgbClr val="6A6A6A"/>
                          </a:solidFill>
                          <a:latin typeface="IBM Plex Sans JP" pitchFamily="34" charset="0"/>
                          <a:ea typeface="IBM Plex Sans JP" pitchFamily="34" charset="-122"/>
                          <a:cs typeface="IBM Plex Sans JP" pitchFamily="34" charset="-120"/>
                        </a:rPr>
                        <a:t>写真・既存動画の再編集で15秒CMを制作</a:t>
                      </a:r>
                      <a:endParaRPr lang="en-US" sz="95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384048">
                <a:tc>
                  <a:txBody>
                    <a:bodyPr/>
                    <a:lstStyle/>
                    <a:p>
                      <a:pPr algn="l" indent="0" marL="0">
                        <a:buNone/>
                      </a:pPr>
                      <a:r>
                        <a:rPr lang="en-US" sz="1050" dirty="0">
                          <a:solidFill>
                            <a:srgbClr val="111111"/>
                          </a:solidFill>
                          <a:latin typeface="IBM Plex Sans JP" pitchFamily="34" charset="0"/>
                          <a:ea typeface="IBM Plex Sans JP" pitchFamily="34" charset="-122"/>
                          <a:cs typeface="IBM Plex Sans JP" pitchFamily="34" charset="-120"/>
                        </a:rPr>
                        <a:t>新しく撮る</a:t>
                      </a:r>
                      <a:endParaRPr lang="en-US" sz="105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50" dirty="0">
                          <a:solidFill>
                            <a:srgbClr val="111111"/>
                          </a:solidFill>
                          <a:latin typeface="IBM Plex Sans JP" pitchFamily="34" charset="0"/>
                          <a:ea typeface="IBM Plex Sans JP" pitchFamily="34" charset="-122"/>
                          <a:cs typeface="IBM Plex Sans JP" pitchFamily="34" charset="-120"/>
                        </a:rPr>
                        <a:t>CM制作込み</a:t>
                      </a:r>
                      <a:endParaRPr lang="en-US" sz="105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50" dirty="0">
                          <a:solidFill>
                            <a:srgbClr val="111111"/>
                          </a:solidFill>
                          <a:latin typeface="IBM Plex Sans JP" pitchFamily="34" charset="0"/>
                          <a:ea typeface="IBM Plex Sans JP" pitchFamily="34" charset="-122"/>
                          <a:cs typeface="IBM Plex Sans JP" pitchFamily="34" charset="-120"/>
                        </a:rPr>
                        <a:t>¥600,000</a:t>
                      </a:r>
                      <a:endParaRPr lang="en-US" sz="105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50" b="1" dirty="0">
                          <a:solidFill>
                            <a:srgbClr val="111111"/>
                          </a:solidFill>
                          <a:latin typeface="IBM Plex Sans JP" pitchFamily="34" charset="0"/>
                          <a:ea typeface="IBM Plex Sans JP" pitchFamily="34" charset="-122"/>
                          <a:cs typeface="IBM Plex Sans JP" pitchFamily="34" charset="-120"/>
                        </a:rPr>
                        <a:t>¥2,340,000</a:t>
                      </a:r>
                      <a:endParaRPr lang="en-US" sz="105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950" dirty="0">
                          <a:solidFill>
                            <a:srgbClr val="6A6A6A"/>
                          </a:solidFill>
                          <a:latin typeface="IBM Plex Sans JP" pitchFamily="34" charset="0"/>
                          <a:ea typeface="IBM Plex Sans JP" pitchFamily="34" charset="-122"/>
                          <a:cs typeface="IBM Plex Sans JP" pitchFamily="34" charset="-120"/>
                        </a:rPr>
                        <a:t>企画・撮影・編集まで一式</a:t>
                      </a:r>
                      <a:endParaRPr lang="en-US" sz="95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r h="384048">
                <a:tc>
                  <a:txBody>
                    <a:bodyPr/>
                    <a:lstStyle/>
                    <a:p>
                      <a:pPr algn="l" indent="0" marL="0">
                        <a:buNone/>
                      </a:pPr>
                      <a:r>
                        <a:rPr lang="en-US" sz="1050" dirty="0">
                          <a:solidFill>
                            <a:srgbClr val="111111"/>
                          </a:solidFill>
                          <a:latin typeface="IBM Plex Sans JP" pitchFamily="34" charset="0"/>
                          <a:ea typeface="IBM Plex Sans JP" pitchFamily="34" charset="-122"/>
                          <a:cs typeface="IBM Plex Sans JP" pitchFamily="34" charset="-120"/>
                        </a:rPr>
                        <a:t>複数パターンで検証</a:t>
                      </a:r>
                      <a:endParaRPr lang="en-US" sz="105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1050" dirty="0">
                          <a:solidFill>
                            <a:srgbClr val="111111"/>
                          </a:solidFill>
                          <a:latin typeface="IBM Plex Sans JP" pitchFamily="34" charset="0"/>
                          <a:ea typeface="IBM Plex Sans JP" pitchFamily="34" charset="-122"/>
                          <a:cs typeface="IBM Plex Sans JP" pitchFamily="34" charset="-120"/>
                        </a:rPr>
                        <a:t>CM制作＋2本</a:t>
                      </a:r>
                      <a:endParaRPr lang="en-US" sz="105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50" dirty="0">
                          <a:solidFill>
                            <a:srgbClr val="111111"/>
                          </a:solidFill>
                          <a:latin typeface="IBM Plex Sans JP" pitchFamily="34" charset="0"/>
                          <a:ea typeface="IBM Plex Sans JP" pitchFamily="34" charset="-122"/>
                          <a:cs typeface="IBM Plex Sans JP" pitchFamily="34" charset="-120"/>
                        </a:rPr>
                        <a:t>¥900,000</a:t>
                      </a:r>
                      <a:endParaRPr lang="en-US" sz="105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r" indent="0" marL="0">
                        <a:buNone/>
                      </a:pPr>
                      <a:r>
                        <a:rPr lang="en-US" sz="1050" b="1" dirty="0">
                          <a:solidFill>
                            <a:srgbClr val="111111"/>
                          </a:solidFill>
                          <a:latin typeface="IBM Plex Sans JP" pitchFamily="34" charset="0"/>
                          <a:ea typeface="IBM Plex Sans JP" pitchFamily="34" charset="-122"/>
                          <a:cs typeface="IBM Plex Sans JP" pitchFamily="34" charset="-120"/>
                        </a:rPr>
                        <a:t>¥2,640,000</a:t>
                      </a:r>
                      <a:endParaRPr lang="en-US" sz="105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c>
                  <a:txBody>
                    <a:bodyPr/>
                    <a:lstStyle/>
                    <a:p>
                      <a:pPr algn="l" indent="0" marL="0">
                        <a:buNone/>
                      </a:pPr>
                      <a:r>
                        <a:rPr lang="en-US" sz="950" dirty="0">
                          <a:solidFill>
                            <a:srgbClr val="6A6A6A"/>
                          </a:solidFill>
                          <a:latin typeface="IBM Plex Sans JP" pitchFamily="34" charset="0"/>
                          <a:ea typeface="IBM Plex Sans JP" pitchFamily="34" charset="-122"/>
                          <a:cs typeface="IBM Plex Sans JP" pitchFamily="34" charset="-120"/>
                        </a:rPr>
                        <a:t>訴求違いのCMを2本制作しA/B検証</a:t>
                      </a:r>
                      <a:endParaRPr lang="en-US" sz="950" dirty="0">
                        <a:latin typeface="IBM Plex Sans JP" charset="0"/>
                        <a:ea typeface="IBM Plex Sans JP" charset="0"/>
                        <a:cs typeface="IBM Plex Sans JP" charset="0"/>
                      </a:endParaRPr>
                    </a:p>
                  </a:txBody>
                  <a:tcPr marL="73152" marR="73152" marT="0" marB="0" anchor="ctr">
                    <a:lnL w="0" cap="flat" cmpd="sng" algn="ctr">
                      <a:noFill/>
                    </a:lnL>
                    <a:lnR w="0" cap="flat" cmpd="sng" algn="ctr">
                      <a:noFill/>
                    </a:lnR>
                    <a:lnT w="0" cap="flat" cmpd="sng" algn="ctr">
                      <a:noFill/>
                    </a:lnT>
                    <a:lnB w="6350" cap="flat" cmpd="sng" algn="ctr">
                      <a:solidFill>
                        <a:srgbClr val="E6E4E0"/>
                      </a:solidFill>
                      <a:prstDash val="solid"/>
                      <a:round/>
                      <a:headEnd type="none" w="med" len="med"/>
                      <a:tailEnd type="none" w="med" len="med"/>
                    </a:lnB>
                  </a:tcPr>
                </a:tc>
              </a:tr>
            </a:tbl>
          </a:graphicData>
        </a:graphic>
      </p:graphicFrame>
      <p:sp>
        <p:nvSpPr>
          <p:cNvPr id="7" name="Shape 4"/>
          <p:cNvSpPr/>
          <p:nvPr/>
        </p:nvSpPr>
        <p:spPr>
          <a:xfrm>
            <a:off x="685800" y="4663440"/>
            <a:ext cx="10820095" cy="640080"/>
          </a:xfrm>
          <a:prstGeom prst="rect">
            <a:avLst/>
          </a:prstGeom>
          <a:solidFill>
            <a:srgbClr val="F7F6F4"/>
          </a:solidFill>
          <a:ln w="12700">
            <a:solidFill>
              <a:srgbClr val="F7F6F4"/>
            </a:solidFill>
            <a:prstDash val="solid"/>
          </a:ln>
        </p:spPr>
      </p:sp>
      <p:sp>
        <p:nvSpPr>
          <p:cNvPr id="8" name="Text 5"/>
          <p:cNvSpPr/>
          <p:nvPr/>
        </p:nvSpPr>
        <p:spPr>
          <a:xfrm>
            <a:off x="960120" y="4663440"/>
            <a:ext cx="10271455" cy="640080"/>
          </a:xfrm>
          <a:prstGeom prst="rect">
            <a:avLst/>
          </a:prstGeom>
          <a:noFill/>
          <a:ln/>
        </p:spPr>
        <p:txBody>
          <a:bodyPr wrap="square" lIns="0" tIns="0" rIns="0" bIns="0" rtlCol="0" anchor="ctr"/>
          <a:lstStyle/>
          <a:p>
            <a:pPr indent="0" marL="0">
              <a:lnSpc>
                <a:spcPct val="140000"/>
              </a:lnSpc>
              <a:buNone/>
            </a:pPr>
            <a:r>
              <a:rPr lang="en-US" sz="1000" b="1" dirty="0">
                <a:solidFill>
                  <a:srgbClr val="111111"/>
                </a:solidFill>
                <a:latin typeface="IBM Plex Sans JP" pitchFamily="34" charset="0"/>
                <a:ea typeface="IBM Plex Sans JP" pitchFamily="34" charset="-122"/>
                <a:cs typeface="IBM Plex Sans JP" pitchFamily="34" charset="-120"/>
              </a:rPr>
              <a:t>　</a:t>
            </a:r>
            <a:pPr indent="0" marL="0">
              <a:lnSpc>
                <a:spcPct val="140000"/>
              </a:lnSpc>
              <a:buNone/>
            </a:pPr>
            <a:r>
              <a:rPr lang="en-US" sz="1000" dirty="0">
                <a:solidFill>
                  <a:srgbClr val="6A6A6A"/>
                </a:solidFill>
                <a:latin typeface="IBM Plex Sans JP" pitchFamily="34" charset="0"/>
                <a:ea typeface="IBM Plex Sans JP" pitchFamily="34" charset="-122"/>
                <a:cs typeface="IBM Plex Sans JP" pitchFamily="34" charset="-120"/>
              </a:rPr>
              <a:t>媒体費 ¥580,000／月 × 3ヶ月 ＝ ¥1,740,000。これに制作費を加えた金額が総額です。CM素材は一度作れば継続配信で使い回せます。金額はすべて税別です。</a:t>
            </a:r>
            <a:endParaRPr lang="en-US" sz="1000" dirty="0"/>
          </a:p>
        </p:txBody>
      </p:sp>
      <p:pic>
        <p:nvPicPr>
          <p:cNvPr id="9" name="Image 0" descr="/private/tmp/claude-501/-Users-hirokishirakawa/61df7724-8533-4661-9a58-fa513da8dcb2/scratchpad/deck/assets/logo-black.png">    </p:cNvPr>
          <p:cNvPicPr>
            <a:picLocks noChangeAspect="1"/>
          </p:cNvPicPr>
          <p:nvPr/>
        </p:nvPicPr>
        <p:blipFill>
          <a:blip r:embed="rId1"/>
          <a:stretch>
            <a:fillRect/>
          </a:stretch>
        </p:blipFill>
        <p:spPr>
          <a:xfrm>
            <a:off x="685800" y="6291072"/>
            <a:ext cx="868680" cy="128484"/>
          </a:xfrm>
          <a:prstGeom prst="rect">
            <a:avLst/>
          </a:prstGeom>
        </p:spPr>
      </p:pic>
      <p:sp>
        <p:nvSpPr>
          <p:cNvPr id="10" name="Text 6"/>
          <p:cNvSpPr/>
          <p:nvPr/>
        </p:nvSpPr>
        <p:spPr>
          <a:xfrm>
            <a:off x="1828800" y="6291072"/>
            <a:ext cx="5486400" cy="182880"/>
          </a:xfrm>
          <a:prstGeom prst="rect">
            <a:avLst/>
          </a:prstGeom>
          <a:noFill/>
          <a:ln/>
        </p:spPr>
        <p:txBody>
          <a:bodyPr wrap="square" lIns="0" tIns="0" rIns="0" bIns="0" rtlCol="0" anchor="t"/>
          <a:lstStyle/>
          <a:p>
            <a:pPr indent="0" marL="0">
              <a:buNone/>
            </a:pPr>
            <a:r>
              <a:rPr lang="en-US" sz="800" spc="100" kern="0" dirty="0">
                <a:solidFill>
                  <a:srgbClr val="6A6A6A"/>
                </a:solidFill>
                <a:latin typeface="IBM Plex Sans JP" pitchFamily="34" charset="0"/>
                <a:ea typeface="IBM Plex Sans JP" pitchFamily="34" charset="-122"/>
                <a:cs typeface="IBM Plex Sans JP" pitchFamily="34" charset="-120"/>
              </a:rPr>
              <a:t>Ad Arch Co., Ltd.　／　TVer Advertising Division</a:t>
            </a:r>
            <a:endParaRPr lang="en-US" sz="800" dirty="0"/>
          </a:p>
        </p:txBody>
      </p:sp>
      <p:sp>
        <p:nvSpPr>
          <p:cNvPr id="11" name="Text 7"/>
          <p:cNvSpPr/>
          <p:nvPr/>
        </p:nvSpPr>
        <p:spPr>
          <a:xfrm>
            <a:off x="7848295" y="6291072"/>
            <a:ext cx="3657600" cy="182880"/>
          </a:xfrm>
          <a:prstGeom prst="rect">
            <a:avLst/>
          </a:prstGeom>
          <a:noFill/>
          <a:ln/>
        </p:spPr>
        <p:txBody>
          <a:bodyPr wrap="square" lIns="0" tIns="0" rIns="0" bIns="0" rtlCol="0" anchor="t"/>
          <a:lstStyle/>
          <a:p>
            <a:pPr algn="r" indent="0" marL="0">
              <a:buNone/>
            </a:pPr>
            <a:r>
              <a:rPr lang="en-US" sz="800" spc="150" kern="0" dirty="0">
                <a:solidFill>
                  <a:srgbClr val="6A6A6A"/>
                </a:solidFill>
                <a:latin typeface="IBM Plex Sans JP" pitchFamily="34" charset="0"/>
                <a:ea typeface="IBM Plex Sans JP" pitchFamily="34" charset="-122"/>
                <a:cs typeface="IBM Plex Sans JP" pitchFamily="34" charset="-120"/>
              </a:rPr>
              <a:t>13 / 19　　CONFIDENTIAL</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5508"/>
            <a:ext cx="384048" cy="27432"/>
          </a:xfrm>
          <a:prstGeom prst="rect">
            <a:avLst/>
          </a:prstGeom>
          <a:solidFill>
            <a:srgbClr val="F19834"/>
          </a:solidFill>
          <a:ln w="12700">
            <a:solidFill>
              <a:srgbClr val="F19834"/>
            </a:solidFill>
            <a:prstDash val="solid"/>
          </a:ln>
        </p:spPr>
      </p:sp>
      <p:sp>
        <p:nvSpPr>
          <p:cNvPr id="3" name="Text 1"/>
          <p:cNvSpPr/>
          <p:nvPr/>
        </p:nvSpPr>
        <p:spPr>
          <a:xfrm>
            <a:off x="1188720" y="566928"/>
            <a:ext cx="6400800" cy="201168"/>
          </a:xfrm>
          <a:prstGeom prst="rect">
            <a:avLst/>
          </a:prstGeom>
          <a:noFill/>
          <a:ln/>
        </p:spPr>
        <p:txBody>
          <a:bodyPr wrap="square" lIns="0" tIns="0" rIns="0" bIns="0" rtlCol="0" anchor="t"/>
          <a:lstStyle/>
          <a:p>
            <a:pPr indent="0" marL="0">
              <a:buNone/>
            </a:pPr>
            <a:r>
              <a:rPr lang="en-US" sz="900" spc="300" kern="0" dirty="0">
                <a:solidFill>
                  <a:srgbClr val="6A6A6A"/>
                </a:solidFill>
                <a:latin typeface="IBM Plex Sans JP" pitchFamily="34" charset="0"/>
                <a:ea typeface="IBM Plex Sans JP" pitchFamily="34" charset="-122"/>
                <a:cs typeface="IBM Plex Sans JP" pitchFamily="34" charset="-120"/>
              </a:rPr>
              <a:t>09 ／ HOW WE WORK</a:t>
            </a:r>
            <a:endParaRPr lang="en-US" sz="900" dirty="0"/>
          </a:p>
        </p:txBody>
      </p:sp>
      <p:sp>
        <p:nvSpPr>
          <p:cNvPr id="4" name="Text 2"/>
          <p:cNvSpPr/>
          <p:nvPr/>
        </p:nvSpPr>
        <p:spPr>
          <a:xfrm>
            <a:off x="685800" y="896112"/>
            <a:ext cx="10820095" cy="822960"/>
          </a:xfrm>
          <a:prstGeom prst="rect">
            <a:avLst/>
          </a:prstGeom>
          <a:noFill/>
          <a:ln/>
        </p:spPr>
        <p:txBody>
          <a:bodyPr wrap="square" lIns="0" tIns="0" rIns="0" bIns="0" rtlCol="0" anchor="t"/>
          <a:lstStyle/>
          <a:p>
            <a:pPr indent="0" marL="0">
              <a:lnSpc>
                <a:spcPct val="125000"/>
              </a:lnSpc>
              <a:buNone/>
            </a:pPr>
            <a:r>
              <a:rPr lang="en-US" sz="2600" b="1" dirty="0">
                <a:solidFill>
                  <a:srgbClr val="111111"/>
                </a:solidFill>
                <a:latin typeface="IBM Plex Sans JP" pitchFamily="34" charset="0"/>
                <a:ea typeface="IBM Plex Sans JP" pitchFamily="34" charset="-122"/>
                <a:cs typeface="IBM Plex Sans JP" pitchFamily="34" charset="-120"/>
              </a:rPr>
              <a:t>体制</a:t>
            </a:r>
            <a:endParaRPr lang="en-US" sz="2600" dirty="0"/>
          </a:p>
        </p:txBody>
      </p:sp>
      <p:sp>
        <p:nvSpPr>
          <p:cNvPr id="5" name="Text 3"/>
          <p:cNvSpPr/>
          <p:nvPr/>
        </p:nvSpPr>
        <p:spPr>
          <a:xfrm>
            <a:off x="685800" y="1572768"/>
            <a:ext cx="10820095" cy="365760"/>
          </a:xfrm>
          <a:prstGeom prst="rect">
            <a:avLst/>
          </a:prstGeom>
          <a:noFill/>
          <a:ln/>
        </p:spPr>
        <p:txBody>
          <a:bodyPr wrap="square" lIns="0" tIns="0" rIns="0" bIns="0" rtlCol="0" anchor="t"/>
          <a:lstStyle/>
          <a:p>
            <a:pPr indent="0" marL="0">
              <a:buNone/>
            </a:pPr>
            <a:r>
              <a:rPr lang="en-US" sz="1200" dirty="0">
                <a:solidFill>
                  <a:srgbClr val="6A6A6A"/>
                </a:solidFill>
                <a:latin typeface="IBM Plex Sans JP" pitchFamily="34" charset="0"/>
                <a:ea typeface="IBM Plex Sans JP" pitchFamily="34" charset="-122"/>
                <a:cs typeface="IBM Plex Sans JP" pitchFamily="34" charset="-120"/>
              </a:rPr>
              <a:t>東京の代理店が遠隔で運用する形とは違います。</a:t>
            </a:r>
            <a:endParaRPr lang="en-US" sz="1200" dirty="0"/>
          </a:p>
        </p:txBody>
      </p:sp>
      <p:sp>
        <p:nvSpPr>
          <p:cNvPr id="6" name="Shape 4"/>
          <p:cNvSpPr/>
          <p:nvPr/>
        </p:nvSpPr>
        <p:spPr>
          <a:xfrm>
            <a:off x="685800" y="2240280"/>
            <a:ext cx="5120640" cy="0"/>
          </a:xfrm>
          <a:prstGeom prst="line">
            <a:avLst/>
          </a:prstGeom>
          <a:noFill/>
          <a:ln w="9525">
            <a:solidFill>
              <a:srgbClr val="E6E4E0"/>
            </a:solidFill>
            <a:prstDash val="solid"/>
          </a:ln>
        </p:spPr>
      </p:sp>
      <p:sp>
        <p:nvSpPr>
          <p:cNvPr id="7" name="Text 5"/>
          <p:cNvSpPr/>
          <p:nvPr/>
        </p:nvSpPr>
        <p:spPr>
          <a:xfrm>
            <a:off x="685800" y="2468880"/>
            <a:ext cx="5120640" cy="365760"/>
          </a:xfrm>
          <a:prstGeom prst="rect">
            <a:avLst/>
          </a:prstGeom>
          <a:noFill/>
          <a:ln/>
        </p:spPr>
        <p:txBody>
          <a:bodyPr wrap="square" lIns="0" tIns="0" rIns="0" bIns="0" rtlCol="0" anchor="t"/>
          <a:lstStyle/>
          <a:p>
            <a:pPr indent="0" marL="0">
              <a:buNone/>
            </a:pPr>
            <a:r>
              <a:rPr lang="en-US" sz="1600" b="1" dirty="0">
                <a:solidFill>
                  <a:srgbClr val="111111"/>
                </a:solidFill>
                <a:latin typeface="IBM Plex Sans JP" pitchFamily="34" charset="0"/>
                <a:ea typeface="IBM Plex Sans JP" pitchFamily="34" charset="-122"/>
                <a:cs typeface="IBM Plex Sans JP" pitchFamily="34" charset="-120"/>
              </a:rPr>
              <a:t>TVer正規代理店</a:t>
            </a:r>
            <a:endParaRPr lang="en-US" sz="1600" dirty="0"/>
          </a:p>
        </p:txBody>
      </p:sp>
      <p:sp>
        <p:nvSpPr>
          <p:cNvPr id="8" name="Text 6"/>
          <p:cNvSpPr/>
          <p:nvPr/>
        </p:nvSpPr>
        <p:spPr>
          <a:xfrm>
            <a:off x="685800" y="2880360"/>
            <a:ext cx="5120640" cy="731520"/>
          </a:xfrm>
          <a:prstGeom prst="rect">
            <a:avLst/>
          </a:prstGeom>
          <a:noFill/>
          <a:ln/>
        </p:spPr>
        <p:txBody>
          <a:bodyPr wrap="square" lIns="0" tIns="0" rIns="0" bIns="0" rtlCol="0" anchor="t"/>
          <a:lstStyle/>
          <a:p>
            <a:pPr indent="0" marL="0">
              <a:lnSpc>
                <a:spcPct val="150000"/>
              </a:lnSpc>
              <a:buNone/>
            </a:pPr>
            <a:r>
              <a:rPr lang="en-US" sz="1050" dirty="0">
                <a:solidFill>
                  <a:srgbClr val="6A6A6A"/>
                </a:solidFill>
                <a:latin typeface="IBM Plex Sans JP" pitchFamily="34" charset="0"/>
                <a:ea typeface="IBM Plex Sans JP" pitchFamily="34" charset="-122"/>
                <a:cs typeface="IBM Plex Sans JP" pitchFamily="34" charset="-120"/>
              </a:rPr>
              <a:t>媒体の契約当事者は、クライアント様と当社です。間に何社も挟みません。</a:t>
            </a:r>
            <a:endParaRPr lang="en-US" sz="1050" dirty="0"/>
          </a:p>
        </p:txBody>
      </p:sp>
      <p:sp>
        <p:nvSpPr>
          <p:cNvPr id="9" name="Shape 7"/>
          <p:cNvSpPr/>
          <p:nvPr/>
        </p:nvSpPr>
        <p:spPr>
          <a:xfrm>
            <a:off x="6385255" y="2240280"/>
            <a:ext cx="5120640" cy="0"/>
          </a:xfrm>
          <a:prstGeom prst="line">
            <a:avLst/>
          </a:prstGeom>
          <a:noFill/>
          <a:ln w="9525">
            <a:solidFill>
              <a:srgbClr val="E6E4E0"/>
            </a:solidFill>
            <a:prstDash val="solid"/>
          </a:ln>
        </p:spPr>
      </p:sp>
      <p:sp>
        <p:nvSpPr>
          <p:cNvPr id="10" name="Text 8"/>
          <p:cNvSpPr/>
          <p:nvPr/>
        </p:nvSpPr>
        <p:spPr>
          <a:xfrm>
            <a:off x="6385255" y="2468880"/>
            <a:ext cx="5120640" cy="365760"/>
          </a:xfrm>
          <a:prstGeom prst="rect">
            <a:avLst/>
          </a:prstGeom>
          <a:noFill/>
          <a:ln/>
        </p:spPr>
        <p:txBody>
          <a:bodyPr wrap="square" lIns="0" tIns="0" rIns="0" bIns="0" rtlCol="0" anchor="t"/>
          <a:lstStyle/>
          <a:p>
            <a:pPr indent="0" marL="0">
              <a:buNone/>
            </a:pPr>
            <a:r>
              <a:rPr lang="en-US" sz="1600" b="1" dirty="0">
                <a:solidFill>
                  <a:srgbClr val="111111"/>
                </a:solidFill>
                <a:latin typeface="IBM Plex Sans JP" pitchFamily="34" charset="0"/>
                <a:ea typeface="IBM Plex Sans JP" pitchFamily="34" charset="-122"/>
                <a:cs typeface="IBM Plex Sans JP" pitchFamily="34" charset="-120"/>
              </a:rPr>
              <a:t>全国のネットワーク</a:t>
            </a:r>
            <a:endParaRPr lang="en-US" sz="1600" dirty="0"/>
          </a:p>
        </p:txBody>
      </p:sp>
      <p:sp>
        <p:nvSpPr>
          <p:cNvPr id="11" name="Text 9"/>
          <p:cNvSpPr/>
          <p:nvPr/>
        </p:nvSpPr>
        <p:spPr>
          <a:xfrm>
            <a:off x="6385255" y="2880360"/>
            <a:ext cx="5120640" cy="731520"/>
          </a:xfrm>
          <a:prstGeom prst="rect">
            <a:avLst/>
          </a:prstGeom>
          <a:noFill/>
          <a:ln/>
        </p:spPr>
        <p:txBody>
          <a:bodyPr wrap="square" lIns="0" tIns="0" rIns="0" bIns="0" rtlCol="0" anchor="t"/>
          <a:lstStyle/>
          <a:p>
            <a:pPr indent="0" marL="0">
              <a:lnSpc>
                <a:spcPct val="150000"/>
              </a:lnSpc>
              <a:buNone/>
            </a:pPr>
            <a:r>
              <a:rPr lang="en-US" sz="1050" dirty="0">
                <a:solidFill>
                  <a:srgbClr val="6A6A6A"/>
                </a:solidFill>
                <a:latin typeface="IBM Plex Sans JP" pitchFamily="34" charset="0"/>
                <a:ea typeface="IBM Plex Sans JP" pitchFamily="34" charset="-122"/>
                <a:cs typeface="IBM Plex Sans JP" pitchFamily="34" charset="-120"/>
              </a:rPr>
              <a:t>全国に拠点を持つグループです。貴社近隣エリアの担当が直接ご訪問できます。オンラインでも対面でも、ご都合に合わせます。</a:t>
            </a:r>
            <a:endParaRPr lang="en-US" sz="1050" dirty="0"/>
          </a:p>
        </p:txBody>
      </p:sp>
      <p:sp>
        <p:nvSpPr>
          <p:cNvPr id="12" name="Shape 10"/>
          <p:cNvSpPr/>
          <p:nvPr/>
        </p:nvSpPr>
        <p:spPr>
          <a:xfrm>
            <a:off x="685800" y="3886200"/>
            <a:ext cx="5120640" cy="0"/>
          </a:xfrm>
          <a:prstGeom prst="line">
            <a:avLst/>
          </a:prstGeom>
          <a:noFill/>
          <a:ln w="9525">
            <a:solidFill>
              <a:srgbClr val="E6E4E0"/>
            </a:solidFill>
            <a:prstDash val="solid"/>
          </a:ln>
        </p:spPr>
      </p:sp>
      <p:sp>
        <p:nvSpPr>
          <p:cNvPr id="13" name="Text 11"/>
          <p:cNvSpPr/>
          <p:nvPr/>
        </p:nvSpPr>
        <p:spPr>
          <a:xfrm>
            <a:off x="685800" y="4114800"/>
            <a:ext cx="5120640" cy="365760"/>
          </a:xfrm>
          <a:prstGeom prst="rect">
            <a:avLst/>
          </a:prstGeom>
          <a:noFill/>
          <a:ln/>
        </p:spPr>
        <p:txBody>
          <a:bodyPr wrap="square" lIns="0" tIns="0" rIns="0" bIns="0" rtlCol="0" anchor="t"/>
          <a:lstStyle/>
          <a:p>
            <a:pPr indent="0" marL="0">
              <a:buNone/>
            </a:pPr>
            <a:r>
              <a:rPr lang="en-US" sz="1600" b="1" dirty="0">
                <a:solidFill>
                  <a:srgbClr val="111111"/>
                </a:solidFill>
                <a:latin typeface="IBM Plex Sans JP" pitchFamily="34" charset="0"/>
                <a:ea typeface="IBM Plex Sans JP" pitchFamily="34" charset="-122"/>
                <a:cs typeface="IBM Plex Sans JP" pitchFamily="34" charset="-120"/>
              </a:rPr>
              <a:t>制作から運用まで一社で</a:t>
            </a:r>
            <a:endParaRPr lang="en-US" sz="1600" dirty="0"/>
          </a:p>
        </p:txBody>
      </p:sp>
      <p:sp>
        <p:nvSpPr>
          <p:cNvPr id="14" name="Text 12"/>
          <p:cNvSpPr/>
          <p:nvPr/>
        </p:nvSpPr>
        <p:spPr>
          <a:xfrm>
            <a:off x="685800" y="4526280"/>
            <a:ext cx="5120640" cy="731520"/>
          </a:xfrm>
          <a:prstGeom prst="rect">
            <a:avLst/>
          </a:prstGeom>
          <a:noFill/>
          <a:ln/>
        </p:spPr>
        <p:txBody>
          <a:bodyPr wrap="square" lIns="0" tIns="0" rIns="0" bIns="0" rtlCol="0" anchor="t"/>
          <a:lstStyle/>
          <a:p>
            <a:pPr indent="0" marL="0">
              <a:lnSpc>
                <a:spcPct val="150000"/>
              </a:lnSpc>
              <a:buNone/>
            </a:pPr>
            <a:r>
              <a:rPr lang="en-US" sz="1050" dirty="0">
                <a:solidFill>
                  <a:srgbClr val="6A6A6A"/>
                </a:solidFill>
                <a:latin typeface="IBM Plex Sans JP" pitchFamily="34" charset="0"/>
                <a:ea typeface="IBM Plex Sans JP" pitchFamily="34" charset="-122"/>
                <a:cs typeface="IBM Plex Sans JP" pitchFamily="34" charset="-120"/>
              </a:rPr>
              <a:t>CM制作・配信設計・レポートまで一貫。制作会社と代理店を分けて発注する手間がありません。</a:t>
            </a:r>
            <a:endParaRPr lang="en-US" sz="1050" dirty="0"/>
          </a:p>
        </p:txBody>
      </p:sp>
      <p:sp>
        <p:nvSpPr>
          <p:cNvPr id="15" name="Shape 13"/>
          <p:cNvSpPr/>
          <p:nvPr/>
        </p:nvSpPr>
        <p:spPr>
          <a:xfrm>
            <a:off x="6385255" y="3886200"/>
            <a:ext cx="5120640" cy="0"/>
          </a:xfrm>
          <a:prstGeom prst="line">
            <a:avLst/>
          </a:prstGeom>
          <a:noFill/>
          <a:ln w="9525">
            <a:solidFill>
              <a:srgbClr val="E6E4E0"/>
            </a:solidFill>
            <a:prstDash val="solid"/>
          </a:ln>
        </p:spPr>
      </p:sp>
      <p:sp>
        <p:nvSpPr>
          <p:cNvPr id="16" name="Text 14"/>
          <p:cNvSpPr/>
          <p:nvPr/>
        </p:nvSpPr>
        <p:spPr>
          <a:xfrm>
            <a:off x="6385255" y="4114800"/>
            <a:ext cx="5120640" cy="365760"/>
          </a:xfrm>
          <a:prstGeom prst="rect">
            <a:avLst/>
          </a:prstGeom>
          <a:noFill/>
          <a:ln/>
        </p:spPr>
        <p:txBody>
          <a:bodyPr wrap="square" lIns="0" tIns="0" rIns="0" bIns="0" rtlCol="0" anchor="t"/>
          <a:lstStyle/>
          <a:p>
            <a:pPr indent="0" marL="0">
              <a:buNone/>
            </a:pPr>
            <a:r>
              <a:rPr lang="en-US" sz="1600" b="1" dirty="0">
                <a:solidFill>
                  <a:srgbClr val="111111"/>
                </a:solidFill>
                <a:latin typeface="IBM Plex Sans JP" pitchFamily="34" charset="0"/>
                <a:ea typeface="IBM Plex Sans JP" pitchFamily="34" charset="-122"/>
                <a:cs typeface="IBM Plex Sans JP" pitchFamily="34" charset="-120"/>
              </a:rPr>
              <a:t>数字で報告します</a:t>
            </a:r>
            <a:endParaRPr lang="en-US" sz="1600" dirty="0"/>
          </a:p>
        </p:txBody>
      </p:sp>
      <p:sp>
        <p:nvSpPr>
          <p:cNvPr id="17" name="Text 15"/>
          <p:cNvSpPr/>
          <p:nvPr/>
        </p:nvSpPr>
        <p:spPr>
          <a:xfrm>
            <a:off x="6385255" y="4526280"/>
            <a:ext cx="5120640" cy="731520"/>
          </a:xfrm>
          <a:prstGeom prst="rect">
            <a:avLst/>
          </a:prstGeom>
          <a:noFill/>
          <a:ln/>
        </p:spPr>
        <p:txBody>
          <a:bodyPr wrap="square" lIns="0" tIns="0" rIns="0" bIns="0" rtlCol="0" anchor="t"/>
          <a:lstStyle/>
          <a:p>
            <a:pPr indent="0" marL="0">
              <a:lnSpc>
                <a:spcPct val="150000"/>
              </a:lnSpc>
              <a:buNone/>
            </a:pPr>
            <a:r>
              <a:rPr lang="en-US" sz="1050" dirty="0">
                <a:solidFill>
                  <a:srgbClr val="6A6A6A"/>
                </a:solidFill>
                <a:latin typeface="IBM Plex Sans JP" pitchFamily="34" charset="0"/>
                <a:ea typeface="IBM Plex Sans JP" pitchFamily="34" charset="-122"/>
                <a:cs typeface="IBM Plex Sans JP" pitchFamily="34" charset="-120"/>
              </a:rPr>
              <a:t>リーチ人数・フリークエンシー・完全視聴率・県別実績を毎月ご報告します。</a:t>
            </a:r>
            <a:endParaRPr lang="en-US" sz="1050" dirty="0"/>
          </a:p>
        </p:txBody>
      </p:sp>
      <p:pic>
        <p:nvPicPr>
          <p:cNvPr id="18" name="Image 0" descr="/private/tmp/claude-501/-Users-hirokishirakawa/61df7724-8533-4661-9a58-fa513da8dcb2/scratchpad/deck/assets/logo-black.png">    </p:cNvPr>
          <p:cNvPicPr>
            <a:picLocks noChangeAspect="1"/>
          </p:cNvPicPr>
          <p:nvPr/>
        </p:nvPicPr>
        <p:blipFill>
          <a:blip r:embed="rId1"/>
          <a:stretch>
            <a:fillRect/>
          </a:stretch>
        </p:blipFill>
        <p:spPr>
          <a:xfrm>
            <a:off x="685800" y="6291072"/>
            <a:ext cx="868680" cy="128484"/>
          </a:xfrm>
          <a:prstGeom prst="rect">
            <a:avLst/>
          </a:prstGeom>
        </p:spPr>
      </p:pic>
      <p:sp>
        <p:nvSpPr>
          <p:cNvPr id="19" name="Text 16"/>
          <p:cNvSpPr/>
          <p:nvPr/>
        </p:nvSpPr>
        <p:spPr>
          <a:xfrm>
            <a:off x="1828800" y="6291072"/>
            <a:ext cx="5486400" cy="182880"/>
          </a:xfrm>
          <a:prstGeom prst="rect">
            <a:avLst/>
          </a:prstGeom>
          <a:noFill/>
          <a:ln/>
        </p:spPr>
        <p:txBody>
          <a:bodyPr wrap="square" lIns="0" tIns="0" rIns="0" bIns="0" rtlCol="0" anchor="t"/>
          <a:lstStyle/>
          <a:p>
            <a:pPr indent="0" marL="0">
              <a:buNone/>
            </a:pPr>
            <a:r>
              <a:rPr lang="en-US" sz="800" spc="100" kern="0" dirty="0">
                <a:solidFill>
                  <a:srgbClr val="6A6A6A"/>
                </a:solidFill>
                <a:latin typeface="IBM Plex Sans JP" pitchFamily="34" charset="0"/>
                <a:ea typeface="IBM Plex Sans JP" pitchFamily="34" charset="-122"/>
                <a:cs typeface="IBM Plex Sans JP" pitchFamily="34" charset="-120"/>
              </a:rPr>
              <a:t>Ad Arch Co., Ltd.　／　TVer Advertising Division</a:t>
            </a:r>
            <a:endParaRPr lang="en-US" sz="800" dirty="0"/>
          </a:p>
        </p:txBody>
      </p:sp>
      <p:sp>
        <p:nvSpPr>
          <p:cNvPr id="20" name="Text 17"/>
          <p:cNvSpPr/>
          <p:nvPr/>
        </p:nvSpPr>
        <p:spPr>
          <a:xfrm>
            <a:off x="7848295" y="6291072"/>
            <a:ext cx="3657600" cy="182880"/>
          </a:xfrm>
          <a:prstGeom prst="rect">
            <a:avLst/>
          </a:prstGeom>
          <a:noFill/>
          <a:ln/>
        </p:spPr>
        <p:txBody>
          <a:bodyPr wrap="square" lIns="0" tIns="0" rIns="0" bIns="0" rtlCol="0" anchor="t"/>
          <a:lstStyle/>
          <a:p>
            <a:pPr algn="r" indent="0" marL="0">
              <a:buNone/>
            </a:pPr>
            <a:r>
              <a:rPr lang="en-US" sz="800" spc="150" kern="0" dirty="0">
                <a:solidFill>
                  <a:srgbClr val="6A6A6A"/>
                </a:solidFill>
                <a:latin typeface="IBM Plex Sans JP" pitchFamily="34" charset="0"/>
                <a:ea typeface="IBM Plex Sans JP" pitchFamily="34" charset="-122"/>
                <a:cs typeface="IBM Plex Sans JP" pitchFamily="34" charset="-120"/>
              </a:rPr>
              <a:t>14 / 19　　CONFIDENTIAL</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5508"/>
            <a:ext cx="384048" cy="27432"/>
          </a:xfrm>
          <a:prstGeom prst="rect">
            <a:avLst/>
          </a:prstGeom>
          <a:solidFill>
            <a:srgbClr val="F19834"/>
          </a:solidFill>
          <a:ln w="12700">
            <a:solidFill>
              <a:srgbClr val="F19834"/>
            </a:solidFill>
            <a:prstDash val="solid"/>
          </a:ln>
        </p:spPr>
      </p:sp>
      <p:sp>
        <p:nvSpPr>
          <p:cNvPr id="3" name="Text 1"/>
          <p:cNvSpPr/>
          <p:nvPr/>
        </p:nvSpPr>
        <p:spPr>
          <a:xfrm>
            <a:off x="1188720" y="566928"/>
            <a:ext cx="6400800" cy="201168"/>
          </a:xfrm>
          <a:prstGeom prst="rect">
            <a:avLst/>
          </a:prstGeom>
          <a:noFill/>
          <a:ln/>
        </p:spPr>
        <p:txBody>
          <a:bodyPr wrap="square" lIns="0" tIns="0" rIns="0" bIns="0" rtlCol="0" anchor="t"/>
          <a:lstStyle/>
          <a:p>
            <a:pPr indent="0" marL="0">
              <a:buNone/>
            </a:pPr>
            <a:r>
              <a:rPr lang="en-US" sz="900" spc="300" kern="0" dirty="0">
                <a:solidFill>
                  <a:srgbClr val="6A6A6A"/>
                </a:solidFill>
                <a:latin typeface="IBM Plex Sans JP" pitchFamily="34" charset="0"/>
                <a:ea typeface="IBM Plex Sans JP" pitchFamily="34" charset="-122"/>
                <a:cs typeface="IBM Plex Sans JP" pitchFamily="34" charset="-120"/>
              </a:rPr>
              <a:t>10 ／ WORKS</a:t>
            </a:r>
            <a:endParaRPr lang="en-US" sz="900" dirty="0"/>
          </a:p>
        </p:txBody>
      </p:sp>
      <p:sp>
        <p:nvSpPr>
          <p:cNvPr id="4" name="Text 2"/>
          <p:cNvSpPr/>
          <p:nvPr/>
        </p:nvSpPr>
        <p:spPr>
          <a:xfrm>
            <a:off x="685800" y="896112"/>
            <a:ext cx="10820095" cy="822960"/>
          </a:xfrm>
          <a:prstGeom prst="rect">
            <a:avLst/>
          </a:prstGeom>
          <a:noFill/>
          <a:ln/>
        </p:spPr>
        <p:txBody>
          <a:bodyPr wrap="square" lIns="0" tIns="0" rIns="0" bIns="0" rtlCol="0" anchor="t"/>
          <a:lstStyle/>
          <a:p>
            <a:pPr indent="0" marL="0">
              <a:lnSpc>
                <a:spcPct val="125000"/>
              </a:lnSpc>
              <a:buNone/>
            </a:pPr>
            <a:r>
              <a:rPr lang="en-US" sz="2600" b="1" dirty="0">
                <a:solidFill>
                  <a:srgbClr val="111111"/>
                </a:solidFill>
                <a:latin typeface="IBM Plex Sans JP" pitchFamily="34" charset="0"/>
                <a:ea typeface="IBM Plex Sans JP" pitchFamily="34" charset="-122"/>
                <a:cs typeface="IBM Plex Sans JP" pitchFamily="34" charset="-120"/>
              </a:rPr>
              <a:t>実績</a:t>
            </a:r>
            <a:endParaRPr lang="en-US" sz="2600" dirty="0"/>
          </a:p>
        </p:txBody>
      </p:sp>
      <p:sp>
        <p:nvSpPr>
          <p:cNvPr id="5" name="Text 3"/>
          <p:cNvSpPr/>
          <p:nvPr/>
        </p:nvSpPr>
        <p:spPr>
          <a:xfrm>
            <a:off x="685800" y="1572768"/>
            <a:ext cx="10820095" cy="365760"/>
          </a:xfrm>
          <a:prstGeom prst="rect">
            <a:avLst/>
          </a:prstGeom>
          <a:noFill/>
          <a:ln/>
        </p:spPr>
        <p:txBody>
          <a:bodyPr wrap="square" lIns="0" tIns="0" rIns="0" bIns="0" rtlCol="0" anchor="t"/>
          <a:lstStyle/>
          <a:p>
            <a:pPr indent="0" marL="0">
              <a:buNone/>
            </a:pPr>
            <a:r>
              <a:rPr lang="en-US" sz="1200" dirty="0">
                <a:solidFill>
                  <a:srgbClr val="6A6A6A"/>
                </a:solidFill>
                <a:latin typeface="IBM Plex Sans JP" pitchFamily="34" charset="0"/>
                <a:ea typeface="IBM Plex Sans JP" pitchFamily="34" charset="-122"/>
                <a:cs typeface="IBM Plex Sans JP" pitchFamily="34" charset="-120"/>
              </a:rPr>
              <a:t>貴社および Ad Arch グループの制作実績。写真は3枠とも貴社の実績に差し替えてご利用ください。</a:t>
            </a:r>
            <a:endParaRPr lang="en-US" sz="1200" dirty="0"/>
          </a:p>
        </p:txBody>
      </p:sp>
      <p:pic>
        <p:nvPicPr>
          <p:cNvPr id="6" name="Image 0" descr="/private/tmp/claude-501/-Users-hirokishirakawa/61df7724-8533-4661-9a58-fa513da8dcb2/scratchpad/deck/assets/renofa.jpg">    </p:cNvPr>
          <p:cNvPicPr>
            <a:picLocks noChangeAspect="1"/>
          </p:cNvPicPr>
          <p:nvPr/>
        </p:nvPicPr>
        <p:blipFill>
          <a:blip r:embed="rId1"/>
          <a:srcRect l="0" r="0" t="0" b="0"/>
          <a:stretch/>
        </p:blipFill>
        <p:spPr>
          <a:xfrm>
            <a:off x="685800" y="2240280"/>
            <a:ext cx="3337560" cy="1877378"/>
          </a:xfrm>
          <a:prstGeom prst="rect">
            <a:avLst/>
          </a:prstGeom>
        </p:spPr>
      </p:pic>
      <p:sp>
        <p:nvSpPr>
          <p:cNvPr id="7" name="Shape 4"/>
          <p:cNvSpPr/>
          <p:nvPr/>
        </p:nvSpPr>
        <p:spPr>
          <a:xfrm>
            <a:off x="685800" y="4300538"/>
            <a:ext cx="1234440" cy="237744"/>
          </a:xfrm>
          <a:prstGeom prst="roundRect">
            <a:avLst>
              <a:gd name="adj" fmla="val 15385"/>
            </a:avLst>
          </a:prstGeom>
          <a:solidFill>
            <a:srgbClr val="F19834"/>
          </a:solidFill>
          <a:ln w="12700">
            <a:solidFill>
              <a:srgbClr val="F19834"/>
            </a:solidFill>
            <a:prstDash val="solid"/>
          </a:ln>
        </p:spPr>
      </p:sp>
      <p:sp>
        <p:nvSpPr>
          <p:cNvPr id="8" name="Text 5"/>
          <p:cNvSpPr/>
          <p:nvPr/>
        </p:nvSpPr>
        <p:spPr>
          <a:xfrm>
            <a:off x="685800" y="4300538"/>
            <a:ext cx="1234440" cy="237744"/>
          </a:xfrm>
          <a:prstGeom prst="rect">
            <a:avLst/>
          </a:prstGeom>
          <a:noFill/>
          <a:ln/>
        </p:spPr>
        <p:txBody>
          <a:bodyPr wrap="square" lIns="0" tIns="0" rIns="0" bIns="0" rtlCol="0" anchor="ctr"/>
          <a:lstStyle/>
          <a:p>
            <a:pPr algn="ctr" indent="0" marL="0">
              <a:buNone/>
            </a:pPr>
            <a:r>
              <a:rPr lang="en-US" sz="750" b="1" spc="200" kern="0" dirty="0">
                <a:solidFill>
                  <a:srgbClr val="111111"/>
                </a:solidFill>
                <a:latin typeface="IBM Plex Sans JP" pitchFamily="34" charset="0"/>
                <a:ea typeface="IBM Plex Sans JP" pitchFamily="34" charset="-122"/>
                <a:cs typeface="IBM Plex Sans JP" pitchFamily="34" charset="-120"/>
              </a:rPr>
              <a:t>PRO SPORTS</a:t>
            </a:r>
            <a:endParaRPr lang="en-US" sz="750" dirty="0"/>
          </a:p>
        </p:txBody>
      </p:sp>
      <p:sp>
        <p:nvSpPr>
          <p:cNvPr id="9" name="Text 6"/>
          <p:cNvSpPr/>
          <p:nvPr/>
        </p:nvSpPr>
        <p:spPr>
          <a:xfrm>
            <a:off x="685800" y="4629722"/>
            <a:ext cx="3337560" cy="320040"/>
          </a:xfrm>
          <a:prstGeom prst="rect">
            <a:avLst/>
          </a:prstGeom>
          <a:noFill/>
          <a:ln/>
        </p:spPr>
        <p:txBody>
          <a:bodyPr wrap="square" lIns="0" tIns="0" rIns="0" bIns="0" rtlCol="0" anchor="t"/>
          <a:lstStyle/>
          <a:p>
            <a:pPr indent="0" marL="0">
              <a:buNone/>
            </a:pPr>
            <a:r>
              <a:rPr lang="en-US" sz="1500" b="1" dirty="0">
                <a:solidFill>
                  <a:srgbClr val="111111"/>
                </a:solidFill>
                <a:latin typeface="IBM Plex Sans JP" pitchFamily="34" charset="0"/>
                <a:ea typeface="IBM Plex Sans JP" pitchFamily="34" charset="-122"/>
                <a:cs typeface="IBM Plex Sans JP" pitchFamily="34" charset="-120"/>
              </a:rPr>
              <a:t>プロスポーツ</a:t>
            </a:r>
            <a:endParaRPr lang="en-US" sz="1500" dirty="0"/>
          </a:p>
        </p:txBody>
      </p:sp>
      <p:sp>
        <p:nvSpPr>
          <p:cNvPr id="10" name="Text 7"/>
          <p:cNvSpPr/>
          <p:nvPr/>
        </p:nvSpPr>
        <p:spPr>
          <a:xfrm>
            <a:off x="685800" y="4986338"/>
            <a:ext cx="3337560" cy="548640"/>
          </a:xfrm>
          <a:prstGeom prst="rect">
            <a:avLst/>
          </a:prstGeom>
          <a:noFill/>
          <a:ln/>
        </p:spPr>
        <p:txBody>
          <a:bodyPr wrap="square" lIns="0" tIns="0" rIns="0" bIns="0" rtlCol="0" anchor="t"/>
          <a:lstStyle/>
          <a:p>
            <a:pPr indent="0" marL="0">
              <a:lnSpc>
                <a:spcPct val="140000"/>
              </a:lnSpc>
              <a:buNone/>
            </a:pPr>
            <a:r>
              <a:rPr lang="en-US" sz="1050" dirty="0">
                <a:solidFill>
                  <a:srgbClr val="6A6A6A"/>
                </a:solidFill>
                <a:latin typeface="IBM Plex Sans JP" pitchFamily="34" charset="0"/>
                <a:ea typeface="IBM Plex Sans JP" pitchFamily="34" charset="-122"/>
                <a:cs typeface="IBM Plex Sans JP" pitchFamily="34" charset="-120"/>
              </a:rPr>
              <a:t>Jリーグクラブの年間プロモーション</a:t>
            </a:r>
            <a:endParaRPr lang="en-US" sz="1050" dirty="0"/>
          </a:p>
        </p:txBody>
      </p:sp>
      <p:pic>
        <p:nvPicPr>
          <p:cNvPr id="11" name="Image 1" descr="/private/tmp/claude-501/-Users-hirokishirakawa/61df7724-8533-4661-9a58-fa513da8dcb2/scratchpad/deck/assets/dooh.jpg">    </p:cNvPr>
          <p:cNvPicPr>
            <a:picLocks noChangeAspect="1"/>
          </p:cNvPicPr>
          <p:nvPr/>
        </p:nvPicPr>
        <p:blipFill>
          <a:blip r:embed="rId2"/>
          <a:srcRect l="0" r="0" t="0" b="0"/>
          <a:stretch/>
        </p:blipFill>
        <p:spPr>
          <a:xfrm>
            <a:off x="4427068" y="2240280"/>
            <a:ext cx="3337560" cy="1877378"/>
          </a:xfrm>
          <a:prstGeom prst="rect">
            <a:avLst/>
          </a:prstGeom>
        </p:spPr>
      </p:pic>
      <p:sp>
        <p:nvSpPr>
          <p:cNvPr id="12" name="Shape 8"/>
          <p:cNvSpPr/>
          <p:nvPr/>
        </p:nvSpPr>
        <p:spPr>
          <a:xfrm>
            <a:off x="4427068" y="4300538"/>
            <a:ext cx="1234440" cy="237744"/>
          </a:xfrm>
          <a:prstGeom prst="roundRect">
            <a:avLst>
              <a:gd name="adj" fmla="val 15385"/>
            </a:avLst>
          </a:prstGeom>
          <a:solidFill>
            <a:srgbClr val="F19834"/>
          </a:solidFill>
          <a:ln w="12700">
            <a:solidFill>
              <a:srgbClr val="F19834"/>
            </a:solidFill>
            <a:prstDash val="solid"/>
          </a:ln>
        </p:spPr>
      </p:sp>
      <p:sp>
        <p:nvSpPr>
          <p:cNvPr id="13" name="Text 9"/>
          <p:cNvSpPr/>
          <p:nvPr/>
        </p:nvSpPr>
        <p:spPr>
          <a:xfrm>
            <a:off x="4427068" y="4300538"/>
            <a:ext cx="1234440" cy="237744"/>
          </a:xfrm>
          <a:prstGeom prst="rect">
            <a:avLst/>
          </a:prstGeom>
          <a:noFill/>
          <a:ln/>
        </p:spPr>
        <p:txBody>
          <a:bodyPr wrap="square" lIns="0" tIns="0" rIns="0" bIns="0" rtlCol="0" anchor="ctr"/>
          <a:lstStyle/>
          <a:p>
            <a:pPr algn="ctr" indent="0" marL="0">
              <a:buNone/>
            </a:pPr>
            <a:r>
              <a:rPr lang="en-US" sz="750" b="1" spc="200" kern="0" dirty="0">
                <a:solidFill>
                  <a:srgbClr val="111111"/>
                </a:solidFill>
                <a:latin typeface="IBM Plex Sans JP" pitchFamily="34" charset="0"/>
                <a:ea typeface="IBM Plex Sans JP" pitchFamily="34" charset="-122"/>
                <a:cs typeface="IBM Plex Sans JP" pitchFamily="34" charset="-120"/>
              </a:rPr>
              <a:t>GLOBAL BRAND</a:t>
            </a:r>
            <a:endParaRPr lang="en-US" sz="750" dirty="0"/>
          </a:p>
        </p:txBody>
      </p:sp>
      <p:sp>
        <p:nvSpPr>
          <p:cNvPr id="14" name="Text 10"/>
          <p:cNvSpPr/>
          <p:nvPr/>
        </p:nvSpPr>
        <p:spPr>
          <a:xfrm>
            <a:off x="4427068" y="4629722"/>
            <a:ext cx="3337560" cy="320040"/>
          </a:xfrm>
          <a:prstGeom prst="rect">
            <a:avLst/>
          </a:prstGeom>
          <a:noFill/>
          <a:ln/>
        </p:spPr>
        <p:txBody>
          <a:bodyPr wrap="square" lIns="0" tIns="0" rIns="0" bIns="0" rtlCol="0" anchor="t"/>
          <a:lstStyle/>
          <a:p>
            <a:pPr indent="0" marL="0">
              <a:buNone/>
            </a:pPr>
            <a:r>
              <a:rPr lang="en-US" sz="1500" b="1" dirty="0">
                <a:solidFill>
                  <a:srgbClr val="111111"/>
                </a:solidFill>
                <a:latin typeface="IBM Plex Sans JP" pitchFamily="34" charset="0"/>
                <a:ea typeface="IBM Plex Sans JP" pitchFamily="34" charset="-122"/>
                <a:cs typeface="IBM Plex Sans JP" pitchFamily="34" charset="-120"/>
              </a:rPr>
              <a:t>グローバルブランド</a:t>
            </a:r>
            <a:endParaRPr lang="en-US" sz="1500" dirty="0"/>
          </a:p>
        </p:txBody>
      </p:sp>
      <p:sp>
        <p:nvSpPr>
          <p:cNvPr id="15" name="Text 11"/>
          <p:cNvSpPr/>
          <p:nvPr/>
        </p:nvSpPr>
        <p:spPr>
          <a:xfrm>
            <a:off x="4427068" y="4986338"/>
            <a:ext cx="3337560" cy="548640"/>
          </a:xfrm>
          <a:prstGeom prst="rect">
            <a:avLst/>
          </a:prstGeom>
          <a:noFill/>
          <a:ln/>
        </p:spPr>
        <p:txBody>
          <a:bodyPr wrap="square" lIns="0" tIns="0" rIns="0" bIns="0" rtlCol="0" anchor="t"/>
          <a:lstStyle/>
          <a:p>
            <a:pPr indent="0" marL="0">
              <a:lnSpc>
                <a:spcPct val="140000"/>
              </a:lnSpc>
              <a:buNone/>
            </a:pPr>
            <a:r>
              <a:rPr lang="en-US" sz="1050" dirty="0">
                <a:solidFill>
                  <a:srgbClr val="6A6A6A"/>
                </a:solidFill>
                <a:latin typeface="IBM Plex Sans JP" pitchFamily="34" charset="0"/>
                <a:ea typeface="IBM Plex Sans JP" pitchFamily="34" charset="-122"/>
                <a:cs typeface="IBM Plex Sans JP" pitchFamily="34" charset="-120"/>
              </a:rPr>
              <a:t>外資系ブランドの広告運用(GORE-TEX実績)</a:t>
            </a:r>
            <a:endParaRPr lang="en-US" sz="1050" dirty="0"/>
          </a:p>
        </p:txBody>
      </p:sp>
      <p:pic>
        <p:nvPicPr>
          <p:cNvPr id="16" name="Image 2" descr="/private/tmp/claude-501/-Users-hirokishirakawa/61df7724-8533-4661-9a58-fa513da8dcb2/scratchpad/deck/assets/nissan.jpg">    </p:cNvPr>
          <p:cNvPicPr>
            <a:picLocks noChangeAspect="1"/>
          </p:cNvPicPr>
          <p:nvPr/>
        </p:nvPicPr>
        <p:blipFill>
          <a:blip r:embed="rId3"/>
          <a:srcRect l="0" r="0" t="0" b="0"/>
          <a:stretch/>
        </p:blipFill>
        <p:spPr>
          <a:xfrm>
            <a:off x="8168335" y="2240280"/>
            <a:ext cx="3337560" cy="1877378"/>
          </a:xfrm>
          <a:prstGeom prst="rect">
            <a:avLst/>
          </a:prstGeom>
        </p:spPr>
      </p:pic>
      <p:sp>
        <p:nvSpPr>
          <p:cNvPr id="17" name="Shape 12"/>
          <p:cNvSpPr/>
          <p:nvPr/>
        </p:nvSpPr>
        <p:spPr>
          <a:xfrm>
            <a:off x="8168335" y="4300538"/>
            <a:ext cx="1234440" cy="237744"/>
          </a:xfrm>
          <a:prstGeom prst="roundRect">
            <a:avLst>
              <a:gd name="adj" fmla="val 15385"/>
            </a:avLst>
          </a:prstGeom>
          <a:solidFill>
            <a:srgbClr val="F19834"/>
          </a:solidFill>
          <a:ln w="12700">
            <a:solidFill>
              <a:srgbClr val="F19834"/>
            </a:solidFill>
            <a:prstDash val="solid"/>
          </a:ln>
        </p:spPr>
      </p:sp>
      <p:sp>
        <p:nvSpPr>
          <p:cNvPr id="18" name="Text 13"/>
          <p:cNvSpPr/>
          <p:nvPr/>
        </p:nvSpPr>
        <p:spPr>
          <a:xfrm>
            <a:off x="8168335" y="4300538"/>
            <a:ext cx="1234440" cy="237744"/>
          </a:xfrm>
          <a:prstGeom prst="rect">
            <a:avLst/>
          </a:prstGeom>
          <a:noFill/>
          <a:ln/>
        </p:spPr>
        <p:txBody>
          <a:bodyPr wrap="square" lIns="0" tIns="0" rIns="0" bIns="0" rtlCol="0" anchor="ctr"/>
          <a:lstStyle/>
          <a:p>
            <a:pPr algn="ctr" indent="0" marL="0">
              <a:buNone/>
            </a:pPr>
            <a:r>
              <a:rPr lang="en-US" sz="750" b="1" spc="200" kern="0" dirty="0">
                <a:solidFill>
                  <a:srgbClr val="111111"/>
                </a:solidFill>
                <a:latin typeface="IBM Plex Sans JP" pitchFamily="34" charset="0"/>
                <a:ea typeface="IBM Plex Sans JP" pitchFamily="34" charset="-122"/>
                <a:cs typeface="IBM Plex Sans JP" pitchFamily="34" charset="-120"/>
              </a:rPr>
              <a:t>MASS MEDIA</a:t>
            </a:r>
            <a:endParaRPr lang="en-US" sz="750" dirty="0"/>
          </a:p>
        </p:txBody>
      </p:sp>
      <p:sp>
        <p:nvSpPr>
          <p:cNvPr id="19" name="Text 14"/>
          <p:cNvSpPr/>
          <p:nvPr/>
        </p:nvSpPr>
        <p:spPr>
          <a:xfrm>
            <a:off x="8168335" y="4629722"/>
            <a:ext cx="3337560" cy="320040"/>
          </a:xfrm>
          <a:prstGeom prst="rect">
            <a:avLst/>
          </a:prstGeom>
          <a:noFill/>
          <a:ln/>
        </p:spPr>
        <p:txBody>
          <a:bodyPr wrap="square" lIns="0" tIns="0" rIns="0" bIns="0" rtlCol="0" anchor="t"/>
          <a:lstStyle/>
          <a:p>
            <a:pPr indent="0" marL="0">
              <a:buNone/>
            </a:pPr>
            <a:r>
              <a:rPr lang="en-US" sz="1500" b="1" dirty="0">
                <a:solidFill>
                  <a:srgbClr val="111111"/>
                </a:solidFill>
                <a:latin typeface="IBM Plex Sans JP" pitchFamily="34" charset="0"/>
                <a:ea typeface="IBM Plex Sans JP" pitchFamily="34" charset="-122"/>
                <a:cs typeface="IBM Plex Sans JP" pitchFamily="34" charset="-120"/>
              </a:rPr>
              <a:t>マス広告</a:t>
            </a:r>
            <a:endParaRPr lang="en-US" sz="1500" dirty="0"/>
          </a:p>
        </p:txBody>
      </p:sp>
      <p:sp>
        <p:nvSpPr>
          <p:cNvPr id="20" name="Text 15"/>
          <p:cNvSpPr/>
          <p:nvPr/>
        </p:nvSpPr>
        <p:spPr>
          <a:xfrm>
            <a:off x="8168335" y="4986338"/>
            <a:ext cx="3337560" cy="548640"/>
          </a:xfrm>
          <a:prstGeom prst="rect">
            <a:avLst/>
          </a:prstGeom>
          <a:noFill/>
          <a:ln/>
        </p:spPr>
        <p:txBody>
          <a:bodyPr wrap="square" lIns="0" tIns="0" rIns="0" bIns="0" rtlCol="0" anchor="t"/>
          <a:lstStyle/>
          <a:p>
            <a:pPr indent="0" marL="0">
              <a:lnSpc>
                <a:spcPct val="140000"/>
              </a:lnSpc>
              <a:buNone/>
            </a:pPr>
            <a:r>
              <a:rPr lang="en-US" sz="1050" dirty="0">
                <a:solidFill>
                  <a:srgbClr val="6A6A6A"/>
                </a:solidFill>
                <a:latin typeface="IBM Plex Sans JP" pitchFamily="34" charset="0"/>
                <a:ea typeface="IBM Plex Sans JP" pitchFamily="34" charset="-122"/>
                <a:cs typeface="IBM Plex Sans JP" pitchFamily="34" charset="-120"/>
              </a:rPr>
              <a:t>TVer・TVCMなどの大手メディア取扱</a:t>
            </a:r>
            <a:endParaRPr lang="en-US" sz="1050" dirty="0"/>
          </a:p>
        </p:txBody>
      </p:sp>
      <p:pic>
        <p:nvPicPr>
          <p:cNvPr id="22" name="Image 3" descr="/private/tmp/claude-501/-Users-hirokishirakawa/61df7724-8533-4661-9a58-fa513da8dcb2/scratchpad/deck/assets/logo-black.png">    </p:cNvPr>
          <p:cNvPicPr>
            <a:picLocks noChangeAspect="1"/>
          </p:cNvPicPr>
          <p:nvPr/>
        </p:nvPicPr>
        <p:blipFill>
          <a:blip r:embed="rId4"/>
          <a:stretch>
            <a:fillRect/>
          </a:stretch>
        </p:blipFill>
        <p:spPr>
          <a:xfrm>
            <a:off x="685800" y="6291072"/>
            <a:ext cx="868680" cy="128484"/>
          </a:xfrm>
          <a:prstGeom prst="rect">
            <a:avLst/>
          </a:prstGeom>
        </p:spPr>
      </p:pic>
      <p:sp>
        <p:nvSpPr>
          <p:cNvPr id="23" name="Text 16"/>
          <p:cNvSpPr/>
          <p:nvPr/>
        </p:nvSpPr>
        <p:spPr>
          <a:xfrm>
            <a:off x="1828800" y="6291072"/>
            <a:ext cx="5486400" cy="182880"/>
          </a:xfrm>
          <a:prstGeom prst="rect">
            <a:avLst/>
          </a:prstGeom>
          <a:noFill/>
          <a:ln/>
        </p:spPr>
        <p:txBody>
          <a:bodyPr wrap="square" lIns="0" tIns="0" rIns="0" bIns="0" rtlCol="0" anchor="t"/>
          <a:lstStyle/>
          <a:p>
            <a:pPr indent="0" marL="0">
              <a:buNone/>
            </a:pPr>
            <a:r>
              <a:rPr lang="en-US" sz="800" spc="100" kern="0" dirty="0">
                <a:solidFill>
                  <a:srgbClr val="6A6A6A"/>
                </a:solidFill>
                <a:latin typeface="IBM Plex Sans JP" pitchFamily="34" charset="0"/>
                <a:ea typeface="IBM Plex Sans JP" pitchFamily="34" charset="-122"/>
                <a:cs typeface="IBM Plex Sans JP" pitchFamily="34" charset="-120"/>
              </a:rPr>
              <a:t>Ad Arch Co., Ltd.　／　TVer Advertising Division</a:t>
            </a:r>
            <a:endParaRPr lang="en-US" sz="800" dirty="0"/>
          </a:p>
        </p:txBody>
      </p:sp>
      <p:sp>
        <p:nvSpPr>
          <p:cNvPr id="24" name="Text 17"/>
          <p:cNvSpPr/>
          <p:nvPr/>
        </p:nvSpPr>
        <p:spPr>
          <a:xfrm>
            <a:off x="7848295" y="6291072"/>
            <a:ext cx="3657600" cy="182880"/>
          </a:xfrm>
          <a:prstGeom prst="rect">
            <a:avLst/>
          </a:prstGeom>
          <a:noFill/>
          <a:ln/>
        </p:spPr>
        <p:txBody>
          <a:bodyPr wrap="square" lIns="0" tIns="0" rIns="0" bIns="0" rtlCol="0" anchor="t"/>
          <a:lstStyle/>
          <a:p>
            <a:pPr algn="r" indent="0" marL="0">
              <a:buNone/>
            </a:pPr>
            <a:r>
              <a:rPr lang="en-US" sz="800" spc="150" kern="0" dirty="0">
                <a:solidFill>
                  <a:srgbClr val="6A6A6A"/>
                </a:solidFill>
                <a:latin typeface="IBM Plex Sans JP" pitchFamily="34" charset="0"/>
                <a:ea typeface="IBM Plex Sans JP" pitchFamily="34" charset="-122"/>
                <a:cs typeface="IBM Plex Sans JP" pitchFamily="34" charset="-120"/>
              </a:rPr>
              <a:t>15 / 19　　CONFIDENTIAL</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5508"/>
            <a:ext cx="384048" cy="27432"/>
          </a:xfrm>
          <a:prstGeom prst="rect">
            <a:avLst/>
          </a:prstGeom>
          <a:solidFill>
            <a:srgbClr val="F19834"/>
          </a:solidFill>
          <a:ln w="12700">
            <a:solidFill>
              <a:srgbClr val="F19834"/>
            </a:solidFill>
            <a:prstDash val="solid"/>
          </a:ln>
        </p:spPr>
      </p:sp>
      <p:sp>
        <p:nvSpPr>
          <p:cNvPr id="3" name="Text 1"/>
          <p:cNvSpPr/>
          <p:nvPr/>
        </p:nvSpPr>
        <p:spPr>
          <a:xfrm>
            <a:off x="1188720" y="566928"/>
            <a:ext cx="6400800" cy="201168"/>
          </a:xfrm>
          <a:prstGeom prst="rect">
            <a:avLst/>
          </a:prstGeom>
          <a:noFill/>
          <a:ln/>
        </p:spPr>
        <p:txBody>
          <a:bodyPr wrap="square" lIns="0" tIns="0" rIns="0" bIns="0" rtlCol="0" anchor="t"/>
          <a:lstStyle/>
          <a:p>
            <a:pPr indent="0" marL="0">
              <a:buNone/>
            </a:pPr>
            <a:r>
              <a:rPr lang="en-US" sz="900" spc="300" kern="0" dirty="0">
                <a:solidFill>
                  <a:srgbClr val="6A6A6A"/>
                </a:solidFill>
                <a:latin typeface="IBM Plex Sans JP" pitchFamily="34" charset="0"/>
                <a:ea typeface="IBM Plex Sans JP" pitchFamily="34" charset="-122"/>
                <a:cs typeface="IBM Plex Sans JP" pitchFamily="34" charset="-120"/>
              </a:rPr>
              <a:t>09 ／ HOW WE WORK</a:t>
            </a:r>
            <a:endParaRPr lang="en-US" sz="900" dirty="0"/>
          </a:p>
        </p:txBody>
      </p:sp>
      <p:sp>
        <p:nvSpPr>
          <p:cNvPr id="4" name="Text 2"/>
          <p:cNvSpPr/>
          <p:nvPr/>
        </p:nvSpPr>
        <p:spPr>
          <a:xfrm>
            <a:off x="685800" y="896112"/>
            <a:ext cx="10820095" cy="822960"/>
          </a:xfrm>
          <a:prstGeom prst="rect">
            <a:avLst/>
          </a:prstGeom>
          <a:noFill/>
          <a:ln/>
        </p:spPr>
        <p:txBody>
          <a:bodyPr wrap="square" lIns="0" tIns="0" rIns="0" bIns="0" rtlCol="0" anchor="t"/>
          <a:lstStyle/>
          <a:p>
            <a:pPr indent="0" marL="0">
              <a:lnSpc>
                <a:spcPct val="125000"/>
              </a:lnSpc>
              <a:buNone/>
            </a:pPr>
            <a:r>
              <a:rPr lang="en-US" sz="2600" b="1" dirty="0">
                <a:solidFill>
                  <a:srgbClr val="111111"/>
                </a:solidFill>
                <a:latin typeface="IBM Plex Sans JP" pitchFamily="34" charset="0"/>
                <a:ea typeface="IBM Plex Sans JP" pitchFamily="34" charset="-122"/>
                <a:cs typeface="IBM Plex Sans JP" pitchFamily="34" charset="-120"/>
              </a:rPr>
              <a:t>進め方</a:t>
            </a:r>
            <a:endParaRPr lang="en-US" sz="2600" dirty="0"/>
          </a:p>
        </p:txBody>
      </p:sp>
      <p:sp>
        <p:nvSpPr>
          <p:cNvPr id="5" name="Text 3"/>
          <p:cNvSpPr/>
          <p:nvPr/>
        </p:nvSpPr>
        <p:spPr>
          <a:xfrm>
            <a:off x="685800" y="1572768"/>
            <a:ext cx="10820095" cy="365760"/>
          </a:xfrm>
          <a:prstGeom prst="rect">
            <a:avLst/>
          </a:prstGeom>
          <a:noFill/>
          <a:ln/>
        </p:spPr>
        <p:txBody>
          <a:bodyPr wrap="square" lIns="0" tIns="0" rIns="0" bIns="0" rtlCol="0" anchor="t"/>
          <a:lstStyle/>
          <a:p>
            <a:pPr indent="0" marL="0">
              <a:buNone/>
            </a:pPr>
            <a:r>
              <a:rPr lang="en-US" sz="1200" dirty="0">
                <a:solidFill>
                  <a:srgbClr val="6A6A6A"/>
                </a:solidFill>
                <a:latin typeface="IBM Plex Sans JP" pitchFamily="34" charset="0"/>
                <a:ea typeface="IBM Plex Sans JP" pitchFamily="34" charset="-122"/>
                <a:cs typeface="IBM Plex Sans JP" pitchFamily="34" charset="-120"/>
              </a:rPr>
              <a:t>ご相談から配信開始まで、素材がある場合は最短3週間程度です。</a:t>
            </a:r>
            <a:endParaRPr lang="en-US" sz="1200" dirty="0"/>
          </a:p>
        </p:txBody>
      </p:sp>
      <p:sp>
        <p:nvSpPr>
          <p:cNvPr id="6" name="Shape 4"/>
          <p:cNvSpPr/>
          <p:nvPr/>
        </p:nvSpPr>
        <p:spPr>
          <a:xfrm>
            <a:off x="685800" y="2286000"/>
            <a:ext cx="10820095" cy="0"/>
          </a:xfrm>
          <a:prstGeom prst="line">
            <a:avLst/>
          </a:prstGeom>
          <a:noFill/>
          <a:ln w="12700">
            <a:solidFill>
              <a:srgbClr val="111111"/>
            </a:solidFill>
            <a:prstDash val="solid"/>
          </a:ln>
        </p:spPr>
      </p:sp>
      <p:sp>
        <p:nvSpPr>
          <p:cNvPr id="7" name="Shape 5"/>
          <p:cNvSpPr/>
          <p:nvPr/>
        </p:nvSpPr>
        <p:spPr>
          <a:xfrm>
            <a:off x="612648" y="2212848"/>
            <a:ext cx="146304" cy="146304"/>
          </a:xfrm>
          <a:prstGeom prst="ellipse">
            <a:avLst/>
          </a:prstGeom>
          <a:solidFill>
            <a:srgbClr val="F19834"/>
          </a:solidFill>
          <a:ln w="12700">
            <a:solidFill>
              <a:srgbClr val="FFFFFF"/>
            </a:solidFill>
            <a:prstDash val="solid"/>
          </a:ln>
        </p:spPr>
      </p:sp>
      <p:sp>
        <p:nvSpPr>
          <p:cNvPr id="8" name="Text 6"/>
          <p:cNvSpPr/>
          <p:nvPr/>
        </p:nvSpPr>
        <p:spPr>
          <a:xfrm>
            <a:off x="685800" y="2542032"/>
            <a:ext cx="1965960" cy="201168"/>
          </a:xfrm>
          <a:prstGeom prst="rect">
            <a:avLst/>
          </a:prstGeom>
          <a:noFill/>
          <a:ln/>
        </p:spPr>
        <p:txBody>
          <a:bodyPr wrap="square" lIns="0" tIns="0" rIns="0" bIns="0" rtlCol="0" anchor="t"/>
          <a:lstStyle/>
          <a:p>
            <a:pPr indent="0" marL="0">
              <a:buNone/>
            </a:pPr>
            <a:r>
              <a:rPr lang="en-US" sz="850" spc="200" kern="0" dirty="0">
                <a:solidFill>
                  <a:srgbClr val="6A6A6A"/>
                </a:solidFill>
                <a:latin typeface="IBM Plex Sans JP" pitchFamily="34" charset="0"/>
                <a:ea typeface="IBM Plex Sans JP" pitchFamily="34" charset="-122"/>
                <a:cs typeface="IBM Plex Sans JP" pitchFamily="34" charset="-120"/>
              </a:rPr>
              <a:t>STEP 1</a:t>
            </a:r>
            <a:endParaRPr lang="en-US" sz="850" dirty="0"/>
          </a:p>
        </p:txBody>
      </p:sp>
      <p:sp>
        <p:nvSpPr>
          <p:cNvPr id="9" name="Text 7"/>
          <p:cNvSpPr/>
          <p:nvPr/>
        </p:nvSpPr>
        <p:spPr>
          <a:xfrm>
            <a:off x="685800" y="2788920"/>
            <a:ext cx="1965960" cy="548640"/>
          </a:xfrm>
          <a:prstGeom prst="rect">
            <a:avLst/>
          </a:prstGeom>
          <a:noFill/>
          <a:ln/>
        </p:spPr>
        <p:txBody>
          <a:bodyPr wrap="square" lIns="0" tIns="0" rIns="0" bIns="0" rtlCol="0" anchor="t"/>
          <a:lstStyle/>
          <a:p>
            <a:pPr indent="0" marL="0">
              <a:lnSpc>
                <a:spcPct val="125000"/>
              </a:lnSpc>
              <a:buNone/>
            </a:pPr>
            <a:r>
              <a:rPr lang="en-US" sz="1350" b="1" dirty="0">
                <a:solidFill>
                  <a:srgbClr val="111111"/>
                </a:solidFill>
                <a:latin typeface="IBM Plex Sans JP" pitchFamily="34" charset="0"/>
                <a:ea typeface="IBM Plex Sans JP" pitchFamily="34" charset="-122"/>
                <a:cs typeface="IBM Plex Sans JP" pitchFamily="34" charset="-120"/>
              </a:rPr>
              <a:t>ヒアリング</a:t>
            </a:r>
            <a:endParaRPr lang="en-US" sz="1350" dirty="0"/>
          </a:p>
        </p:txBody>
      </p:sp>
      <p:sp>
        <p:nvSpPr>
          <p:cNvPr id="10" name="Text 8"/>
          <p:cNvSpPr/>
          <p:nvPr/>
        </p:nvSpPr>
        <p:spPr>
          <a:xfrm>
            <a:off x="685800" y="3383280"/>
            <a:ext cx="1965960" cy="228600"/>
          </a:xfrm>
          <a:prstGeom prst="rect">
            <a:avLst/>
          </a:prstGeom>
          <a:noFill/>
          <a:ln/>
        </p:spPr>
        <p:txBody>
          <a:bodyPr wrap="square" lIns="0" tIns="0" rIns="0" bIns="0" rtlCol="0" anchor="t"/>
          <a:lstStyle/>
          <a:p>
            <a:pPr indent="0" marL="0">
              <a:buNone/>
            </a:pPr>
            <a:r>
              <a:rPr lang="en-US" sz="1000" b="1" dirty="0">
                <a:solidFill>
                  <a:srgbClr val="D97F18"/>
                </a:solidFill>
                <a:latin typeface="IBM Plex Sans JP" pitchFamily="34" charset="0"/>
                <a:ea typeface="IBM Plex Sans JP" pitchFamily="34" charset="-122"/>
                <a:cs typeface="IBM Plex Sans JP" pitchFamily="34" charset="-120"/>
              </a:rPr>
              <a:t>30分</a:t>
            </a:r>
            <a:endParaRPr lang="en-US" sz="1000" dirty="0"/>
          </a:p>
        </p:txBody>
      </p:sp>
      <p:sp>
        <p:nvSpPr>
          <p:cNvPr id="11" name="Text 9"/>
          <p:cNvSpPr/>
          <p:nvPr/>
        </p:nvSpPr>
        <p:spPr>
          <a:xfrm>
            <a:off x="685800" y="3703320"/>
            <a:ext cx="1965960" cy="1280160"/>
          </a:xfrm>
          <a:prstGeom prst="rect">
            <a:avLst/>
          </a:prstGeom>
          <a:noFill/>
          <a:ln/>
        </p:spPr>
        <p:txBody>
          <a:bodyPr wrap="square" lIns="0" tIns="0" rIns="0" bIns="0" rtlCol="0" anchor="t"/>
          <a:lstStyle/>
          <a:p>
            <a:pPr indent="0" marL="0">
              <a:lnSpc>
                <a:spcPct val="150000"/>
              </a:lnSpc>
              <a:buNone/>
            </a:pPr>
            <a:r>
              <a:rPr lang="en-US" sz="950" dirty="0">
                <a:solidFill>
                  <a:srgbClr val="6A6A6A"/>
                </a:solidFill>
                <a:latin typeface="IBM Plex Sans JP" pitchFamily="34" charset="0"/>
                <a:ea typeface="IBM Plex Sans JP" pitchFamily="34" charset="-122"/>
                <a:cs typeface="IBM Plex Sans JP" pitchFamily="34" charset="-120"/>
              </a:rPr>
              <a:t>商圏・ターゲット・これまでの広告をお聞きします。オンラインでも訪問でも。</a:t>
            </a:r>
            <a:endParaRPr lang="en-US" sz="950" dirty="0"/>
          </a:p>
        </p:txBody>
      </p:sp>
      <p:sp>
        <p:nvSpPr>
          <p:cNvPr id="12" name="Shape 10"/>
          <p:cNvSpPr/>
          <p:nvPr/>
        </p:nvSpPr>
        <p:spPr>
          <a:xfrm>
            <a:off x="2826182" y="2212848"/>
            <a:ext cx="146304" cy="146304"/>
          </a:xfrm>
          <a:prstGeom prst="ellipse">
            <a:avLst/>
          </a:prstGeom>
          <a:solidFill>
            <a:srgbClr val="111111"/>
          </a:solidFill>
          <a:ln w="12700">
            <a:solidFill>
              <a:srgbClr val="FFFFFF"/>
            </a:solidFill>
            <a:prstDash val="solid"/>
          </a:ln>
        </p:spPr>
      </p:sp>
      <p:sp>
        <p:nvSpPr>
          <p:cNvPr id="13" name="Text 11"/>
          <p:cNvSpPr/>
          <p:nvPr/>
        </p:nvSpPr>
        <p:spPr>
          <a:xfrm>
            <a:off x="2899334" y="2542032"/>
            <a:ext cx="1965960" cy="201168"/>
          </a:xfrm>
          <a:prstGeom prst="rect">
            <a:avLst/>
          </a:prstGeom>
          <a:noFill/>
          <a:ln/>
        </p:spPr>
        <p:txBody>
          <a:bodyPr wrap="square" lIns="0" tIns="0" rIns="0" bIns="0" rtlCol="0" anchor="t"/>
          <a:lstStyle/>
          <a:p>
            <a:pPr indent="0" marL="0">
              <a:buNone/>
            </a:pPr>
            <a:r>
              <a:rPr lang="en-US" sz="850" spc="200" kern="0" dirty="0">
                <a:solidFill>
                  <a:srgbClr val="6A6A6A"/>
                </a:solidFill>
                <a:latin typeface="IBM Plex Sans JP" pitchFamily="34" charset="0"/>
                <a:ea typeface="IBM Plex Sans JP" pitchFamily="34" charset="-122"/>
                <a:cs typeface="IBM Plex Sans JP" pitchFamily="34" charset="-120"/>
              </a:rPr>
              <a:t>STEP 2</a:t>
            </a:r>
            <a:endParaRPr lang="en-US" sz="850" dirty="0"/>
          </a:p>
        </p:txBody>
      </p:sp>
      <p:sp>
        <p:nvSpPr>
          <p:cNvPr id="14" name="Text 12"/>
          <p:cNvSpPr/>
          <p:nvPr/>
        </p:nvSpPr>
        <p:spPr>
          <a:xfrm>
            <a:off x="2899334" y="2788920"/>
            <a:ext cx="1965960" cy="548640"/>
          </a:xfrm>
          <a:prstGeom prst="rect">
            <a:avLst/>
          </a:prstGeom>
          <a:noFill/>
          <a:ln/>
        </p:spPr>
        <p:txBody>
          <a:bodyPr wrap="square" lIns="0" tIns="0" rIns="0" bIns="0" rtlCol="0" anchor="t"/>
          <a:lstStyle/>
          <a:p>
            <a:pPr indent="0" marL="0">
              <a:lnSpc>
                <a:spcPct val="125000"/>
              </a:lnSpc>
              <a:buNone/>
            </a:pPr>
            <a:r>
              <a:rPr lang="en-US" sz="1350" b="1" dirty="0">
                <a:solidFill>
                  <a:srgbClr val="111111"/>
                </a:solidFill>
                <a:latin typeface="IBM Plex Sans JP" pitchFamily="34" charset="0"/>
                <a:ea typeface="IBM Plex Sans JP" pitchFamily="34" charset="-122"/>
                <a:cs typeface="IBM Plex Sans JP" pitchFamily="34" charset="-120"/>
              </a:rPr>
              <a:t>配信設計とお見積</a:t>
            </a:r>
            <a:endParaRPr lang="en-US" sz="1350" dirty="0"/>
          </a:p>
        </p:txBody>
      </p:sp>
      <p:sp>
        <p:nvSpPr>
          <p:cNvPr id="15" name="Text 13"/>
          <p:cNvSpPr/>
          <p:nvPr/>
        </p:nvSpPr>
        <p:spPr>
          <a:xfrm>
            <a:off x="2899334" y="3383280"/>
            <a:ext cx="1965960" cy="228600"/>
          </a:xfrm>
          <a:prstGeom prst="rect">
            <a:avLst/>
          </a:prstGeom>
          <a:noFill/>
          <a:ln/>
        </p:spPr>
        <p:txBody>
          <a:bodyPr wrap="square" lIns="0" tIns="0" rIns="0" bIns="0" rtlCol="0" anchor="t"/>
          <a:lstStyle/>
          <a:p>
            <a:pPr indent="0" marL="0">
              <a:buNone/>
            </a:pPr>
            <a:r>
              <a:rPr lang="en-US" sz="1000" b="1" dirty="0">
                <a:solidFill>
                  <a:srgbClr val="D97F18"/>
                </a:solidFill>
                <a:latin typeface="IBM Plex Sans JP" pitchFamily="34" charset="0"/>
                <a:ea typeface="IBM Plex Sans JP" pitchFamily="34" charset="-122"/>
                <a:cs typeface="IBM Plex Sans JP" pitchFamily="34" charset="-120"/>
              </a:rPr>
              <a:t>3営業日</a:t>
            </a:r>
            <a:endParaRPr lang="en-US" sz="1000" dirty="0"/>
          </a:p>
        </p:txBody>
      </p:sp>
      <p:sp>
        <p:nvSpPr>
          <p:cNvPr id="16" name="Text 14"/>
          <p:cNvSpPr/>
          <p:nvPr/>
        </p:nvSpPr>
        <p:spPr>
          <a:xfrm>
            <a:off x="2899334" y="3703320"/>
            <a:ext cx="1965960" cy="1280160"/>
          </a:xfrm>
          <a:prstGeom prst="rect">
            <a:avLst/>
          </a:prstGeom>
          <a:noFill/>
          <a:ln/>
        </p:spPr>
        <p:txBody>
          <a:bodyPr wrap="square" lIns="0" tIns="0" rIns="0" bIns="0" rtlCol="0" anchor="t"/>
          <a:lstStyle/>
          <a:p>
            <a:pPr indent="0" marL="0">
              <a:lnSpc>
                <a:spcPct val="150000"/>
              </a:lnSpc>
              <a:buNone/>
            </a:pPr>
            <a:r>
              <a:rPr lang="en-US" sz="950" dirty="0">
                <a:solidFill>
                  <a:srgbClr val="6A6A6A"/>
                </a:solidFill>
                <a:latin typeface="IBM Plex Sans JP" pitchFamily="34" charset="0"/>
                <a:ea typeface="IBM Plex Sans JP" pitchFamily="34" charset="-122"/>
                <a:cs typeface="IBM Plex Sans JP" pitchFamily="34" charset="-120"/>
              </a:rPr>
              <a:t>エリア・期間・プランを設計し、想定到達人数とあわせてご提示します。</a:t>
            </a:r>
            <a:endParaRPr lang="en-US" sz="950" dirty="0"/>
          </a:p>
        </p:txBody>
      </p:sp>
      <p:sp>
        <p:nvSpPr>
          <p:cNvPr id="17" name="Shape 15"/>
          <p:cNvSpPr/>
          <p:nvPr/>
        </p:nvSpPr>
        <p:spPr>
          <a:xfrm>
            <a:off x="5039716" y="2212848"/>
            <a:ext cx="146304" cy="146304"/>
          </a:xfrm>
          <a:prstGeom prst="ellipse">
            <a:avLst/>
          </a:prstGeom>
          <a:solidFill>
            <a:srgbClr val="111111"/>
          </a:solidFill>
          <a:ln w="12700">
            <a:solidFill>
              <a:srgbClr val="FFFFFF"/>
            </a:solidFill>
            <a:prstDash val="solid"/>
          </a:ln>
        </p:spPr>
      </p:sp>
      <p:sp>
        <p:nvSpPr>
          <p:cNvPr id="18" name="Text 16"/>
          <p:cNvSpPr/>
          <p:nvPr/>
        </p:nvSpPr>
        <p:spPr>
          <a:xfrm>
            <a:off x="5112868" y="2542032"/>
            <a:ext cx="1965960" cy="201168"/>
          </a:xfrm>
          <a:prstGeom prst="rect">
            <a:avLst/>
          </a:prstGeom>
          <a:noFill/>
          <a:ln/>
        </p:spPr>
        <p:txBody>
          <a:bodyPr wrap="square" lIns="0" tIns="0" rIns="0" bIns="0" rtlCol="0" anchor="t"/>
          <a:lstStyle/>
          <a:p>
            <a:pPr indent="0" marL="0">
              <a:buNone/>
            </a:pPr>
            <a:r>
              <a:rPr lang="en-US" sz="850" spc="200" kern="0" dirty="0">
                <a:solidFill>
                  <a:srgbClr val="6A6A6A"/>
                </a:solidFill>
                <a:latin typeface="IBM Plex Sans JP" pitchFamily="34" charset="0"/>
                <a:ea typeface="IBM Plex Sans JP" pitchFamily="34" charset="-122"/>
                <a:cs typeface="IBM Plex Sans JP" pitchFamily="34" charset="-120"/>
              </a:rPr>
              <a:t>STEP 3</a:t>
            </a:r>
            <a:endParaRPr lang="en-US" sz="850" dirty="0"/>
          </a:p>
        </p:txBody>
      </p:sp>
      <p:sp>
        <p:nvSpPr>
          <p:cNvPr id="19" name="Text 17"/>
          <p:cNvSpPr/>
          <p:nvPr/>
        </p:nvSpPr>
        <p:spPr>
          <a:xfrm>
            <a:off x="5112868" y="2788920"/>
            <a:ext cx="1965960" cy="548640"/>
          </a:xfrm>
          <a:prstGeom prst="rect">
            <a:avLst/>
          </a:prstGeom>
          <a:noFill/>
          <a:ln/>
        </p:spPr>
        <p:txBody>
          <a:bodyPr wrap="square" lIns="0" tIns="0" rIns="0" bIns="0" rtlCol="0" anchor="t"/>
          <a:lstStyle/>
          <a:p>
            <a:pPr indent="0" marL="0">
              <a:lnSpc>
                <a:spcPct val="125000"/>
              </a:lnSpc>
              <a:buNone/>
            </a:pPr>
            <a:r>
              <a:rPr lang="en-US" sz="1350" b="1" dirty="0">
                <a:solidFill>
                  <a:srgbClr val="111111"/>
                </a:solidFill>
                <a:latin typeface="IBM Plex Sans JP" pitchFamily="34" charset="0"/>
                <a:ea typeface="IBM Plex Sans JP" pitchFamily="34" charset="-122"/>
                <a:cs typeface="IBM Plex Sans JP" pitchFamily="34" charset="-120"/>
              </a:rPr>
              <a:t>CM制作</a:t>
            </a:r>
            <a:endParaRPr lang="en-US" sz="1350" dirty="0"/>
          </a:p>
        </p:txBody>
      </p:sp>
      <p:sp>
        <p:nvSpPr>
          <p:cNvPr id="20" name="Text 18"/>
          <p:cNvSpPr/>
          <p:nvPr/>
        </p:nvSpPr>
        <p:spPr>
          <a:xfrm>
            <a:off x="5112868" y="3383280"/>
            <a:ext cx="1965960" cy="228600"/>
          </a:xfrm>
          <a:prstGeom prst="rect">
            <a:avLst/>
          </a:prstGeom>
          <a:noFill/>
          <a:ln/>
        </p:spPr>
        <p:txBody>
          <a:bodyPr wrap="square" lIns="0" tIns="0" rIns="0" bIns="0" rtlCol="0" anchor="t"/>
          <a:lstStyle/>
          <a:p>
            <a:pPr indent="0" marL="0">
              <a:buNone/>
            </a:pPr>
            <a:r>
              <a:rPr lang="en-US" sz="1000" b="1" dirty="0">
                <a:solidFill>
                  <a:srgbClr val="D97F18"/>
                </a:solidFill>
                <a:latin typeface="IBM Plex Sans JP" pitchFamily="34" charset="0"/>
                <a:ea typeface="IBM Plex Sans JP" pitchFamily="34" charset="-122"/>
                <a:cs typeface="IBM Plex Sans JP" pitchFamily="34" charset="-120"/>
              </a:rPr>
              <a:t>3〜4週間</a:t>
            </a:r>
            <a:endParaRPr lang="en-US" sz="1000" dirty="0"/>
          </a:p>
        </p:txBody>
      </p:sp>
      <p:sp>
        <p:nvSpPr>
          <p:cNvPr id="21" name="Text 19"/>
          <p:cNvSpPr/>
          <p:nvPr/>
        </p:nvSpPr>
        <p:spPr>
          <a:xfrm>
            <a:off x="5112868" y="3703320"/>
            <a:ext cx="1965960" cy="1280160"/>
          </a:xfrm>
          <a:prstGeom prst="rect">
            <a:avLst/>
          </a:prstGeom>
          <a:noFill/>
          <a:ln/>
        </p:spPr>
        <p:txBody>
          <a:bodyPr wrap="square" lIns="0" tIns="0" rIns="0" bIns="0" rtlCol="0" anchor="t"/>
          <a:lstStyle/>
          <a:p>
            <a:pPr indent="0" marL="0">
              <a:lnSpc>
                <a:spcPct val="150000"/>
              </a:lnSpc>
              <a:buNone/>
            </a:pPr>
            <a:r>
              <a:rPr lang="en-US" sz="950" dirty="0">
                <a:solidFill>
                  <a:srgbClr val="6A6A6A"/>
                </a:solidFill>
                <a:latin typeface="IBM Plex Sans JP" pitchFamily="34" charset="0"/>
                <a:ea typeface="IBM Plex Sans JP" pitchFamily="34" charset="-122"/>
                <a:cs typeface="IBM Plex Sans JP" pitchFamily="34" charset="-120"/>
              </a:rPr>
              <a:t>素材がある場合は不要。撮影する場合は企画から仕上げまで。</a:t>
            </a:r>
            <a:endParaRPr lang="en-US" sz="950" dirty="0"/>
          </a:p>
        </p:txBody>
      </p:sp>
      <p:sp>
        <p:nvSpPr>
          <p:cNvPr id="22" name="Shape 20"/>
          <p:cNvSpPr/>
          <p:nvPr/>
        </p:nvSpPr>
        <p:spPr>
          <a:xfrm>
            <a:off x="7253249" y="2212848"/>
            <a:ext cx="146304" cy="146304"/>
          </a:xfrm>
          <a:prstGeom prst="ellipse">
            <a:avLst/>
          </a:prstGeom>
          <a:solidFill>
            <a:srgbClr val="111111"/>
          </a:solidFill>
          <a:ln w="12700">
            <a:solidFill>
              <a:srgbClr val="FFFFFF"/>
            </a:solidFill>
            <a:prstDash val="solid"/>
          </a:ln>
        </p:spPr>
      </p:sp>
      <p:sp>
        <p:nvSpPr>
          <p:cNvPr id="23" name="Text 21"/>
          <p:cNvSpPr/>
          <p:nvPr/>
        </p:nvSpPr>
        <p:spPr>
          <a:xfrm>
            <a:off x="7326401" y="2542032"/>
            <a:ext cx="1965960" cy="201168"/>
          </a:xfrm>
          <a:prstGeom prst="rect">
            <a:avLst/>
          </a:prstGeom>
          <a:noFill/>
          <a:ln/>
        </p:spPr>
        <p:txBody>
          <a:bodyPr wrap="square" lIns="0" tIns="0" rIns="0" bIns="0" rtlCol="0" anchor="t"/>
          <a:lstStyle/>
          <a:p>
            <a:pPr indent="0" marL="0">
              <a:buNone/>
            </a:pPr>
            <a:r>
              <a:rPr lang="en-US" sz="850" spc="200" kern="0" dirty="0">
                <a:solidFill>
                  <a:srgbClr val="6A6A6A"/>
                </a:solidFill>
                <a:latin typeface="IBM Plex Sans JP" pitchFamily="34" charset="0"/>
                <a:ea typeface="IBM Plex Sans JP" pitchFamily="34" charset="-122"/>
                <a:cs typeface="IBM Plex Sans JP" pitchFamily="34" charset="-120"/>
              </a:rPr>
              <a:t>STEP 4</a:t>
            </a:r>
            <a:endParaRPr lang="en-US" sz="850" dirty="0"/>
          </a:p>
        </p:txBody>
      </p:sp>
      <p:sp>
        <p:nvSpPr>
          <p:cNvPr id="24" name="Text 22"/>
          <p:cNvSpPr/>
          <p:nvPr/>
        </p:nvSpPr>
        <p:spPr>
          <a:xfrm>
            <a:off x="7326401" y="2788920"/>
            <a:ext cx="1965960" cy="548640"/>
          </a:xfrm>
          <a:prstGeom prst="rect">
            <a:avLst/>
          </a:prstGeom>
          <a:noFill/>
          <a:ln/>
        </p:spPr>
        <p:txBody>
          <a:bodyPr wrap="square" lIns="0" tIns="0" rIns="0" bIns="0" rtlCol="0" anchor="t"/>
          <a:lstStyle/>
          <a:p>
            <a:pPr indent="0" marL="0">
              <a:lnSpc>
                <a:spcPct val="125000"/>
              </a:lnSpc>
              <a:buNone/>
            </a:pPr>
            <a:r>
              <a:rPr lang="en-US" sz="1350" b="1" dirty="0">
                <a:solidFill>
                  <a:srgbClr val="111111"/>
                </a:solidFill>
                <a:latin typeface="IBM Plex Sans JP" pitchFamily="34" charset="0"/>
                <a:ea typeface="IBM Plex Sans JP" pitchFamily="34" charset="-122"/>
                <a:cs typeface="IBM Plex Sans JP" pitchFamily="34" charset="-120"/>
              </a:rPr>
              <a:t>媒体審査・配信開始</a:t>
            </a:r>
            <a:endParaRPr lang="en-US" sz="1350" dirty="0"/>
          </a:p>
        </p:txBody>
      </p:sp>
      <p:sp>
        <p:nvSpPr>
          <p:cNvPr id="25" name="Text 23"/>
          <p:cNvSpPr/>
          <p:nvPr/>
        </p:nvSpPr>
        <p:spPr>
          <a:xfrm>
            <a:off x="7326401" y="3383280"/>
            <a:ext cx="1965960" cy="228600"/>
          </a:xfrm>
          <a:prstGeom prst="rect">
            <a:avLst/>
          </a:prstGeom>
          <a:noFill/>
          <a:ln/>
        </p:spPr>
        <p:txBody>
          <a:bodyPr wrap="square" lIns="0" tIns="0" rIns="0" bIns="0" rtlCol="0" anchor="t"/>
          <a:lstStyle/>
          <a:p>
            <a:pPr indent="0" marL="0">
              <a:buNone/>
            </a:pPr>
            <a:r>
              <a:rPr lang="en-US" sz="1000" b="1" dirty="0">
                <a:solidFill>
                  <a:srgbClr val="D97F18"/>
                </a:solidFill>
                <a:latin typeface="IBM Plex Sans JP" pitchFamily="34" charset="0"/>
                <a:ea typeface="IBM Plex Sans JP" pitchFamily="34" charset="-122"/>
                <a:cs typeface="IBM Plex Sans JP" pitchFamily="34" charset="-120"/>
              </a:rPr>
              <a:t>1〜2週間</a:t>
            </a:r>
            <a:endParaRPr lang="en-US" sz="1000" dirty="0"/>
          </a:p>
        </p:txBody>
      </p:sp>
      <p:sp>
        <p:nvSpPr>
          <p:cNvPr id="26" name="Text 24"/>
          <p:cNvSpPr/>
          <p:nvPr/>
        </p:nvSpPr>
        <p:spPr>
          <a:xfrm>
            <a:off x="7326401" y="3703320"/>
            <a:ext cx="1965960" cy="1280160"/>
          </a:xfrm>
          <a:prstGeom prst="rect">
            <a:avLst/>
          </a:prstGeom>
          <a:noFill/>
          <a:ln/>
        </p:spPr>
        <p:txBody>
          <a:bodyPr wrap="square" lIns="0" tIns="0" rIns="0" bIns="0" rtlCol="0" anchor="t"/>
          <a:lstStyle/>
          <a:p>
            <a:pPr indent="0" marL="0">
              <a:lnSpc>
                <a:spcPct val="150000"/>
              </a:lnSpc>
              <a:buNone/>
            </a:pPr>
            <a:r>
              <a:rPr lang="en-US" sz="950" dirty="0">
                <a:solidFill>
                  <a:srgbClr val="6A6A6A"/>
                </a:solidFill>
                <a:latin typeface="IBM Plex Sans JP" pitchFamily="34" charset="0"/>
                <a:ea typeface="IBM Plex Sans JP" pitchFamily="34" charset="-122"/>
                <a:cs typeface="IBM Plex Sans JP" pitchFamily="34" charset="-120"/>
              </a:rPr>
              <a:t>TVerの素材審査を経て配信を開始します。</a:t>
            </a:r>
            <a:endParaRPr lang="en-US" sz="950" dirty="0"/>
          </a:p>
        </p:txBody>
      </p:sp>
      <p:sp>
        <p:nvSpPr>
          <p:cNvPr id="27" name="Shape 25"/>
          <p:cNvSpPr/>
          <p:nvPr/>
        </p:nvSpPr>
        <p:spPr>
          <a:xfrm>
            <a:off x="9466783" y="2212848"/>
            <a:ext cx="146304" cy="146304"/>
          </a:xfrm>
          <a:prstGeom prst="ellipse">
            <a:avLst/>
          </a:prstGeom>
          <a:solidFill>
            <a:srgbClr val="111111"/>
          </a:solidFill>
          <a:ln w="12700">
            <a:solidFill>
              <a:srgbClr val="FFFFFF"/>
            </a:solidFill>
            <a:prstDash val="solid"/>
          </a:ln>
        </p:spPr>
      </p:sp>
      <p:sp>
        <p:nvSpPr>
          <p:cNvPr id="28" name="Text 26"/>
          <p:cNvSpPr/>
          <p:nvPr/>
        </p:nvSpPr>
        <p:spPr>
          <a:xfrm>
            <a:off x="9539935" y="2542032"/>
            <a:ext cx="1965960" cy="201168"/>
          </a:xfrm>
          <a:prstGeom prst="rect">
            <a:avLst/>
          </a:prstGeom>
          <a:noFill/>
          <a:ln/>
        </p:spPr>
        <p:txBody>
          <a:bodyPr wrap="square" lIns="0" tIns="0" rIns="0" bIns="0" rtlCol="0" anchor="t"/>
          <a:lstStyle/>
          <a:p>
            <a:pPr indent="0" marL="0">
              <a:buNone/>
            </a:pPr>
            <a:r>
              <a:rPr lang="en-US" sz="850" spc="200" kern="0" dirty="0">
                <a:solidFill>
                  <a:srgbClr val="6A6A6A"/>
                </a:solidFill>
                <a:latin typeface="IBM Plex Sans JP" pitchFamily="34" charset="0"/>
                <a:ea typeface="IBM Plex Sans JP" pitchFamily="34" charset="-122"/>
                <a:cs typeface="IBM Plex Sans JP" pitchFamily="34" charset="-120"/>
              </a:rPr>
              <a:t>STEP 5</a:t>
            </a:r>
            <a:endParaRPr lang="en-US" sz="850" dirty="0"/>
          </a:p>
        </p:txBody>
      </p:sp>
      <p:sp>
        <p:nvSpPr>
          <p:cNvPr id="29" name="Text 27"/>
          <p:cNvSpPr/>
          <p:nvPr/>
        </p:nvSpPr>
        <p:spPr>
          <a:xfrm>
            <a:off x="9539935" y="2788920"/>
            <a:ext cx="1965960" cy="548640"/>
          </a:xfrm>
          <a:prstGeom prst="rect">
            <a:avLst/>
          </a:prstGeom>
          <a:noFill/>
          <a:ln/>
        </p:spPr>
        <p:txBody>
          <a:bodyPr wrap="square" lIns="0" tIns="0" rIns="0" bIns="0" rtlCol="0" anchor="t"/>
          <a:lstStyle/>
          <a:p>
            <a:pPr indent="0" marL="0">
              <a:lnSpc>
                <a:spcPct val="125000"/>
              </a:lnSpc>
              <a:buNone/>
            </a:pPr>
            <a:r>
              <a:rPr lang="en-US" sz="1350" b="1" dirty="0">
                <a:solidFill>
                  <a:srgbClr val="111111"/>
                </a:solidFill>
                <a:latin typeface="IBM Plex Sans JP" pitchFamily="34" charset="0"/>
                <a:ea typeface="IBM Plex Sans JP" pitchFamily="34" charset="-122"/>
                <a:cs typeface="IBM Plex Sans JP" pitchFamily="34" charset="-120"/>
              </a:rPr>
              <a:t>レポート</a:t>
            </a:r>
            <a:endParaRPr lang="en-US" sz="1350" dirty="0"/>
          </a:p>
        </p:txBody>
      </p:sp>
      <p:sp>
        <p:nvSpPr>
          <p:cNvPr id="30" name="Text 28"/>
          <p:cNvSpPr/>
          <p:nvPr/>
        </p:nvSpPr>
        <p:spPr>
          <a:xfrm>
            <a:off x="9539935" y="3383280"/>
            <a:ext cx="1965960" cy="228600"/>
          </a:xfrm>
          <a:prstGeom prst="rect">
            <a:avLst/>
          </a:prstGeom>
          <a:noFill/>
          <a:ln/>
        </p:spPr>
        <p:txBody>
          <a:bodyPr wrap="square" lIns="0" tIns="0" rIns="0" bIns="0" rtlCol="0" anchor="t"/>
          <a:lstStyle/>
          <a:p>
            <a:pPr indent="0" marL="0">
              <a:buNone/>
            </a:pPr>
            <a:r>
              <a:rPr lang="en-US" sz="1000" b="1" dirty="0">
                <a:solidFill>
                  <a:srgbClr val="D97F18"/>
                </a:solidFill>
                <a:latin typeface="IBM Plex Sans JP" pitchFamily="34" charset="0"/>
                <a:ea typeface="IBM Plex Sans JP" pitchFamily="34" charset="-122"/>
                <a:cs typeface="IBM Plex Sans JP" pitchFamily="34" charset="-120"/>
              </a:rPr>
              <a:t>毎月</a:t>
            </a:r>
            <a:endParaRPr lang="en-US" sz="1000" dirty="0"/>
          </a:p>
        </p:txBody>
      </p:sp>
      <p:sp>
        <p:nvSpPr>
          <p:cNvPr id="31" name="Text 29"/>
          <p:cNvSpPr/>
          <p:nvPr/>
        </p:nvSpPr>
        <p:spPr>
          <a:xfrm>
            <a:off x="9539935" y="3703320"/>
            <a:ext cx="1965960" cy="1280160"/>
          </a:xfrm>
          <a:prstGeom prst="rect">
            <a:avLst/>
          </a:prstGeom>
          <a:noFill/>
          <a:ln/>
        </p:spPr>
        <p:txBody>
          <a:bodyPr wrap="square" lIns="0" tIns="0" rIns="0" bIns="0" rtlCol="0" anchor="t"/>
          <a:lstStyle/>
          <a:p>
            <a:pPr indent="0" marL="0">
              <a:lnSpc>
                <a:spcPct val="150000"/>
              </a:lnSpc>
              <a:buNone/>
            </a:pPr>
            <a:r>
              <a:rPr lang="en-US" sz="950" dirty="0">
                <a:solidFill>
                  <a:srgbClr val="6A6A6A"/>
                </a:solidFill>
                <a:latin typeface="IBM Plex Sans JP" pitchFamily="34" charset="0"/>
                <a:ea typeface="IBM Plex Sans JP" pitchFamily="34" charset="-122"/>
                <a:cs typeface="IBM Plex Sans JP" pitchFamily="34" charset="-120"/>
              </a:rPr>
              <a:t>実績値をご報告し、次月の配信設計に反映します。</a:t>
            </a:r>
            <a:endParaRPr lang="en-US" sz="950" dirty="0"/>
          </a:p>
        </p:txBody>
      </p:sp>
      <p:pic>
        <p:nvPicPr>
          <p:cNvPr id="32" name="Image 0" descr="/private/tmp/claude-501/-Users-hirokishirakawa/61df7724-8533-4661-9a58-fa513da8dcb2/scratchpad/deck/assets/logo-black.png">    </p:cNvPr>
          <p:cNvPicPr>
            <a:picLocks noChangeAspect="1"/>
          </p:cNvPicPr>
          <p:nvPr/>
        </p:nvPicPr>
        <p:blipFill>
          <a:blip r:embed="rId1"/>
          <a:stretch>
            <a:fillRect/>
          </a:stretch>
        </p:blipFill>
        <p:spPr>
          <a:xfrm>
            <a:off x="685800" y="6291072"/>
            <a:ext cx="868680" cy="128484"/>
          </a:xfrm>
          <a:prstGeom prst="rect">
            <a:avLst/>
          </a:prstGeom>
        </p:spPr>
      </p:pic>
      <p:sp>
        <p:nvSpPr>
          <p:cNvPr id="33" name="Text 30"/>
          <p:cNvSpPr/>
          <p:nvPr/>
        </p:nvSpPr>
        <p:spPr>
          <a:xfrm>
            <a:off x="1828800" y="6291072"/>
            <a:ext cx="5486400" cy="182880"/>
          </a:xfrm>
          <a:prstGeom prst="rect">
            <a:avLst/>
          </a:prstGeom>
          <a:noFill/>
          <a:ln/>
        </p:spPr>
        <p:txBody>
          <a:bodyPr wrap="square" lIns="0" tIns="0" rIns="0" bIns="0" rtlCol="0" anchor="t"/>
          <a:lstStyle/>
          <a:p>
            <a:pPr indent="0" marL="0">
              <a:buNone/>
            </a:pPr>
            <a:r>
              <a:rPr lang="en-US" sz="800" spc="100" kern="0" dirty="0">
                <a:solidFill>
                  <a:srgbClr val="6A6A6A"/>
                </a:solidFill>
                <a:latin typeface="IBM Plex Sans JP" pitchFamily="34" charset="0"/>
                <a:ea typeface="IBM Plex Sans JP" pitchFamily="34" charset="-122"/>
                <a:cs typeface="IBM Plex Sans JP" pitchFamily="34" charset="-120"/>
              </a:rPr>
              <a:t>Ad Arch Co., Ltd.　／　TVer Advertising Division</a:t>
            </a:r>
            <a:endParaRPr lang="en-US" sz="800" dirty="0"/>
          </a:p>
        </p:txBody>
      </p:sp>
      <p:sp>
        <p:nvSpPr>
          <p:cNvPr id="34" name="Text 31"/>
          <p:cNvSpPr/>
          <p:nvPr/>
        </p:nvSpPr>
        <p:spPr>
          <a:xfrm>
            <a:off x="7848295" y="6291072"/>
            <a:ext cx="3657600" cy="182880"/>
          </a:xfrm>
          <a:prstGeom prst="rect">
            <a:avLst/>
          </a:prstGeom>
          <a:noFill/>
          <a:ln/>
        </p:spPr>
        <p:txBody>
          <a:bodyPr wrap="square" lIns="0" tIns="0" rIns="0" bIns="0" rtlCol="0" anchor="t"/>
          <a:lstStyle/>
          <a:p>
            <a:pPr algn="r" indent="0" marL="0">
              <a:buNone/>
            </a:pPr>
            <a:r>
              <a:rPr lang="en-US" sz="800" spc="150" kern="0" dirty="0">
                <a:solidFill>
                  <a:srgbClr val="6A6A6A"/>
                </a:solidFill>
                <a:latin typeface="IBM Plex Sans JP" pitchFamily="34" charset="0"/>
                <a:ea typeface="IBM Plex Sans JP" pitchFamily="34" charset="-122"/>
                <a:cs typeface="IBM Plex Sans JP" pitchFamily="34" charset="-120"/>
              </a:rPr>
              <a:t>16 / 19　　CONFIDENTIAL</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5508"/>
            <a:ext cx="384048" cy="27432"/>
          </a:xfrm>
          <a:prstGeom prst="rect">
            <a:avLst/>
          </a:prstGeom>
          <a:solidFill>
            <a:srgbClr val="F19834"/>
          </a:solidFill>
          <a:ln w="12700">
            <a:solidFill>
              <a:srgbClr val="F19834"/>
            </a:solidFill>
            <a:prstDash val="solid"/>
          </a:ln>
        </p:spPr>
      </p:sp>
      <p:sp>
        <p:nvSpPr>
          <p:cNvPr id="3" name="Text 1"/>
          <p:cNvSpPr/>
          <p:nvPr/>
        </p:nvSpPr>
        <p:spPr>
          <a:xfrm>
            <a:off x="1188720" y="566928"/>
            <a:ext cx="6400800" cy="201168"/>
          </a:xfrm>
          <a:prstGeom prst="rect">
            <a:avLst/>
          </a:prstGeom>
          <a:noFill/>
          <a:ln/>
        </p:spPr>
        <p:txBody>
          <a:bodyPr wrap="square" lIns="0" tIns="0" rIns="0" bIns="0" rtlCol="0" anchor="t"/>
          <a:lstStyle/>
          <a:p>
            <a:pPr indent="0" marL="0">
              <a:buNone/>
            </a:pPr>
            <a:r>
              <a:rPr lang="en-US" sz="900" spc="300" kern="0" dirty="0">
                <a:solidFill>
                  <a:srgbClr val="6A6A6A"/>
                </a:solidFill>
                <a:latin typeface="IBM Plex Sans JP" pitchFamily="34" charset="0"/>
                <a:ea typeface="IBM Plex Sans JP" pitchFamily="34" charset="-122"/>
                <a:cs typeface="IBM Plex Sans JP" pitchFamily="34" charset="-120"/>
              </a:rPr>
              <a:t>APPENDIX</a:t>
            </a:r>
            <a:endParaRPr lang="en-US" sz="900" dirty="0"/>
          </a:p>
        </p:txBody>
      </p:sp>
      <p:sp>
        <p:nvSpPr>
          <p:cNvPr id="4" name="Text 2"/>
          <p:cNvSpPr/>
          <p:nvPr/>
        </p:nvSpPr>
        <p:spPr>
          <a:xfrm>
            <a:off x="685800" y="896112"/>
            <a:ext cx="10820095" cy="822960"/>
          </a:xfrm>
          <a:prstGeom prst="rect">
            <a:avLst/>
          </a:prstGeom>
          <a:noFill/>
          <a:ln/>
        </p:spPr>
        <p:txBody>
          <a:bodyPr wrap="square" lIns="0" tIns="0" rIns="0" bIns="0" rtlCol="0" anchor="t"/>
          <a:lstStyle/>
          <a:p>
            <a:pPr indent="0" marL="0">
              <a:lnSpc>
                <a:spcPct val="125000"/>
              </a:lnSpc>
              <a:buNone/>
            </a:pPr>
            <a:r>
              <a:rPr lang="en-US" sz="2600" b="1" dirty="0">
                <a:solidFill>
                  <a:srgbClr val="111111"/>
                </a:solidFill>
                <a:latin typeface="IBM Plex Sans JP" pitchFamily="34" charset="0"/>
                <a:ea typeface="IBM Plex Sans JP" pitchFamily="34" charset="-122"/>
                <a:cs typeface="IBM Plex Sans JP" pitchFamily="34" charset="-120"/>
              </a:rPr>
              <a:t>ご留意事項</a:t>
            </a:r>
            <a:endParaRPr lang="en-US" sz="2600" dirty="0"/>
          </a:p>
        </p:txBody>
      </p:sp>
      <p:sp>
        <p:nvSpPr>
          <p:cNvPr id="5" name="Shape 3"/>
          <p:cNvSpPr/>
          <p:nvPr/>
        </p:nvSpPr>
        <p:spPr>
          <a:xfrm>
            <a:off x="685800" y="1874520"/>
            <a:ext cx="10820095" cy="0"/>
          </a:xfrm>
          <a:prstGeom prst="line">
            <a:avLst/>
          </a:prstGeom>
          <a:noFill/>
          <a:ln w="6350">
            <a:solidFill>
              <a:srgbClr val="E6E4E0"/>
            </a:solidFill>
            <a:prstDash val="solid"/>
          </a:ln>
        </p:spPr>
      </p:sp>
      <p:sp>
        <p:nvSpPr>
          <p:cNvPr id="6" name="Text 4"/>
          <p:cNvSpPr/>
          <p:nvPr/>
        </p:nvSpPr>
        <p:spPr>
          <a:xfrm>
            <a:off x="685800" y="1984248"/>
            <a:ext cx="2377440" cy="274320"/>
          </a:xfrm>
          <a:prstGeom prst="rect">
            <a:avLst/>
          </a:prstGeom>
          <a:noFill/>
          <a:ln/>
        </p:spPr>
        <p:txBody>
          <a:bodyPr wrap="square" lIns="0" tIns="0" rIns="0" bIns="0" rtlCol="0" anchor="t"/>
          <a:lstStyle/>
          <a:p>
            <a:pPr indent="0" marL="0">
              <a:buNone/>
            </a:pPr>
            <a:r>
              <a:rPr lang="en-US" sz="1100" b="1" dirty="0">
                <a:solidFill>
                  <a:srgbClr val="111111"/>
                </a:solidFill>
                <a:latin typeface="IBM Plex Sans JP" pitchFamily="34" charset="0"/>
                <a:ea typeface="IBM Plex Sans JP" pitchFamily="34" charset="-122"/>
                <a:cs typeface="IBM Plex Sans JP" pitchFamily="34" charset="-120"/>
              </a:rPr>
              <a:t>推計値の扱い</a:t>
            </a:r>
            <a:endParaRPr lang="en-US" sz="1100" dirty="0"/>
          </a:p>
        </p:txBody>
      </p:sp>
      <p:sp>
        <p:nvSpPr>
          <p:cNvPr id="7" name="Text 5"/>
          <p:cNvSpPr/>
          <p:nvPr/>
        </p:nvSpPr>
        <p:spPr>
          <a:xfrm>
            <a:off x="3337560" y="1984248"/>
            <a:ext cx="8168335" cy="640080"/>
          </a:xfrm>
          <a:prstGeom prst="rect">
            <a:avLst/>
          </a:prstGeom>
          <a:noFill/>
          <a:ln/>
        </p:spPr>
        <p:txBody>
          <a:bodyPr wrap="square" lIns="0" tIns="0" rIns="0" bIns="0" rtlCol="0" anchor="t"/>
          <a:lstStyle/>
          <a:p>
            <a:pPr indent="0" marL="0">
              <a:lnSpc>
                <a:spcPct val="145000"/>
              </a:lnSpc>
              <a:buNone/>
            </a:pPr>
            <a:r>
              <a:rPr lang="en-US" sz="950" dirty="0">
                <a:solidFill>
                  <a:srgbClr val="6A6A6A"/>
                </a:solidFill>
                <a:latin typeface="IBM Plex Sans JP" pitchFamily="34" charset="0"/>
                <a:ea typeface="IBM Plex Sans JP" pitchFamily="34" charset="-122"/>
                <a:cs typeface="IBM Plex Sans JP" pitchFamily="34" charset="-120"/>
              </a:rPr>
              <a:t>本資料の視聴者数・到達人数・カバー率はすべて推計であり、成果を保証するものではありません。実際の配信結果は、時期・業種・クリエイティブ・在庫状況により変動します。</a:t>
            </a:r>
            <a:endParaRPr lang="en-US" sz="950" dirty="0"/>
          </a:p>
        </p:txBody>
      </p:sp>
      <p:sp>
        <p:nvSpPr>
          <p:cNvPr id="8" name="Shape 6"/>
          <p:cNvSpPr/>
          <p:nvPr/>
        </p:nvSpPr>
        <p:spPr>
          <a:xfrm>
            <a:off x="685800" y="2660904"/>
            <a:ext cx="10820095" cy="0"/>
          </a:xfrm>
          <a:prstGeom prst="line">
            <a:avLst/>
          </a:prstGeom>
          <a:noFill/>
          <a:ln w="6350">
            <a:solidFill>
              <a:srgbClr val="E6E4E0"/>
            </a:solidFill>
            <a:prstDash val="solid"/>
          </a:ln>
        </p:spPr>
      </p:sp>
      <p:sp>
        <p:nvSpPr>
          <p:cNvPr id="9" name="Text 7"/>
          <p:cNvSpPr/>
          <p:nvPr/>
        </p:nvSpPr>
        <p:spPr>
          <a:xfrm>
            <a:off x="685800" y="2770632"/>
            <a:ext cx="2377440" cy="274320"/>
          </a:xfrm>
          <a:prstGeom prst="rect">
            <a:avLst/>
          </a:prstGeom>
          <a:noFill/>
          <a:ln/>
        </p:spPr>
        <p:txBody>
          <a:bodyPr wrap="square" lIns="0" tIns="0" rIns="0" bIns="0" rtlCol="0" anchor="t"/>
          <a:lstStyle/>
          <a:p>
            <a:pPr indent="0" marL="0">
              <a:buNone/>
            </a:pPr>
            <a:r>
              <a:rPr lang="en-US" sz="1100" b="1" dirty="0">
                <a:solidFill>
                  <a:srgbClr val="111111"/>
                </a:solidFill>
                <a:latin typeface="IBM Plex Sans JP" pitchFamily="34" charset="0"/>
                <a:ea typeface="IBM Plex Sans JP" pitchFamily="34" charset="-122"/>
                <a:cs typeface="IBM Plex Sans JP" pitchFamily="34" charset="-120"/>
              </a:rPr>
              <a:t>推計の根拠</a:t>
            </a:r>
            <a:endParaRPr lang="en-US" sz="1100" dirty="0"/>
          </a:p>
        </p:txBody>
      </p:sp>
      <p:sp>
        <p:nvSpPr>
          <p:cNvPr id="10" name="Text 8"/>
          <p:cNvSpPr/>
          <p:nvPr/>
        </p:nvSpPr>
        <p:spPr>
          <a:xfrm>
            <a:off x="3337560" y="2770632"/>
            <a:ext cx="8168335" cy="640080"/>
          </a:xfrm>
          <a:prstGeom prst="rect">
            <a:avLst/>
          </a:prstGeom>
          <a:noFill/>
          <a:ln/>
        </p:spPr>
        <p:txBody>
          <a:bodyPr wrap="square" lIns="0" tIns="0" rIns="0" bIns="0" rtlCol="0" anchor="t"/>
          <a:lstStyle/>
          <a:p>
            <a:pPr indent="0" marL="0">
              <a:lnSpc>
                <a:spcPct val="145000"/>
              </a:lnSpc>
              <a:buNone/>
            </a:pPr>
            <a:r>
              <a:rPr lang="en-US" sz="950" dirty="0">
                <a:solidFill>
                  <a:srgbClr val="6A6A6A"/>
                </a:solidFill>
                <a:latin typeface="IBM Plex Sans JP" pitchFamily="34" charset="0"/>
                <a:ea typeface="IBM Plex Sans JP" pitchFamily="34" charset="-122"/>
                <a:cs typeface="IBM Plex Sans JP" pitchFamily="34" charset="-120"/>
              </a:rPr>
              <a:t>県内TVer視聴者数 ＝ 全国月間ユーザー数4,470万（TVer INC. 2026年1月）× 当該県の15〜64歳人口比（総務省統計局 人口推計 2024年10月1日現在）。市内視聴者数は、県内視聴者数を市の人口シェア（総務省 住民基本台帳人口 2025年1月1日現在）で按分しています。</a:t>
            </a:r>
            <a:endParaRPr lang="en-US" sz="950" dirty="0"/>
          </a:p>
        </p:txBody>
      </p:sp>
      <p:sp>
        <p:nvSpPr>
          <p:cNvPr id="11" name="Shape 9"/>
          <p:cNvSpPr/>
          <p:nvPr/>
        </p:nvSpPr>
        <p:spPr>
          <a:xfrm>
            <a:off x="685800" y="3447288"/>
            <a:ext cx="10820095" cy="0"/>
          </a:xfrm>
          <a:prstGeom prst="line">
            <a:avLst/>
          </a:prstGeom>
          <a:noFill/>
          <a:ln w="6350">
            <a:solidFill>
              <a:srgbClr val="E6E4E0"/>
            </a:solidFill>
            <a:prstDash val="solid"/>
          </a:ln>
        </p:spPr>
      </p:sp>
      <p:sp>
        <p:nvSpPr>
          <p:cNvPr id="12" name="Text 10"/>
          <p:cNvSpPr/>
          <p:nvPr/>
        </p:nvSpPr>
        <p:spPr>
          <a:xfrm>
            <a:off x="685800" y="3557016"/>
            <a:ext cx="2377440" cy="274320"/>
          </a:xfrm>
          <a:prstGeom prst="rect">
            <a:avLst/>
          </a:prstGeom>
          <a:noFill/>
          <a:ln/>
        </p:spPr>
        <p:txBody>
          <a:bodyPr wrap="square" lIns="0" tIns="0" rIns="0" bIns="0" rtlCol="0" anchor="t"/>
          <a:lstStyle/>
          <a:p>
            <a:pPr indent="0" marL="0">
              <a:buNone/>
            </a:pPr>
            <a:r>
              <a:rPr lang="en-US" sz="1100" b="1" dirty="0">
                <a:solidFill>
                  <a:srgbClr val="111111"/>
                </a:solidFill>
                <a:latin typeface="IBM Plex Sans JP" pitchFamily="34" charset="0"/>
                <a:ea typeface="IBM Plex Sans JP" pitchFamily="34" charset="-122"/>
                <a:cs typeface="IBM Plex Sans JP" pitchFamily="34" charset="-120"/>
              </a:rPr>
              <a:t>推計の検証</a:t>
            </a:r>
            <a:endParaRPr lang="en-US" sz="1100" dirty="0"/>
          </a:p>
        </p:txBody>
      </p:sp>
      <p:sp>
        <p:nvSpPr>
          <p:cNvPr id="13" name="Text 11"/>
          <p:cNvSpPr/>
          <p:nvPr/>
        </p:nvSpPr>
        <p:spPr>
          <a:xfrm>
            <a:off x="3337560" y="3557016"/>
            <a:ext cx="8168335" cy="640080"/>
          </a:xfrm>
          <a:prstGeom prst="rect">
            <a:avLst/>
          </a:prstGeom>
          <a:noFill/>
          <a:ln/>
        </p:spPr>
        <p:txBody>
          <a:bodyPr wrap="square" lIns="0" tIns="0" rIns="0" bIns="0" rtlCol="0" anchor="t"/>
          <a:lstStyle/>
          <a:p>
            <a:pPr indent="0" marL="0">
              <a:lnSpc>
                <a:spcPct val="145000"/>
              </a:lnSpc>
              <a:buNone/>
            </a:pPr>
            <a:r>
              <a:rPr lang="en-US" sz="950" dirty="0">
                <a:solidFill>
                  <a:srgbClr val="6A6A6A"/>
                </a:solidFill>
                <a:latin typeface="IBM Plex Sans JP" pitchFamily="34" charset="0"/>
                <a:ea typeface="IBM Plex Sans JP" pitchFamily="34" charset="-122"/>
                <a:cs typeface="IBM Plex Sans JP" pitchFamily="34" charset="-120"/>
              </a:rPr>
              <a:t>都道府県別のTVer利用構成比の公開データと本推計を突き合わせたところ、主要15都府県で誤差は0.89〜1.11倍の範囲に収まりました。</a:t>
            </a:r>
            <a:endParaRPr lang="en-US" sz="950" dirty="0"/>
          </a:p>
        </p:txBody>
      </p:sp>
      <p:sp>
        <p:nvSpPr>
          <p:cNvPr id="14" name="Shape 12"/>
          <p:cNvSpPr/>
          <p:nvPr/>
        </p:nvSpPr>
        <p:spPr>
          <a:xfrm>
            <a:off x="685800" y="4233672"/>
            <a:ext cx="10820095" cy="0"/>
          </a:xfrm>
          <a:prstGeom prst="line">
            <a:avLst/>
          </a:prstGeom>
          <a:noFill/>
          <a:ln w="6350">
            <a:solidFill>
              <a:srgbClr val="E6E4E0"/>
            </a:solidFill>
            <a:prstDash val="solid"/>
          </a:ln>
        </p:spPr>
      </p:sp>
      <p:sp>
        <p:nvSpPr>
          <p:cNvPr id="15" name="Text 13"/>
          <p:cNvSpPr/>
          <p:nvPr/>
        </p:nvSpPr>
        <p:spPr>
          <a:xfrm>
            <a:off x="685800" y="4343400"/>
            <a:ext cx="2377440" cy="274320"/>
          </a:xfrm>
          <a:prstGeom prst="rect">
            <a:avLst/>
          </a:prstGeom>
          <a:noFill/>
          <a:ln/>
        </p:spPr>
        <p:txBody>
          <a:bodyPr wrap="square" lIns="0" tIns="0" rIns="0" bIns="0" rtlCol="0" anchor="t"/>
          <a:lstStyle/>
          <a:p>
            <a:pPr indent="0" marL="0">
              <a:buNone/>
            </a:pPr>
            <a:r>
              <a:rPr lang="en-US" sz="1100" b="1" dirty="0">
                <a:solidFill>
                  <a:srgbClr val="111111"/>
                </a:solidFill>
                <a:latin typeface="IBM Plex Sans JP" pitchFamily="34" charset="0"/>
                <a:ea typeface="IBM Plex Sans JP" pitchFamily="34" charset="-122"/>
                <a:cs typeface="IBM Plex Sans JP" pitchFamily="34" charset="-120"/>
              </a:rPr>
              <a:t>単価と到達人数</a:t>
            </a:r>
            <a:endParaRPr lang="en-US" sz="1100" dirty="0"/>
          </a:p>
        </p:txBody>
      </p:sp>
      <p:sp>
        <p:nvSpPr>
          <p:cNvPr id="16" name="Text 14"/>
          <p:cNvSpPr/>
          <p:nvPr/>
        </p:nvSpPr>
        <p:spPr>
          <a:xfrm>
            <a:off x="3337560" y="4343400"/>
            <a:ext cx="8168335" cy="640080"/>
          </a:xfrm>
          <a:prstGeom prst="rect">
            <a:avLst/>
          </a:prstGeom>
          <a:noFill/>
          <a:ln/>
        </p:spPr>
        <p:txBody>
          <a:bodyPr wrap="square" lIns="0" tIns="0" rIns="0" bIns="0" rtlCol="0" anchor="t"/>
          <a:lstStyle/>
          <a:p>
            <a:pPr indent="0" marL="0">
              <a:lnSpc>
                <a:spcPct val="145000"/>
              </a:lnSpc>
              <a:buNone/>
            </a:pPr>
            <a:r>
              <a:rPr lang="en-US" sz="950" dirty="0">
                <a:solidFill>
                  <a:srgbClr val="6A6A6A"/>
                </a:solidFill>
                <a:latin typeface="IBM Plex Sans JP" pitchFamily="34" charset="0"/>
                <a:ea typeface="IBM Plex Sans JP" pitchFamily="34" charset="-122"/>
                <a:cs typeface="IBM Plex Sans JP" pitchFamily="34" charset="-120"/>
              </a:rPr>
              <a:t>金額は15秒CM 1再生あたり¥6.6（CPM ¥6,600）を基準としています。30秒CMは¥7.8、60秒CMは¥11.1。到達人数は当社の実配信におけるリーチ実績とフリークエンシーから算出しています。</a:t>
            </a:r>
            <a:endParaRPr lang="en-US" sz="950" dirty="0"/>
          </a:p>
        </p:txBody>
      </p:sp>
      <p:sp>
        <p:nvSpPr>
          <p:cNvPr id="17" name="Shape 15"/>
          <p:cNvSpPr/>
          <p:nvPr/>
        </p:nvSpPr>
        <p:spPr>
          <a:xfrm>
            <a:off x="685800" y="5020056"/>
            <a:ext cx="10820095" cy="0"/>
          </a:xfrm>
          <a:prstGeom prst="line">
            <a:avLst/>
          </a:prstGeom>
          <a:noFill/>
          <a:ln w="6350">
            <a:solidFill>
              <a:srgbClr val="E6E4E0"/>
            </a:solidFill>
            <a:prstDash val="solid"/>
          </a:ln>
        </p:spPr>
      </p:sp>
      <p:sp>
        <p:nvSpPr>
          <p:cNvPr id="18" name="Text 16"/>
          <p:cNvSpPr/>
          <p:nvPr/>
        </p:nvSpPr>
        <p:spPr>
          <a:xfrm>
            <a:off x="685800" y="5129784"/>
            <a:ext cx="2377440" cy="274320"/>
          </a:xfrm>
          <a:prstGeom prst="rect">
            <a:avLst/>
          </a:prstGeom>
          <a:noFill/>
          <a:ln/>
        </p:spPr>
        <p:txBody>
          <a:bodyPr wrap="square" lIns="0" tIns="0" rIns="0" bIns="0" rtlCol="0" anchor="t"/>
          <a:lstStyle/>
          <a:p>
            <a:pPr indent="0" marL="0">
              <a:buNone/>
            </a:pPr>
            <a:r>
              <a:rPr lang="en-US" sz="1100" b="1" dirty="0">
                <a:solidFill>
                  <a:srgbClr val="111111"/>
                </a:solidFill>
                <a:latin typeface="IBM Plex Sans JP" pitchFamily="34" charset="0"/>
                <a:ea typeface="IBM Plex Sans JP" pitchFamily="34" charset="-122"/>
                <a:cs typeface="IBM Plex Sans JP" pitchFamily="34" charset="-120"/>
              </a:rPr>
              <a:t>金額・出稿の可否</a:t>
            </a:r>
            <a:endParaRPr lang="en-US" sz="1100" dirty="0"/>
          </a:p>
        </p:txBody>
      </p:sp>
      <p:sp>
        <p:nvSpPr>
          <p:cNvPr id="19" name="Text 17"/>
          <p:cNvSpPr/>
          <p:nvPr/>
        </p:nvSpPr>
        <p:spPr>
          <a:xfrm>
            <a:off x="3337560" y="5129784"/>
            <a:ext cx="8168335" cy="640080"/>
          </a:xfrm>
          <a:prstGeom prst="rect">
            <a:avLst/>
          </a:prstGeom>
          <a:noFill/>
          <a:ln/>
        </p:spPr>
        <p:txBody>
          <a:bodyPr wrap="square" lIns="0" tIns="0" rIns="0" bIns="0" rtlCol="0" anchor="t"/>
          <a:lstStyle/>
          <a:p>
            <a:pPr indent="0" marL="0">
              <a:lnSpc>
                <a:spcPct val="145000"/>
              </a:lnSpc>
              <a:buNone/>
            </a:pPr>
            <a:r>
              <a:rPr lang="en-US" sz="950" dirty="0">
                <a:solidFill>
                  <a:srgbClr val="6A6A6A"/>
                </a:solidFill>
                <a:latin typeface="IBM Plex Sans JP" pitchFamily="34" charset="0"/>
                <a:ea typeface="IBM Plex Sans JP" pitchFamily="34" charset="-122"/>
                <a:cs typeface="IBM Plex Sans JP" pitchFamily="34" charset="-120"/>
              </a:rPr>
              <a:t>記載の金額はすべて税別です。配信設計の確定後に正式なお見積をご提示します。業種・表現内容によっては媒体側の審査により出稿いただけない場合があります。事前にご確認いたします。</a:t>
            </a:r>
            <a:endParaRPr lang="en-US" sz="950" dirty="0"/>
          </a:p>
        </p:txBody>
      </p:sp>
      <p:sp>
        <p:nvSpPr>
          <p:cNvPr id="20" name="Shape 18"/>
          <p:cNvSpPr/>
          <p:nvPr/>
        </p:nvSpPr>
        <p:spPr>
          <a:xfrm>
            <a:off x="685800" y="5806440"/>
            <a:ext cx="10820095" cy="0"/>
          </a:xfrm>
          <a:prstGeom prst="line">
            <a:avLst/>
          </a:prstGeom>
          <a:noFill/>
          <a:ln w="6350">
            <a:solidFill>
              <a:srgbClr val="E6E4E0"/>
            </a:solidFill>
            <a:prstDash val="solid"/>
          </a:ln>
        </p:spPr>
      </p:sp>
      <p:pic>
        <p:nvPicPr>
          <p:cNvPr id="21" name="Image 0" descr="/private/tmp/claude-501/-Users-hirokishirakawa/61df7724-8533-4661-9a58-fa513da8dcb2/scratchpad/deck/assets/logo-black.png">    </p:cNvPr>
          <p:cNvPicPr>
            <a:picLocks noChangeAspect="1"/>
          </p:cNvPicPr>
          <p:nvPr/>
        </p:nvPicPr>
        <p:blipFill>
          <a:blip r:embed="rId1"/>
          <a:stretch>
            <a:fillRect/>
          </a:stretch>
        </p:blipFill>
        <p:spPr>
          <a:xfrm>
            <a:off x="685800" y="6291072"/>
            <a:ext cx="868680" cy="128484"/>
          </a:xfrm>
          <a:prstGeom prst="rect">
            <a:avLst/>
          </a:prstGeom>
        </p:spPr>
      </p:pic>
      <p:sp>
        <p:nvSpPr>
          <p:cNvPr id="22" name="Text 19"/>
          <p:cNvSpPr/>
          <p:nvPr/>
        </p:nvSpPr>
        <p:spPr>
          <a:xfrm>
            <a:off x="1828800" y="6291072"/>
            <a:ext cx="5486400" cy="182880"/>
          </a:xfrm>
          <a:prstGeom prst="rect">
            <a:avLst/>
          </a:prstGeom>
          <a:noFill/>
          <a:ln/>
        </p:spPr>
        <p:txBody>
          <a:bodyPr wrap="square" lIns="0" tIns="0" rIns="0" bIns="0" rtlCol="0" anchor="t"/>
          <a:lstStyle/>
          <a:p>
            <a:pPr indent="0" marL="0">
              <a:buNone/>
            </a:pPr>
            <a:r>
              <a:rPr lang="en-US" sz="800" spc="100" kern="0" dirty="0">
                <a:solidFill>
                  <a:srgbClr val="6A6A6A"/>
                </a:solidFill>
                <a:latin typeface="IBM Plex Sans JP" pitchFamily="34" charset="0"/>
                <a:ea typeface="IBM Plex Sans JP" pitchFamily="34" charset="-122"/>
                <a:cs typeface="IBM Plex Sans JP" pitchFamily="34" charset="-120"/>
              </a:rPr>
              <a:t>Ad Arch Co., Ltd.　／　TVer Advertising Division</a:t>
            </a:r>
            <a:endParaRPr lang="en-US" sz="800" dirty="0"/>
          </a:p>
        </p:txBody>
      </p:sp>
      <p:sp>
        <p:nvSpPr>
          <p:cNvPr id="23" name="Text 20"/>
          <p:cNvSpPr/>
          <p:nvPr/>
        </p:nvSpPr>
        <p:spPr>
          <a:xfrm>
            <a:off x="7848295" y="6291072"/>
            <a:ext cx="3657600" cy="182880"/>
          </a:xfrm>
          <a:prstGeom prst="rect">
            <a:avLst/>
          </a:prstGeom>
          <a:noFill/>
          <a:ln/>
        </p:spPr>
        <p:txBody>
          <a:bodyPr wrap="square" lIns="0" tIns="0" rIns="0" bIns="0" rtlCol="0" anchor="t"/>
          <a:lstStyle/>
          <a:p>
            <a:pPr algn="r" indent="0" marL="0">
              <a:buNone/>
            </a:pPr>
            <a:r>
              <a:rPr lang="en-US" sz="800" spc="150" kern="0" dirty="0">
                <a:solidFill>
                  <a:srgbClr val="6A6A6A"/>
                </a:solidFill>
                <a:latin typeface="IBM Plex Sans JP" pitchFamily="34" charset="0"/>
                <a:ea typeface="IBM Plex Sans JP" pitchFamily="34" charset="-122"/>
                <a:cs typeface="IBM Plex Sans JP" pitchFamily="34" charset="-120"/>
              </a:rPr>
              <a:t>17 / 19　　CONFIDENTIAL</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635508"/>
            <a:ext cx="384048" cy="27432"/>
          </a:xfrm>
          <a:prstGeom prst="rect">
            <a:avLst/>
          </a:prstGeom>
          <a:solidFill>
            <a:srgbClr val="F19834"/>
          </a:solidFill>
          <a:ln w="12700">
            <a:solidFill>
              <a:srgbClr val="F19834"/>
            </a:solidFill>
            <a:prstDash val="solid"/>
          </a:ln>
        </p:spPr>
      </p:sp>
      <p:sp>
        <p:nvSpPr>
          <p:cNvPr id="3" name="Text 1"/>
          <p:cNvSpPr/>
          <p:nvPr/>
        </p:nvSpPr>
        <p:spPr>
          <a:xfrm>
            <a:off x="1188720" y="566928"/>
            <a:ext cx="6400800" cy="201168"/>
          </a:xfrm>
          <a:prstGeom prst="rect">
            <a:avLst/>
          </a:prstGeom>
          <a:noFill/>
          <a:ln/>
        </p:spPr>
        <p:txBody>
          <a:bodyPr wrap="square" lIns="0" tIns="0" rIns="0" bIns="0" rtlCol="0" anchor="t"/>
          <a:lstStyle/>
          <a:p>
            <a:pPr indent="0" marL="0">
              <a:buNone/>
            </a:pPr>
            <a:r>
              <a:rPr lang="en-US" sz="900" spc="300" kern="0" dirty="0">
                <a:solidFill>
                  <a:srgbClr val="6A6A6A"/>
                </a:solidFill>
                <a:latin typeface="IBM Plex Sans JP" pitchFamily="34" charset="0"/>
                <a:ea typeface="IBM Plex Sans JP" pitchFamily="34" charset="-122"/>
                <a:cs typeface="IBM Plex Sans JP" pitchFamily="34" charset="-120"/>
              </a:rPr>
              <a:t>SUMMARY</a:t>
            </a:r>
            <a:endParaRPr lang="en-US" sz="900" dirty="0"/>
          </a:p>
        </p:txBody>
      </p:sp>
      <p:sp>
        <p:nvSpPr>
          <p:cNvPr id="4" name="Text 2"/>
          <p:cNvSpPr/>
          <p:nvPr/>
        </p:nvSpPr>
        <p:spPr>
          <a:xfrm>
            <a:off x="685800" y="896112"/>
            <a:ext cx="10820095" cy="822960"/>
          </a:xfrm>
          <a:prstGeom prst="rect">
            <a:avLst/>
          </a:prstGeom>
          <a:noFill/>
          <a:ln/>
        </p:spPr>
        <p:txBody>
          <a:bodyPr wrap="square" lIns="0" tIns="0" rIns="0" bIns="0" rtlCol="0" anchor="t"/>
          <a:lstStyle/>
          <a:p>
            <a:pPr indent="0" marL="0">
              <a:lnSpc>
                <a:spcPct val="125000"/>
              </a:lnSpc>
              <a:buNone/>
            </a:pPr>
            <a:r>
              <a:rPr lang="en-US" sz="2600" b="1" dirty="0">
                <a:solidFill>
                  <a:srgbClr val="111111"/>
                </a:solidFill>
                <a:latin typeface="IBM Plex Sans JP" pitchFamily="34" charset="0"/>
                <a:ea typeface="IBM Plex Sans JP" pitchFamily="34" charset="-122"/>
                <a:cs typeface="IBM Plex Sans JP" pitchFamily="34" charset="-120"/>
              </a:rPr>
              <a:t>まとめ</a:t>
            </a:r>
            <a:endParaRPr lang="en-US" sz="2600" dirty="0"/>
          </a:p>
        </p:txBody>
      </p:sp>
      <p:sp>
        <p:nvSpPr>
          <p:cNvPr id="5" name="Shape 3"/>
          <p:cNvSpPr/>
          <p:nvPr/>
        </p:nvSpPr>
        <p:spPr>
          <a:xfrm>
            <a:off x="685800" y="1874520"/>
            <a:ext cx="10820095" cy="0"/>
          </a:xfrm>
          <a:prstGeom prst="line">
            <a:avLst/>
          </a:prstGeom>
          <a:noFill/>
          <a:ln w="6350">
            <a:solidFill>
              <a:srgbClr val="E6E4E0"/>
            </a:solidFill>
            <a:prstDash val="solid"/>
          </a:ln>
        </p:spPr>
      </p:sp>
      <p:sp>
        <p:nvSpPr>
          <p:cNvPr id="6" name="Text 4"/>
          <p:cNvSpPr/>
          <p:nvPr/>
        </p:nvSpPr>
        <p:spPr>
          <a:xfrm>
            <a:off x="685800" y="2011680"/>
            <a:ext cx="731520" cy="365760"/>
          </a:xfrm>
          <a:prstGeom prst="rect">
            <a:avLst/>
          </a:prstGeom>
          <a:noFill/>
          <a:ln/>
        </p:spPr>
        <p:txBody>
          <a:bodyPr wrap="square" lIns="0" tIns="0" rIns="0" bIns="0" rtlCol="0" anchor="t"/>
          <a:lstStyle/>
          <a:p>
            <a:pPr indent="0" marL="0">
              <a:buNone/>
            </a:pPr>
            <a:r>
              <a:rPr lang="en-US" sz="1800" dirty="0">
                <a:solidFill>
                  <a:srgbClr val="6A6A6A"/>
                </a:solidFill>
                <a:latin typeface="IBM Plex Sans JP" pitchFamily="34" charset="0"/>
                <a:ea typeface="IBM Plex Sans JP" pitchFamily="34" charset="-122"/>
                <a:cs typeface="IBM Plex Sans JP" pitchFamily="34" charset="-120"/>
              </a:rPr>
              <a:t>01</a:t>
            </a:r>
            <a:endParaRPr lang="en-US" sz="1800" dirty="0"/>
          </a:p>
        </p:txBody>
      </p:sp>
      <p:sp>
        <p:nvSpPr>
          <p:cNvPr id="7" name="Text 5"/>
          <p:cNvSpPr/>
          <p:nvPr/>
        </p:nvSpPr>
        <p:spPr>
          <a:xfrm>
            <a:off x="1508760" y="2011680"/>
            <a:ext cx="9997135" cy="365760"/>
          </a:xfrm>
          <a:prstGeom prst="rect">
            <a:avLst/>
          </a:prstGeom>
          <a:noFill/>
          <a:ln/>
        </p:spPr>
        <p:txBody>
          <a:bodyPr wrap="square" lIns="0" tIns="0" rIns="0" bIns="0" rtlCol="0" anchor="t"/>
          <a:lstStyle/>
          <a:p>
            <a:pPr indent="0" marL="0">
              <a:buNone/>
            </a:pPr>
            <a:r>
              <a:rPr lang="en-US" sz="1500" b="1" dirty="0">
                <a:solidFill>
                  <a:srgbClr val="111111"/>
                </a:solidFill>
                <a:latin typeface="IBM Plex Sans JP" pitchFamily="34" charset="0"/>
                <a:ea typeface="IBM Plex Sans JP" pitchFamily="34" charset="-122"/>
                <a:cs typeface="IBM Plex Sans JP" pitchFamily="34" charset="-120"/>
              </a:rPr>
              <a:t>TVerは、商圏を単位で買える媒体です。</a:t>
            </a:r>
            <a:endParaRPr lang="en-US" sz="1500" dirty="0"/>
          </a:p>
        </p:txBody>
      </p:sp>
      <p:sp>
        <p:nvSpPr>
          <p:cNvPr id="8" name="Text 6"/>
          <p:cNvSpPr/>
          <p:nvPr/>
        </p:nvSpPr>
        <p:spPr>
          <a:xfrm>
            <a:off x="1508760" y="2404872"/>
            <a:ext cx="9997135" cy="457200"/>
          </a:xfrm>
          <a:prstGeom prst="rect">
            <a:avLst/>
          </a:prstGeom>
          <a:noFill/>
          <a:ln/>
        </p:spPr>
        <p:txBody>
          <a:bodyPr wrap="square" lIns="0" tIns="0" rIns="0" bIns="0" rtlCol="0" anchor="t"/>
          <a:lstStyle/>
          <a:p>
            <a:pPr indent="0" marL="0">
              <a:lnSpc>
                <a:spcPct val="145000"/>
              </a:lnSpc>
              <a:buNone/>
            </a:pPr>
            <a:r>
              <a:rPr lang="en-US" sz="1050" dirty="0">
                <a:solidFill>
                  <a:srgbClr val="6A6A6A"/>
                </a:solidFill>
                <a:latin typeface="IBM Plex Sans JP" pitchFamily="34" charset="0"/>
                <a:ea typeface="IBM Plex Sans JP" pitchFamily="34" charset="-122"/>
                <a:cs typeface="IBM Plex Sans JP" pitchFamily="34" charset="-120"/>
              </a:rPr>
              <a:t>都道府県・市区町村で配信を絞れて、誰に何回届いたかが数字で出ます。広告はスキップされず、テレビの大画面でも見られています。</a:t>
            </a:r>
            <a:endParaRPr lang="en-US" sz="1050" dirty="0"/>
          </a:p>
        </p:txBody>
      </p:sp>
      <p:sp>
        <p:nvSpPr>
          <p:cNvPr id="9" name="Shape 7"/>
          <p:cNvSpPr/>
          <p:nvPr/>
        </p:nvSpPr>
        <p:spPr>
          <a:xfrm>
            <a:off x="685800" y="3017520"/>
            <a:ext cx="10820095" cy="0"/>
          </a:xfrm>
          <a:prstGeom prst="line">
            <a:avLst/>
          </a:prstGeom>
          <a:noFill/>
          <a:ln w="6350">
            <a:solidFill>
              <a:srgbClr val="E6E4E0"/>
            </a:solidFill>
            <a:prstDash val="solid"/>
          </a:ln>
        </p:spPr>
      </p:sp>
      <p:sp>
        <p:nvSpPr>
          <p:cNvPr id="10" name="Text 8"/>
          <p:cNvSpPr/>
          <p:nvPr/>
        </p:nvSpPr>
        <p:spPr>
          <a:xfrm>
            <a:off x="685800" y="3154680"/>
            <a:ext cx="731520" cy="365760"/>
          </a:xfrm>
          <a:prstGeom prst="rect">
            <a:avLst/>
          </a:prstGeom>
          <a:noFill/>
          <a:ln/>
        </p:spPr>
        <p:txBody>
          <a:bodyPr wrap="square" lIns="0" tIns="0" rIns="0" bIns="0" rtlCol="0" anchor="t"/>
          <a:lstStyle/>
          <a:p>
            <a:pPr indent="0" marL="0">
              <a:buNone/>
            </a:pPr>
            <a:r>
              <a:rPr lang="en-US" sz="1800" dirty="0">
                <a:solidFill>
                  <a:srgbClr val="6A6A6A"/>
                </a:solidFill>
                <a:latin typeface="IBM Plex Sans JP" pitchFamily="34" charset="0"/>
                <a:ea typeface="IBM Plex Sans JP" pitchFamily="34" charset="-122"/>
                <a:cs typeface="IBM Plex Sans JP" pitchFamily="34" charset="-120"/>
              </a:rPr>
              <a:t>02</a:t>
            </a:r>
            <a:endParaRPr lang="en-US" sz="1800" dirty="0"/>
          </a:p>
        </p:txBody>
      </p:sp>
      <p:sp>
        <p:nvSpPr>
          <p:cNvPr id="11" name="Text 9"/>
          <p:cNvSpPr/>
          <p:nvPr/>
        </p:nvSpPr>
        <p:spPr>
          <a:xfrm>
            <a:off x="1508760" y="3154680"/>
            <a:ext cx="9997135" cy="365760"/>
          </a:xfrm>
          <a:prstGeom prst="rect">
            <a:avLst/>
          </a:prstGeom>
          <a:noFill/>
          <a:ln/>
        </p:spPr>
        <p:txBody>
          <a:bodyPr wrap="square" lIns="0" tIns="0" rIns="0" bIns="0" rtlCol="0" anchor="t"/>
          <a:lstStyle/>
          <a:p>
            <a:pPr indent="0" marL="0">
              <a:buNone/>
            </a:pPr>
            <a:r>
              <a:rPr lang="en-US" sz="1500" b="1" dirty="0">
                <a:solidFill>
                  <a:srgbClr val="111111"/>
                </a:solidFill>
                <a:latin typeface="IBM Plex Sans JP" pitchFamily="34" charset="0"/>
                <a:ea typeface="IBM Plex Sans JP" pitchFamily="34" charset="-122"/>
                <a:cs typeface="IBM Plex Sans JP" pitchFamily="34" charset="-120"/>
              </a:rPr>
              <a:t>「まるごと押さえる」は、地域の企業だけが買えます。</a:t>
            </a:r>
            <a:endParaRPr lang="en-US" sz="1500" dirty="0"/>
          </a:p>
        </p:txBody>
      </p:sp>
      <p:sp>
        <p:nvSpPr>
          <p:cNvPr id="12" name="Text 10"/>
          <p:cNvSpPr/>
          <p:nvPr/>
        </p:nvSpPr>
        <p:spPr>
          <a:xfrm>
            <a:off x="1508760" y="3547872"/>
            <a:ext cx="9997135" cy="457200"/>
          </a:xfrm>
          <a:prstGeom prst="rect">
            <a:avLst/>
          </a:prstGeom>
          <a:noFill/>
          <a:ln/>
        </p:spPr>
        <p:txBody>
          <a:bodyPr wrap="square" lIns="0" tIns="0" rIns="0" bIns="0" rtlCol="0" anchor="t"/>
          <a:lstStyle/>
          <a:p>
            <a:pPr indent="0" marL="0">
              <a:lnSpc>
                <a:spcPct val="145000"/>
              </a:lnSpc>
              <a:buNone/>
            </a:pPr>
            <a:r>
              <a:rPr lang="en-US" sz="1050" dirty="0">
                <a:solidFill>
                  <a:srgbClr val="6A6A6A"/>
                </a:solidFill>
                <a:latin typeface="IBM Plex Sans JP" pitchFamily="34" charset="0"/>
                <a:ea typeface="IBM Plex Sans JP" pitchFamily="34" charset="-122"/>
                <a:cs typeface="IBM Plex Sans JP" pitchFamily="34" charset="-120"/>
              </a:rPr>
              <a:t>同じ100万円で、東京は0.6%、鳥取は15.4%。人口の少ないエリアほど、その中で目立つことが現実的な予算で可能になります。</a:t>
            </a:r>
            <a:endParaRPr lang="en-US" sz="1050" dirty="0"/>
          </a:p>
        </p:txBody>
      </p:sp>
      <p:sp>
        <p:nvSpPr>
          <p:cNvPr id="13" name="Shape 11"/>
          <p:cNvSpPr/>
          <p:nvPr/>
        </p:nvSpPr>
        <p:spPr>
          <a:xfrm>
            <a:off x="685800" y="4160520"/>
            <a:ext cx="10820095" cy="0"/>
          </a:xfrm>
          <a:prstGeom prst="line">
            <a:avLst/>
          </a:prstGeom>
          <a:noFill/>
          <a:ln w="6350">
            <a:solidFill>
              <a:srgbClr val="E6E4E0"/>
            </a:solidFill>
            <a:prstDash val="solid"/>
          </a:ln>
        </p:spPr>
      </p:sp>
      <p:sp>
        <p:nvSpPr>
          <p:cNvPr id="14" name="Text 12"/>
          <p:cNvSpPr/>
          <p:nvPr/>
        </p:nvSpPr>
        <p:spPr>
          <a:xfrm>
            <a:off x="685800" y="4297680"/>
            <a:ext cx="731520" cy="365760"/>
          </a:xfrm>
          <a:prstGeom prst="rect">
            <a:avLst/>
          </a:prstGeom>
          <a:noFill/>
          <a:ln/>
        </p:spPr>
        <p:txBody>
          <a:bodyPr wrap="square" lIns="0" tIns="0" rIns="0" bIns="0" rtlCol="0" anchor="t"/>
          <a:lstStyle/>
          <a:p>
            <a:pPr indent="0" marL="0">
              <a:buNone/>
            </a:pPr>
            <a:r>
              <a:rPr lang="en-US" sz="1800" dirty="0">
                <a:solidFill>
                  <a:srgbClr val="6A6A6A"/>
                </a:solidFill>
                <a:latin typeface="IBM Plex Sans JP" pitchFamily="34" charset="0"/>
                <a:ea typeface="IBM Plex Sans JP" pitchFamily="34" charset="-122"/>
                <a:cs typeface="IBM Plex Sans JP" pitchFamily="34" charset="-120"/>
              </a:rPr>
              <a:t>03</a:t>
            </a:r>
            <a:endParaRPr lang="en-US" sz="1800" dirty="0"/>
          </a:p>
        </p:txBody>
      </p:sp>
      <p:sp>
        <p:nvSpPr>
          <p:cNvPr id="15" name="Text 13"/>
          <p:cNvSpPr/>
          <p:nvPr/>
        </p:nvSpPr>
        <p:spPr>
          <a:xfrm>
            <a:off x="1508760" y="4297680"/>
            <a:ext cx="9997135" cy="365760"/>
          </a:xfrm>
          <a:prstGeom prst="rect">
            <a:avLst/>
          </a:prstGeom>
          <a:noFill/>
          <a:ln/>
        </p:spPr>
        <p:txBody>
          <a:bodyPr wrap="square" lIns="0" tIns="0" rIns="0" bIns="0" rtlCol="0" anchor="t"/>
          <a:lstStyle/>
          <a:p>
            <a:pPr indent="0" marL="0">
              <a:buNone/>
            </a:pPr>
            <a:r>
              <a:rPr lang="en-US" sz="1500" b="1" dirty="0">
                <a:solidFill>
                  <a:srgbClr val="111111"/>
                </a:solidFill>
                <a:latin typeface="IBM Plex Sans JP" pitchFamily="34" charset="0"/>
                <a:ea typeface="IBM Plex Sans JP" pitchFamily="34" charset="-122"/>
                <a:cs typeface="IBM Plex Sans JP" pitchFamily="34" charset="-120"/>
              </a:rPr>
              <a:t>月額50万円以下で「市まるごと」を押さえられる市が743あります。</a:t>
            </a:r>
            <a:endParaRPr lang="en-US" sz="1500" dirty="0"/>
          </a:p>
        </p:txBody>
      </p:sp>
      <p:sp>
        <p:nvSpPr>
          <p:cNvPr id="16" name="Shape 14"/>
          <p:cNvSpPr/>
          <p:nvPr/>
        </p:nvSpPr>
        <p:spPr>
          <a:xfrm>
            <a:off x="1508760" y="4800600"/>
            <a:ext cx="1572768" cy="914400"/>
          </a:xfrm>
          <a:prstGeom prst="rect">
            <a:avLst/>
          </a:prstGeom>
          <a:solidFill>
            <a:srgbClr val="F7F6F4"/>
          </a:solidFill>
          <a:ln w="12700">
            <a:solidFill>
              <a:srgbClr val="F7F6F4"/>
            </a:solidFill>
            <a:prstDash val="solid"/>
          </a:ln>
        </p:spPr>
      </p:sp>
      <p:sp>
        <p:nvSpPr>
          <p:cNvPr id="17" name="Text 15"/>
          <p:cNvSpPr/>
          <p:nvPr/>
        </p:nvSpPr>
        <p:spPr>
          <a:xfrm>
            <a:off x="1691640" y="4965192"/>
            <a:ext cx="1207008" cy="274320"/>
          </a:xfrm>
          <a:prstGeom prst="rect">
            <a:avLst/>
          </a:prstGeom>
          <a:noFill/>
          <a:ln/>
        </p:spPr>
        <p:txBody>
          <a:bodyPr wrap="square" lIns="0" tIns="0" rIns="0" bIns="0" rtlCol="0" anchor="t"/>
          <a:lstStyle/>
          <a:p>
            <a:pPr indent="0" marL="0">
              <a:buNone/>
            </a:pPr>
            <a:r>
              <a:rPr lang="en-US" sz="1100" b="1" dirty="0">
                <a:solidFill>
                  <a:srgbClr val="111111"/>
                </a:solidFill>
                <a:latin typeface="IBM Plex Sans JP" pitchFamily="34" charset="0"/>
                <a:ea typeface="IBM Plex Sans JP" pitchFamily="34" charset="-122"/>
                <a:cs typeface="IBM Plex Sans JP" pitchFamily="34" charset="-120"/>
              </a:rPr>
              <a:t>鳥取市</a:t>
            </a:r>
            <a:endParaRPr lang="en-US" sz="1100" dirty="0"/>
          </a:p>
        </p:txBody>
      </p:sp>
      <p:sp>
        <p:nvSpPr>
          <p:cNvPr id="18" name="Text 16"/>
          <p:cNvSpPr/>
          <p:nvPr/>
        </p:nvSpPr>
        <p:spPr>
          <a:xfrm>
            <a:off x="1691640" y="5257800"/>
            <a:ext cx="1207008" cy="320040"/>
          </a:xfrm>
          <a:prstGeom prst="rect">
            <a:avLst/>
          </a:prstGeom>
          <a:noFill/>
          <a:ln/>
        </p:spPr>
        <p:txBody>
          <a:bodyPr wrap="square" lIns="0" tIns="0" rIns="0" bIns="0" rtlCol="0" anchor="t"/>
          <a:lstStyle/>
          <a:p>
            <a:pPr indent="0" marL="0">
              <a:buNone/>
            </a:pPr>
            <a:r>
              <a:rPr lang="en-US" sz="1400" b="1" dirty="0">
                <a:solidFill>
                  <a:srgbClr val="111111"/>
                </a:solidFill>
                <a:latin typeface="IBM Plex Sans JP" pitchFamily="34" charset="0"/>
                <a:ea typeface="IBM Plex Sans JP" pitchFamily="34" charset="-122"/>
                <a:cs typeface="IBM Plex Sans JP" pitchFamily="34" charset="-120"/>
              </a:rPr>
              <a:t>¥240,000</a:t>
            </a:r>
            <a:pPr indent="0" marL="0">
              <a:buNone/>
            </a:pPr>
            <a:r>
              <a:rPr lang="en-US" sz="800" dirty="0">
                <a:solidFill>
                  <a:srgbClr val="6A6A6A"/>
                </a:solidFill>
                <a:latin typeface="IBM Plex Sans JP" pitchFamily="34" charset="0"/>
                <a:ea typeface="IBM Plex Sans JP" pitchFamily="34" charset="-122"/>
                <a:cs typeface="IBM Plex Sans JP" pitchFamily="34" charset="-120"/>
              </a:rPr>
              <a:t> ／月</a:t>
            </a:r>
            <a:endParaRPr lang="en-US" sz="1400" dirty="0"/>
          </a:p>
        </p:txBody>
      </p:sp>
      <p:sp>
        <p:nvSpPr>
          <p:cNvPr id="19" name="Shape 17"/>
          <p:cNvSpPr/>
          <p:nvPr/>
        </p:nvSpPr>
        <p:spPr>
          <a:xfrm>
            <a:off x="3193633" y="4800600"/>
            <a:ext cx="1572768" cy="914400"/>
          </a:xfrm>
          <a:prstGeom prst="rect">
            <a:avLst/>
          </a:prstGeom>
          <a:solidFill>
            <a:srgbClr val="F7F6F4"/>
          </a:solidFill>
          <a:ln w="12700">
            <a:solidFill>
              <a:srgbClr val="F7F6F4"/>
            </a:solidFill>
            <a:prstDash val="solid"/>
          </a:ln>
        </p:spPr>
      </p:sp>
      <p:sp>
        <p:nvSpPr>
          <p:cNvPr id="20" name="Text 18"/>
          <p:cNvSpPr/>
          <p:nvPr/>
        </p:nvSpPr>
        <p:spPr>
          <a:xfrm>
            <a:off x="3376513" y="4965192"/>
            <a:ext cx="1207008" cy="274320"/>
          </a:xfrm>
          <a:prstGeom prst="rect">
            <a:avLst/>
          </a:prstGeom>
          <a:noFill/>
          <a:ln/>
        </p:spPr>
        <p:txBody>
          <a:bodyPr wrap="square" lIns="0" tIns="0" rIns="0" bIns="0" rtlCol="0" anchor="t"/>
          <a:lstStyle/>
          <a:p>
            <a:pPr indent="0" marL="0">
              <a:buNone/>
            </a:pPr>
            <a:r>
              <a:rPr lang="en-US" sz="1100" b="1" dirty="0">
                <a:solidFill>
                  <a:srgbClr val="111111"/>
                </a:solidFill>
                <a:latin typeface="IBM Plex Sans JP" pitchFamily="34" charset="0"/>
                <a:ea typeface="IBM Plex Sans JP" pitchFamily="34" charset="-122"/>
                <a:cs typeface="IBM Plex Sans JP" pitchFamily="34" charset="-120"/>
              </a:rPr>
              <a:t>山口市</a:t>
            </a:r>
            <a:endParaRPr lang="en-US" sz="1100" dirty="0"/>
          </a:p>
        </p:txBody>
      </p:sp>
      <p:sp>
        <p:nvSpPr>
          <p:cNvPr id="21" name="Text 19"/>
          <p:cNvSpPr/>
          <p:nvPr/>
        </p:nvSpPr>
        <p:spPr>
          <a:xfrm>
            <a:off x="3376513" y="5257800"/>
            <a:ext cx="1207008" cy="320040"/>
          </a:xfrm>
          <a:prstGeom prst="rect">
            <a:avLst/>
          </a:prstGeom>
          <a:noFill/>
          <a:ln/>
        </p:spPr>
        <p:txBody>
          <a:bodyPr wrap="square" lIns="0" tIns="0" rIns="0" bIns="0" rtlCol="0" anchor="t"/>
          <a:lstStyle/>
          <a:p>
            <a:pPr indent="0" marL="0">
              <a:buNone/>
            </a:pPr>
            <a:r>
              <a:rPr lang="en-US" sz="1400" b="1" dirty="0">
                <a:solidFill>
                  <a:srgbClr val="111111"/>
                </a:solidFill>
                <a:latin typeface="IBM Plex Sans JP" pitchFamily="34" charset="0"/>
                <a:ea typeface="IBM Plex Sans JP" pitchFamily="34" charset="-122"/>
                <a:cs typeface="IBM Plex Sans JP" pitchFamily="34" charset="-120"/>
              </a:rPr>
              <a:t>¥250,000</a:t>
            </a:r>
            <a:pPr indent="0" marL="0">
              <a:buNone/>
            </a:pPr>
            <a:r>
              <a:rPr lang="en-US" sz="800" dirty="0">
                <a:solidFill>
                  <a:srgbClr val="6A6A6A"/>
                </a:solidFill>
                <a:latin typeface="IBM Plex Sans JP" pitchFamily="34" charset="0"/>
                <a:ea typeface="IBM Plex Sans JP" pitchFamily="34" charset="-122"/>
                <a:cs typeface="IBM Plex Sans JP" pitchFamily="34" charset="-120"/>
              </a:rPr>
              <a:t> ／月</a:t>
            </a:r>
            <a:endParaRPr lang="en-US" sz="1400" dirty="0"/>
          </a:p>
        </p:txBody>
      </p:sp>
      <p:sp>
        <p:nvSpPr>
          <p:cNvPr id="22" name="Shape 20"/>
          <p:cNvSpPr/>
          <p:nvPr/>
        </p:nvSpPr>
        <p:spPr>
          <a:xfrm>
            <a:off x="4878507" y="4800600"/>
            <a:ext cx="1572768" cy="914400"/>
          </a:xfrm>
          <a:prstGeom prst="rect">
            <a:avLst/>
          </a:prstGeom>
          <a:solidFill>
            <a:srgbClr val="F7F6F4"/>
          </a:solidFill>
          <a:ln w="12700">
            <a:solidFill>
              <a:srgbClr val="F7F6F4"/>
            </a:solidFill>
            <a:prstDash val="solid"/>
          </a:ln>
        </p:spPr>
      </p:sp>
      <p:sp>
        <p:nvSpPr>
          <p:cNvPr id="23" name="Text 21"/>
          <p:cNvSpPr/>
          <p:nvPr/>
        </p:nvSpPr>
        <p:spPr>
          <a:xfrm>
            <a:off x="5061387" y="4965192"/>
            <a:ext cx="1207008" cy="274320"/>
          </a:xfrm>
          <a:prstGeom prst="rect">
            <a:avLst/>
          </a:prstGeom>
          <a:noFill/>
          <a:ln/>
        </p:spPr>
        <p:txBody>
          <a:bodyPr wrap="square" lIns="0" tIns="0" rIns="0" bIns="0" rtlCol="0" anchor="t"/>
          <a:lstStyle/>
          <a:p>
            <a:pPr indent="0" marL="0">
              <a:buNone/>
            </a:pPr>
            <a:r>
              <a:rPr lang="en-US" sz="1100" b="1" dirty="0">
                <a:solidFill>
                  <a:srgbClr val="111111"/>
                </a:solidFill>
                <a:latin typeface="IBM Plex Sans JP" pitchFamily="34" charset="0"/>
                <a:ea typeface="IBM Plex Sans JP" pitchFamily="34" charset="-122"/>
                <a:cs typeface="IBM Plex Sans JP" pitchFamily="34" charset="-120"/>
              </a:rPr>
              <a:t>松江市</a:t>
            </a:r>
            <a:endParaRPr lang="en-US" sz="1100" dirty="0"/>
          </a:p>
        </p:txBody>
      </p:sp>
      <p:sp>
        <p:nvSpPr>
          <p:cNvPr id="24" name="Text 22"/>
          <p:cNvSpPr/>
          <p:nvPr/>
        </p:nvSpPr>
        <p:spPr>
          <a:xfrm>
            <a:off x="5061387" y="5257800"/>
            <a:ext cx="1207008" cy="320040"/>
          </a:xfrm>
          <a:prstGeom prst="rect">
            <a:avLst/>
          </a:prstGeom>
          <a:noFill/>
          <a:ln/>
        </p:spPr>
        <p:txBody>
          <a:bodyPr wrap="square" lIns="0" tIns="0" rIns="0" bIns="0" rtlCol="0" anchor="t"/>
          <a:lstStyle/>
          <a:p>
            <a:pPr indent="0" marL="0">
              <a:buNone/>
            </a:pPr>
            <a:r>
              <a:rPr lang="en-US" sz="1400" b="1" dirty="0">
                <a:solidFill>
                  <a:srgbClr val="111111"/>
                </a:solidFill>
                <a:latin typeface="IBM Plex Sans JP" pitchFamily="34" charset="0"/>
                <a:ea typeface="IBM Plex Sans JP" pitchFamily="34" charset="-122"/>
                <a:cs typeface="IBM Plex Sans JP" pitchFamily="34" charset="-120"/>
              </a:rPr>
              <a:t>¥260,000</a:t>
            </a:r>
            <a:pPr indent="0" marL="0">
              <a:buNone/>
            </a:pPr>
            <a:r>
              <a:rPr lang="en-US" sz="800" dirty="0">
                <a:solidFill>
                  <a:srgbClr val="6A6A6A"/>
                </a:solidFill>
                <a:latin typeface="IBM Plex Sans JP" pitchFamily="34" charset="0"/>
                <a:ea typeface="IBM Plex Sans JP" pitchFamily="34" charset="-122"/>
                <a:cs typeface="IBM Plex Sans JP" pitchFamily="34" charset="-120"/>
              </a:rPr>
              <a:t> ／月</a:t>
            </a:r>
            <a:endParaRPr lang="en-US" sz="1400" dirty="0"/>
          </a:p>
        </p:txBody>
      </p:sp>
      <p:sp>
        <p:nvSpPr>
          <p:cNvPr id="25" name="Shape 23"/>
          <p:cNvSpPr/>
          <p:nvPr/>
        </p:nvSpPr>
        <p:spPr>
          <a:xfrm>
            <a:off x="6563380" y="4800600"/>
            <a:ext cx="1572768" cy="914400"/>
          </a:xfrm>
          <a:prstGeom prst="rect">
            <a:avLst/>
          </a:prstGeom>
          <a:solidFill>
            <a:srgbClr val="F7F6F4"/>
          </a:solidFill>
          <a:ln w="12700">
            <a:solidFill>
              <a:srgbClr val="F7F6F4"/>
            </a:solidFill>
            <a:prstDash val="solid"/>
          </a:ln>
        </p:spPr>
      </p:sp>
      <p:sp>
        <p:nvSpPr>
          <p:cNvPr id="26" name="Text 24"/>
          <p:cNvSpPr/>
          <p:nvPr/>
        </p:nvSpPr>
        <p:spPr>
          <a:xfrm>
            <a:off x="6746260" y="4965192"/>
            <a:ext cx="1207008" cy="274320"/>
          </a:xfrm>
          <a:prstGeom prst="rect">
            <a:avLst/>
          </a:prstGeom>
          <a:noFill/>
          <a:ln/>
        </p:spPr>
        <p:txBody>
          <a:bodyPr wrap="square" lIns="0" tIns="0" rIns="0" bIns="0" rtlCol="0" anchor="t"/>
          <a:lstStyle/>
          <a:p>
            <a:pPr indent="0" marL="0">
              <a:buNone/>
            </a:pPr>
            <a:r>
              <a:rPr lang="en-US" sz="1100" b="1" dirty="0">
                <a:solidFill>
                  <a:srgbClr val="111111"/>
                </a:solidFill>
                <a:latin typeface="IBM Plex Sans JP" pitchFamily="34" charset="0"/>
                <a:ea typeface="IBM Plex Sans JP" pitchFamily="34" charset="-122"/>
                <a:cs typeface="IBM Plex Sans JP" pitchFamily="34" charset="-120"/>
              </a:rPr>
              <a:t>甲府市</a:t>
            </a:r>
            <a:endParaRPr lang="en-US" sz="1100" dirty="0"/>
          </a:p>
        </p:txBody>
      </p:sp>
      <p:sp>
        <p:nvSpPr>
          <p:cNvPr id="27" name="Text 25"/>
          <p:cNvSpPr/>
          <p:nvPr/>
        </p:nvSpPr>
        <p:spPr>
          <a:xfrm>
            <a:off x="6746260" y="5257800"/>
            <a:ext cx="1207008" cy="320040"/>
          </a:xfrm>
          <a:prstGeom prst="rect">
            <a:avLst/>
          </a:prstGeom>
          <a:noFill/>
          <a:ln/>
        </p:spPr>
        <p:txBody>
          <a:bodyPr wrap="square" lIns="0" tIns="0" rIns="0" bIns="0" rtlCol="0" anchor="t"/>
          <a:lstStyle/>
          <a:p>
            <a:pPr indent="0" marL="0">
              <a:buNone/>
            </a:pPr>
            <a:r>
              <a:rPr lang="en-US" sz="1400" b="1" dirty="0">
                <a:solidFill>
                  <a:srgbClr val="111111"/>
                </a:solidFill>
                <a:latin typeface="IBM Plex Sans JP" pitchFamily="34" charset="0"/>
                <a:ea typeface="IBM Plex Sans JP" pitchFamily="34" charset="-122"/>
                <a:cs typeface="IBM Plex Sans JP" pitchFamily="34" charset="-120"/>
              </a:rPr>
              <a:t>¥270,000</a:t>
            </a:r>
            <a:pPr indent="0" marL="0">
              <a:buNone/>
            </a:pPr>
            <a:r>
              <a:rPr lang="en-US" sz="800" dirty="0">
                <a:solidFill>
                  <a:srgbClr val="6A6A6A"/>
                </a:solidFill>
                <a:latin typeface="IBM Plex Sans JP" pitchFamily="34" charset="0"/>
                <a:ea typeface="IBM Plex Sans JP" pitchFamily="34" charset="-122"/>
                <a:cs typeface="IBM Plex Sans JP" pitchFamily="34" charset="-120"/>
              </a:rPr>
              <a:t> ／月</a:t>
            </a:r>
            <a:endParaRPr lang="en-US" sz="1400" dirty="0"/>
          </a:p>
        </p:txBody>
      </p:sp>
      <p:sp>
        <p:nvSpPr>
          <p:cNvPr id="28" name="Shape 26"/>
          <p:cNvSpPr/>
          <p:nvPr/>
        </p:nvSpPr>
        <p:spPr>
          <a:xfrm>
            <a:off x="8248254" y="4800600"/>
            <a:ext cx="1572768" cy="914400"/>
          </a:xfrm>
          <a:prstGeom prst="rect">
            <a:avLst/>
          </a:prstGeom>
          <a:solidFill>
            <a:srgbClr val="F7F6F4"/>
          </a:solidFill>
          <a:ln w="12700">
            <a:solidFill>
              <a:srgbClr val="F7F6F4"/>
            </a:solidFill>
            <a:prstDash val="solid"/>
          </a:ln>
        </p:spPr>
      </p:sp>
      <p:sp>
        <p:nvSpPr>
          <p:cNvPr id="29" name="Text 27"/>
          <p:cNvSpPr/>
          <p:nvPr/>
        </p:nvSpPr>
        <p:spPr>
          <a:xfrm>
            <a:off x="8431134" y="4965192"/>
            <a:ext cx="1207008" cy="274320"/>
          </a:xfrm>
          <a:prstGeom prst="rect">
            <a:avLst/>
          </a:prstGeom>
          <a:noFill/>
          <a:ln/>
        </p:spPr>
        <p:txBody>
          <a:bodyPr wrap="square" lIns="0" tIns="0" rIns="0" bIns="0" rtlCol="0" anchor="t"/>
          <a:lstStyle/>
          <a:p>
            <a:pPr indent="0" marL="0">
              <a:buNone/>
            </a:pPr>
            <a:r>
              <a:rPr lang="en-US" sz="1100" b="1" dirty="0">
                <a:solidFill>
                  <a:srgbClr val="111111"/>
                </a:solidFill>
                <a:latin typeface="IBM Plex Sans JP" pitchFamily="34" charset="0"/>
                <a:ea typeface="IBM Plex Sans JP" pitchFamily="34" charset="-122"/>
                <a:cs typeface="IBM Plex Sans JP" pitchFamily="34" charset="-120"/>
              </a:rPr>
              <a:t>佐賀市</a:t>
            </a:r>
            <a:endParaRPr lang="en-US" sz="1100" dirty="0"/>
          </a:p>
        </p:txBody>
      </p:sp>
      <p:sp>
        <p:nvSpPr>
          <p:cNvPr id="30" name="Text 28"/>
          <p:cNvSpPr/>
          <p:nvPr/>
        </p:nvSpPr>
        <p:spPr>
          <a:xfrm>
            <a:off x="8431134" y="5257800"/>
            <a:ext cx="1207008" cy="320040"/>
          </a:xfrm>
          <a:prstGeom prst="rect">
            <a:avLst/>
          </a:prstGeom>
          <a:noFill/>
          <a:ln/>
        </p:spPr>
        <p:txBody>
          <a:bodyPr wrap="square" lIns="0" tIns="0" rIns="0" bIns="0" rtlCol="0" anchor="t"/>
          <a:lstStyle/>
          <a:p>
            <a:pPr indent="0" marL="0">
              <a:buNone/>
            </a:pPr>
            <a:r>
              <a:rPr lang="en-US" sz="1400" b="1" dirty="0">
                <a:solidFill>
                  <a:srgbClr val="111111"/>
                </a:solidFill>
                <a:latin typeface="IBM Plex Sans JP" pitchFamily="34" charset="0"/>
                <a:ea typeface="IBM Plex Sans JP" pitchFamily="34" charset="-122"/>
                <a:cs typeface="IBM Plex Sans JP" pitchFamily="34" charset="-120"/>
              </a:rPr>
              <a:t>¥320,000</a:t>
            </a:r>
            <a:pPr indent="0" marL="0">
              <a:buNone/>
            </a:pPr>
            <a:r>
              <a:rPr lang="en-US" sz="800" dirty="0">
                <a:solidFill>
                  <a:srgbClr val="6A6A6A"/>
                </a:solidFill>
                <a:latin typeface="IBM Plex Sans JP" pitchFamily="34" charset="0"/>
                <a:ea typeface="IBM Plex Sans JP" pitchFamily="34" charset="-122"/>
                <a:cs typeface="IBM Plex Sans JP" pitchFamily="34" charset="-120"/>
              </a:rPr>
              <a:t> ／月</a:t>
            </a:r>
            <a:endParaRPr lang="en-US" sz="1400" dirty="0"/>
          </a:p>
        </p:txBody>
      </p:sp>
      <p:sp>
        <p:nvSpPr>
          <p:cNvPr id="31" name="Shape 29"/>
          <p:cNvSpPr/>
          <p:nvPr/>
        </p:nvSpPr>
        <p:spPr>
          <a:xfrm>
            <a:off x="9933127" y="4800600"/>
            <a:ext cx="1572768" cy="914400"/>
          </a:xfrm>
          <a:prstGeom prst="rect">
            <a:avLst/>
          </a:prstGeom>
          <a:solidFill>
            <a:srgbClr val="F7F6F4"/>
          </a:solidFill>
          <a:ln w="12700">
            <a:solidFill>
              <a:srgbClr val="F7F6F4"/>
            </a:solidFill>
            <a:prstDash val="solid"/>
          </a:ln>
        </p:spPr>
      </p:sp>
      <p:sp>
        <p:nvSpPr>
          <p:cNvPr id="32" name="Text 30"/>
          <p:cNvSpPr/>
          <p:nvPr/>
        </p:nvSpPr>
        <p:spPr>
          <a:xfrm>
            <a:off x="10116007" y="4965192"/>
            <a:ext cx="1207008" cy="274320"/>
          </a:xfrm>
          <a:prstGeom prst="rect">
            <a:avLst/>
          </a:prstGeom>
          <a:noFill/>
          <a:ln/>
        </p:spPr>
        <p:txBody>
          <a:bodyPr wrap="square" lIns="0" tIns="0" rIns="0" bIns="0" rtlCol="0" anchor="t"/>
          <a:lstStyle/>
          <a:p>
            <a:pPr indent="0" marL="0">
              <a:buNone/>
            </a:pPr>
            <a:r>
              <a:rPr lang="en-US" sz="1100" b="1" dirty="0">
                <a:solidFill>
                  <a:srgbClr val="111111"/>
                </a:solidFill>
                <a:latin typeface="IBM Plex Sans JP" pitchFamily="34" charset="0"/>
                <a:ea typeface="IBM Plex Sans JP" pitchFamily="34" charset="-122"/>
                <a:cs typeface="IBM Plex Sans JP" pitchFamily="34" charset="-120"/>
              </a:rPr>
              <a:t>山形市</a:t>
            </a:r>
            <a:endParaRPr lang="en-US" sz="1100" dirty="0"/>
          </a:p>
        </p:txBody>
      </p:sp>
      <p:sp>
        <p:nvSpPr>
          <p:cNvPr id="33" name="Text 31"/>
          <p:cNvSpPr/>
          <p:nvPr/>
        </p:nvSpPr>
        <p:spPr>
          <a:xfrm>
            <a:off x="10116007" y="5257800"/>
            <a:ext cx="1207008" cy="320040"/>
          </a:xfrm>
          <a:prstGeom prst="rect">
            <a:avLst/>
          </a:prstGeom>
          <a:noFill/>
          <a:ln/>
        </p:spPr>
        <p:txBody>
          <a:bodyPr wrap="square" lIns="0" tIns="0" rIns="0" bIns="0" rtlCol="0" anchor="t"/>
          <a:lstStyle/>
          <a:p>
            <a:pPr indent="0" marL="0">
              <a:buNone/>
            </a:pPr>
            <a:r>
              <a:rPr lang="en-US" sz="1400" b="1" dirty="0">
                <a:solidFill>
                  <a:srgbClr val="111111"/>
                </a:solidFill>
                <a:latin typeface="IBM Plex Sans JP" pitchFamily="34" charset="0"/>
                <a:ea typeface="IBM Plex Sans JP" pitchFamily="34" charset="-122"/>
                <a:cs typeface="IBM Plex Sans JP" pitchFamily="34" charset="-120"/>
              </a:rPr>
              <a:t>¥320,000</a:t>
            </a:r>
            <a:pPr indent="0" marL="0">
              <a:buNone/>
            </a:pPr>
            <a:r>
              <a:rPr lang="en-US" sz="800" dirty="0">
                <a:solidFill>
                  <a:srgbClr val="6A6A6A"/>
                </a:solidFill>
                <a:latin typeface="IBM Plex Sans JP" pitchFamily="34" charset="0"/>
                <a:ea typeface="IBM Plex Sans JP" pitchFamily="34" charset="-122"/>
                <a:cs typeface="IBM Plex Sans JP" pitchFamily="34" charset="-120"/>
              </a:rPr>
              <a:t> ／月</a:t>
            </a:r>
            <a:endParaRPr lang="en-US" sz="1400" dirty="0"/>
          </a:p>
        </p:txBody>
      </p:sp>
      <p:pic>
        <p:nvPicPr>
          <p:cNvPr id="34" name="Image 0" descr="/private/tmp/claude-501/-Users-hirokishirakawa/61df7724-8533-4661-9a58-fa513da8dcb2/scratchpad/deck/assets/logo-black.png">    </p:cNvPr>
          <p:cNvPicPr>
            <a:picLocks noChangeAspect="1"/>
          </p:cNvPicPr>
          <p:nvPr/>
        </p:nvPicPr>
        <p:blipFill>
          <a:blip r:embed="rId1"/>
          <a:stretch>
            <a:fillRect/>
          </a:stretch>
        </p:blipFill>
        <p:spPr>
          <a:xfrm>
            <a:off x="685800" y="6291072"/>
            <a:ext cx="868680" cy="128484"/>
          </a:xfrm>
          <a:prstGeom prst="rect">
            <a:avLst/>
          </a:prstGeom>
        </p:spPr>
      </p:pic>
      <p:sp>
        <p:nvSpPr>
          <p:cNvPr id="35" name="Text 32"/>
          <p:cNvSpPr/>
          <p:nvPr/>
        </p:nvSpPr>
        <p:spPr>
          <a:xfrm>
            <a:off x="1828800" y="6291072"/>
            <a:ext cx="5486400" cy="182880"/>
          </a:xfrm>
          <a:prstGeom prst="rect">
            <a:avLst/>
          </a:prstGeom>
          <a:noFill/>
          <a:ln/>
        </p:spPr>
        <p:txBody>
          <a:bodyPr wrap="square" lIns="0" tIns="0" rIns="0" bIns="0" rtlCol="0" anchor="t"/>
          <a:lstStyle/>
          <a:p>
            <a:pPr indent="0" marL="0">
              <a:buNone/>
            </a:pPr>
            <a:r>
              <a:rPr lang="en-US" sz="800" spc="100" kern="0" dirty="0">
                <a:solidFill>
                  <a:srgbClr val="6A6A6A"/>
                </a:solidFill>
                <a:latin typeface="IBM Plex Sans JP" pitchFamily="34" charset="0"/>
                <a:ea typeface="IBM Plex Sans JP" pitchFamily="34" charset="-122"/>
                <a:cs typeface="IBM Plex Sans JP" pitchFamily="34" charset="-120"/>
              </a:rPr>
              <a:t>Ad Arch Co., Ltd.　／　TVer Advertising Division</a:t>
            </a:r>
            <a:endParaRPr lang="en-US" sz="800" dirty="0"/>
          </a:p>
        </p:txBody>
      </p:sp>
      <p:sp>
        <p:nvSpPr>
          <p:cNvPr id="36" name="Text 33"/>
          <p:cNvSpPr/>
          <p:nvPr/>
        </p:nvSpPr>
        <p:spPr>
          <a:xfrm>
            <a:off x="7848295" y="6291072"/>
            <a:ext cx="3657600" cy="182880"/>
          </a:xfrm>
          <a:prstGeom prst="rect">
            <a:avLst/>
          </a:prstGeom>
          <a:noFill/>
          <a:ln/>
        </p:spPr>
        <p:txBody>
          <a:bodyPr wrap="square" lIns="0" tIns="0" rIns="0" bIns="0" rtlCol="0" anchor="t"/>
          <a:lstStyle/>
          <a:p>
            <a:pPr algn="r" indent="0" marL="0">
              <a:buNone/>
            </a:pPr>
            <a:r>
              <a:rPr lang="en-US" sz="800" spc="150" kern="0" dirty="0">
                <a:solidFill>
                  <a:srgbClr val="6A6A6A"/>
                </a:solidFill>
                <a:latin typeface="IBM Plex Sans JP" pitchFamily="34" charset="0"/>
                <a:ea typeface="IBM Plex Sans JP" pitchFamily="34" charset="-122"/>
                <a:cs typeface="IBM Plex Sans JP" pitchFamily="34" charset="-120"/>
              </a:rPr>
              <a:t>18 / 19　　CONFIDENTIAL</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2171700"/>
            <a:ext cx="384048" cy="27432"/>
          </a:xfrm>
          <a:prstGeom prst="rect">
            <a:avLst/>
          </a:prstGeom>
          <a:solidFill>
            <a:srgbClr val="F19834"/>
          </a:solidFill>
          <a:ln w="12700">
            <a:solidFill>
              <a:srgbClr val="F19834"/>
            </a:solidFill>
            <a:prstDash val="solid"/>
          </a:ln>
        </p:spPr>
      </p:sp>
      <p:sp>
        <p:nvSpPr>
          <p:cNvPr id="3" name="Text 1"/>
          <p:cNvSpPr/>
          <p:nvPr/>
        </p:nvSpPr>
        <p:spPr>
          <a:xfrm>
            <a:off x="1188720" y="2103120"/>
            <a:ext cx="6400800" cy="201168"/>
          </a:xfrm>
          <a:prstGeom prst="rect">
            <a:avLst/>
          </a:prstGeom>
          <a:noFill/>
          <a:ln/>
        </p:spPr>
        <p:txBody>
          <a:bodyPr wrap="square" lIns="0" tIns="0" rIns="0" bIns="0" rtlCol="0" anchor="t"/>
          <a:lstStyle/>
          <a:p>
            <a:pPr indent="0" marL="0">
              <a:buNone/>
            </a:pPr>
            <a:r>
              <a:rPr lang="en-US" sz="900" spc="300" kern="0" dirty="0">
                <a:solidFill>
                  <a:srgbClr val="6A6A6A"/>
                </a:solidFill>
                <a:latin typeface="IBM Plex Sans JP" pitchFamily="34" charset="0"/>
                <a:ea typeface="IBM Plex Sans JP" pitchFamily="34" charset="-122"/>
                <a:cs typeface="IBM Plex Sans JP" pitchFamily="34" charset="-120"/>
              </a:rPr>
              <a:t>CONTACT</a:t>
            </a:r>
            <a:endParaRPr lang="en-US" sz="900" dirty="0"/>
          </a:p>
        </p:txBody>
      </p:sp>
      <p:sp>
        <p:nvSpPr>
          <p:cNvPr id="4" name="Text 2"/>
          <p:cNvSpPr/>
          <p:nvPr/>
        </p:nvSpPr>
        <p:spPr>
          <a:xfrm>
            <a:off x="685800" y="2560320"/>
            <a:ext cx="10058400" cy="1828800"/>
          </a:xfrm>
          <a:prstGeom prst="rect">
            <a:avLst/>
          </a:prstGeom>
          <a:noFill/>
          <a:ln/>
        </p:spPr>
        <p:txBody>
          <a:bodyPr wrap="square" lIns="0" tIns="0" rIns="0" bIns="0" rtlCol="0" anchor="t"/>
          <a:lstStyle/>
          <a:p>
            <a:pPr indent="0" marL="0">
              <a:lnSpc>
                <a:spcPct val="125000"/>
              </a:lnSpc>
              <a:buNone/>
            </a:pPr>
            <a:r>
              <a:rPr lang="en-US" sz="3600" b="1" dirty="0">
                <a:solidFill>
                  <a:srgbClr val="111111"/>
                </a:solidFill>
                <a:latin typeface="IBM Plex Sans JP" pitchFamily="34" charset="0"/>
                <a:ea typeface="IBM Plex Sans JP" pitchFamily="34" charset="-122"/>
                <a:cs typeface="IBM Plex Sans JP" pitchFamily="34" charset="-120"/>
              </a:rPr>
              <a:t>まずは30分、</a:t>
            </a:r>
            <a:endParaRPr lang="en-US" sz="3600" dirty="0"/>
          </a:p>
          <a:p>
            <a:pPr indent="0" marL="0">
              <a:lnSpc>
                <a:spcPct val="125000"/>
              </a:lnSpc>
              <a:buNone/>
            </a:pPr>
            <a:r>
              <a:rPr lang="en-US" sz="3600" b="1" dirty="0">
                <a:solidFill>
                  <a:srgbClr val="111111"/>
                </a:solidFill>
                <a:latin typeface="IBM Plex Sans JP" pitchFamily="34" charset="0"/>
                <a:ea typeface="IBM Plex Sans JP" pitchFamily="34" charset="-122"/>
                <a:cs typeface="IBM Plex Sans JP" pitchFamily="34" charset="-120"/>
              </a:rPr>
              <a:t>商圏のお話をお聞かせください。</a:t>
            </a:r>
            <a:endParaRPr lang="en-US" sz="3600" dirty="0"/>
          </a:p>
        </p:txBody>
      </p:sp>
      <p:sp>
        <p:nvSpPr>
          <p:cNvPr id="5" name="Text 3"/>
          <p:cNvSpPr/>
          <p:nvPr/>
        </p:nvSpPr>
        <p:spPr>
          <a:xfrm>
            <a:off x="685800" y="4434840"/>
            <a:ext cx="10058400" cy="822960"/>
          </a:xfrm>
          <a:prstGeom prst="rect">
            <a:avLst/>
          </a:prstGeom>
          <a:noFill/>
          <a:ln/>
        </p:spPr>
        <p:txBody>
          <a:bodyPr wrap="square" lIns="0" tIns="0" rIns="0" bIns="0" rtlCol="0" anchor="t"/>
          <a:lstStyle/>
          <a:p>
            <a:pPr indent="0" marL="0">
              <a:lnSpc>
                <a:spcPct val="160000"/>
              </a:lnSpc>
              <a:buNone/>
            </a:pPr>
            <a:r>
              <a:rPr lang="en-US" sz="1300" dirty="0">
                <a:solidFill>
                  <a:srgbClr val="6A6A6A"/>
                </a:solidFill>
                <a:latin typeface="IBM Plex Sans JP" pitchFamily="34" charset="0"/>
                <a:ea typeface="IBM Plex Sans JP" pitchFamily="34" charset="-122"/>
                <a:cs typeface="IBM Plex Sans JP" pitchFamily="34" charset="-120"/>
              </a:rPr>
              <a:t>配信エリアとターゲットが決まれば、想定到達人数とお見積をご提示します。</a:t>
            </a:r>
            <a:endParaRPr lang="en-US" sz="1300" dirty="0"/>
          </a:p>
          <a:p>
            <a:pPr indent="0" marL="0">
              <a:lnSpc>
                <a:spcPct val="160000"/>
              </a:lnSpc>
              <a:buNone/>
            </a:pPr>
            <a:r>
              <a:rPr lang="en-US" sz="1300" dirty="0">
                <a:solidFill>
                  <a:srgbClr val="6A6A6A"/>
                </a:solidFill>
                <a:latin typeface="IBM Plex Sans JP" pitchFamily="34" charset="0"/>
                <a:ea typeface="IBM Plex Sans JP" pitchFamily="34" charset="-122"/>
                <a:cs typeface="IBM Plex Sans JP" pitchFamily="34" charset="-120"/>
              </a:rPr>
              <a:t>ご相談の段階では費用は一切かかりません。</a:t>
            </a:r>
            <a:endParaRPr lang="en-US" sz="1300" dirty="0"/>
          </a:p>
        </p:txBody>
      </p:sp>
      <p:sp>
        <p:nvSpPr>
          <p:cNvPr id="6" name="Text 4"/>
          <p:cNvSpPr/>
          <p:nvPr/>
        </p:nvSpPr>
        <p:spPr>
          <a:xfrm>
            <a:off x="685800" y="5440680"/>
            <a:ext cx="2743200" cy="201168"/>
          </a:xfrm>
          <a:prstGeom prst="rect">
            <a:avLst/>
          </a:prstGeom>
          <a:noFill/>
          <a:ln/>
        </p:spPr>
        <p:txBody>
          <a:bodyPr wrap="square" lIns="0" tIns="0" rIns="0" bIns="0" rtlCol="0" anchor="t"/>
          <a:lstStyle/>
          <a:p>
            <a:pPr indent="0" marL="0">
              <a:buNone/>
            </a:pPr>
            <a:r>
              <a:rPr lang="en-US" sz="800" spc="300" kern="0" dirty="0">
                <a:solidFill>
                  <a:srgbClr val="6A6A6A"/>
                </a:solidFill>
                <a:latin typeface="IBM Plex Sans JP" pitchFamily="34" charset="0"/>
                <a:ea typeface="IBM Plex Sans JP" pitchFamily="34" charset="-122"/>
                <a:cs typeface="IBM Plex Sans JP" pitchFamily="34" charset="-120"/>
              </a:rPr>
              <a:t>COMPANY</a:t>
            </a:r>
            <a:endParaRPr lang="en-US" sz="800" dirty="0"/>
          </a:p>
        </p:txBody>
      </p:sp>
      <p:sp>
        <p:nvSpPr>
          <p:cNvPr id="7" name="Text 5"/>
          <p:cNvSpPr/>
          <p:nvPr/>
        </p:nvSpPr>
        <p:spPr>
          <a:xfrm>
            <a:off x="685800" y="5669280"/>
            <a:ext cx="2743200" cy="274320"/>
          </a:xfrm>
          <a:prstGeom prst="rect">
            <a:avLst/>
          </a:prstGeom>
          <a:noFill/>
          <a:ln/>
        </p:spPr>
        <p:txBody>
          <a:bodyPr wrap="square" lIns="0" tIns="0" rIns="0" bIns="0" rtlCol="0" anchor="t"/>
          <a:lstStyle/>
          <a:p>
            <a:pPr indent="0" marL="0">
              <a:buNone/>
            </a:pPr>
            <a:r>
              <a:rPr lang="en-US" sz="1300" b="1" dirty="0">
                <a:solidFill>
                  <a:srgbClr val="111111"/>
                </a:solidFill>
                <a:latin typeface="IBM Plex Sans JP" pitchFamily="34" charset="0"/>
                <a:ea typeface="IBM Plex Sans JP" pitchFamily="34" charset="-122"/>
                <a:cs typeface="IBM Plex Sans JP" pitchFamily="34" charset="-120"/>
              </a:rPr>
              <a:t>Ad Arch 株式会社</a:t>
            </a:r>
            <a:endParaRPr lang="en-US" sz="1300" dirty="0"/>
          </a:p>
        </p:txBody>
      </p:sp>
      <p:sp>
        <p:nvSpPr>
          <p:cNvPr id="8" name="Text 6"/>
          <p:cNvSpPr/>
          <p:nvPr/>
        </p:nvSpPr>
        <p:spPr>
          <a:xfrm>
            <a:off x="3977640" y="5440680"/>
            <a:ext cx="2743200" cy="201168"/>
          </a:xfrm>
          <a:prstGeom prst="rect">
            <a:avLst/>
          </a:prstGeom>
          <a:noFill/>
          <a:ln/>
        </p:spPr>
        <p:txBody>
          <a:bodyPr wrap="square" lIns="0" tIns="0" rIns="0" bIns="0" rtlCol="0" anchor="t"/>
          <a:lstStyle/>
          <a:p>
            <a:pPr indent="0" marL="0">
              <a:buNone/>
            </a:pPr>
            <a:r>
              <a:rPr lang="en-US" sz="800" spc="300" kern="0" dirty="0">
                <a:solidFill>
                  <a:srgbClr val="6A6A6A"/>
                </a:solidFill>
                <a:latin typeface="IBM Plex Sans JP" pitchFamily="34" charset="0"/>
                <a:ea typeface="IBM Plex Sans JP" pitchFamily="34" charset="-122"/>
                <a:cs typeface="IBM Plex Sans JP" pitchFamily="34" charset="-120"/>
              </a:rPr>
              <a:t>DIVISION</a:t>
            </a:r>
            <a:endParaRPr lang="en-US" sz="800" dirty="0"/>
          </a:p>
        </p:txBody>
      </p:sp>
      <p:sp>
        <p:nvSpPr>
          <p:cNvPr id="9" name="Text 7"/>
          <p:cNvSpPr/>
          <p:nvPr/>
        </p:nvSpPr>
        <p:spPr>
          <a:xfrm>
            <a:off x="3977640" y="5669280"/>
            <a:ext cx="3657600" cy="274320"/>
          </a:xfrm>
          <a:prstGeom prst="rect">
            <a:avLst/>
          </a:prstGeom>
          <a:noFill/>
          <a:ln/>
        </p:spPr>
        <p:txBody>
          <a:bodyPr wrap="square" lIns="0" tIns="0" rIns="0" bIns="0" rtlCol="0" anchor="t"/>
          <a:lstStyle/>
          <a:p>
            <a:pPr indent="0" marL="0">
              <a:buNone/>
            </a:pPr>
            <a:r>
              <a:rPr lang="en-US" sz="1300" b="1" dirty="0">
                <a:solidFill>
                  <a:srgbClr val="111111"/>
                </a:solidFill>
                <a:latin typeface="IBM Plex Sans JP" pitchFamily="34" charset="0"/>
                <a:ea typeface="IBM Plex Sans JP" pitchFamily="34" charset="-122"/>
                <a:cs typeface="IBM Plex Sans JP" pitchFamily="34" charset="-120"/>
              </a:rPr>
              <a:t>TVer Advertising Division</a:t>
            </a:r>
            <a:endParaRPr lang="en-US" sz="1300" dirty="0"/>
          </a:p>
        </p:txBody>
      </p:sp>
      <p:pic>
        <p:nvPicPr>
          <p:cNvPr id="10" name="Image 0" descr="/private/tmp/claude-501/-Users-hirokishirakawa/61df7724-8533-4661-9a58-fa513da8dcb2/scratchpad/deck/assets/logo-black.png">    </p:cNvPr>
          <p:cNvPicPr>
            <a:picLocks noChangeAspect="1"/>
          </p:cNvPicPr>
          <p:nvPr/>
        </p:nvPicPr>
        <p:blipFill>
          <a:blip r:embed="rId1"/>
          <a:stretch>
            <a:fillRect/>
          </a:stretch>
        </p:blipFill>
        <p:spPr>
          <a:xfrm>
            <a:off x="10500055" y="6291072"/>
            <a:ext cx="1005840" cy="148771"/>
          </a:xfrm>
          <a:prstGeom prst="rect">
            <a:avLst/>
          </a:prstGeom>
        </p:spPr>
      </p:pic>
      <p:sp>
        <p:nvSpPr>
          <p:cNvPr id="11" name="Shape 8"/>
          <p:cNvSpPr/>
          <p:nvPr/>
        </p:nvSpPr>
        <p:spPr>
          <a:xfrm>
            <a:off x="9128455" y="2103120"/>
            <a:ext cx="2377440" cy="731520"/>
          </a:xfrm>
          <a:prstGeom prst="rect">
            <a:avLst/>
          </a:prstGeom>
          <a:solidFill>
            <a:srgbClr val="F7F6F4"/>
          </a:solidFill>
          <a:ln w="9525">
            <a:solidFill>
              <a:srgbClr val="C9C7C2"/>
            </a:solidFill>
            <a:prstDash val="dash"/>
          </a:ln>
        </p:spPr>
      </p:sp>
      <p:sp>
        <p:nvSpPr>
          <p:cNvPr id="12" name="Text 9"/>
          <p:cNvSpPr/>
          <p:nvPr/>
        </p:nvSpPr>
        <p:spPr>
          <a:xfrm>
            <a:off x="9128455" y="2103120"/>
            <a:ext cx="2377440" cy="731520"/>
          </a:xfrm>
          <a:prstGeom prst="rect">
            <a:avLst/>
          </a:prstGeom>
          <a:noFill/>
          <a:ln/>
        </p:spPr>
        <p:txBody>
          <a:bodyPr wrap="square" lIns="0" tIns="0" rIns="0" bIns="0" rtlCol="0" anchor="ctr"/>
          <a:lstStyle/>
          <a:p>
            <a:pPr algn="ctr" indent="0" marL="0">
              <a:buNone/>
            </a:pPr>
            <a:r>
              <a:rPr lang="en-US" sz="900" spc="200" kern="0" dirty="0">
                <a:solidFill>
                  <a:srgbClr val="6A6A6A"/>
                </a:solidFill>
                <a:latin typeface="IBM Plex Sans JP" pitchFamily="34" charset="0"/>
                <a:ea typeface="IBM Plex Sans JP" pitchFamily="34" charset="-122"/>
                <a:cs typeface="IBM Plex Sans JP" pitchFamily="34" charset="-120"/>
              </a:rPr>
              <a:t>貴社ロゴ</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TVer広告 県別・市別 網羅プランのご案内</dc:title>
  <dc:subject>PptxGenJS Presentation</dc:subject>
  <dc:creator>Ad Arch Co., Ltd.</dc:creator>
  <cp:lastModifiedBy>Ad Arch Co., Ltd.</cp:lastModifiedBy>
  <cp:revision>1</cp:revision>
  <dcterms:created xsi:type="dcterms:W3CDTF">2026-09-04T04:22:57Z</dcterms:created>
  <dcterms:modified xsi:type="dcterms:W3CDTF">2026-09-04T04:22:57Z</dcterms:modified>
</cp:coreProperties>
</file>